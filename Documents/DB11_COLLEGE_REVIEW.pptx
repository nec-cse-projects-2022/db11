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3"/>
  </p:notesMasterIdLst>
  <p:handoutMasterIdLst>
    <p:handoutMasterId r:id="rId34"/>
  </p:handoutMasterIdLst>
  <p:sldIdLst>
    <p:sldId id="258" r:id="rId2"/>
    <p:sldId id="260" r:id="rId3"/>
    <p:sldId id="262" r:id="rId4"/>
    <p:sldId id="279" r:id="rId5"/>
    <p:sldId id="295" r:id="rId6"/>
    <p:sldId id="263" r:id="rId7"/>
    <p:sldId id="264" r:id="rId8"/>
    <p:sldId id="296" r:id="rId9"/>
    <p:sldId id="265" r:id="rId10"/>
    <p:sldId id="298" r:id="rId11"/>
    <p:sldId id="270" r:id="rId12"/>
    <p:sldId id="297" r:id="rId13"/>
    <p:sldId id="266" r:id="rId14"/>
    <p:sldId id="268" r:id="rId15"/>
    <p:sldId id="269" r:id="rId16"/>
    <p:sldId id="299" r:id="rId17"/>
    <p:sldId id="301" r:id="rId18"/>
    <p:sldId id="302" r:id="rId19"/>
    <p:sldId id="271" r:id="rId20"/>
    <p:sldId id="304" r:id="rId21"/>
    <p:sldId id="305" r:id="rId22"/>
    <p:sldId id="272" r:id="rId23"/>
    <p:sldId id="306" r:id="rId24"/>
    <p:sldId id="309" r:id="rId25"/>
    <p:sldId id="310" r:id="rId26"/>
    <p:sldId id="311" r:id="rId27"/>
    <p:sldId id="273" r:id="rId28"/>
    <p:sldId id="307" r:id="rId29"/>
    <p:sldId id="278" r:id="rId30"/>
    <p:sldId id="308" r:id="rId31"/>
    <p:sldId id="27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218BFF-5824-4720-B7E2-40CB34FCBEDD}" v="1" dt="2025-11-11T06:05:27.52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a:t>INTRODUCTION</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05-12-2025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INTRODUCTION</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05-12-2025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417145524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1</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2251770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2</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1110511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3</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3663069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4</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2900881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6</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304957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7</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135750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9</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4208926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11</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1067051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13</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2322918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14</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3732975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15</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1113657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19</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3666466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22</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635320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27</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3648868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29</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3439312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5E3DF0-35B4-40E5-AC91-1A2000F81275}" type="slidenum">
              <a:rPr lang="en-IN" smtClean="0"/>
              <a:t>31</a:t>
            </a:fld>
            <a:endParaRPr lang="en-IN"/>
          </a:p>
        </p:txBody>
      </p:sp>
      <p:sp>
        <p:nvSpPr>
          <p:cNvPr id="5" name="Footer Placeholder 4"/>
          <p:cNvSpPr>
            <a:spLocks noGrp="1"/>
          </p:cNvSpPr>
          <p:nvPr>
            <p:ph type="ftr" sz="quarter" idx="4"/>
          </p:nvPr>
        </p:nvSpPr>
        <p:spPr/>
        <p:txBody>
          <a:bodyPr/>
          <a:lstStyle/>
          <a:p>
            <a:endParaRPr lang="en-IN"/>
          </a:p>
        </p:txBody>
      </p:sp>
      <p:sp>
        <p:nvSpPr>
          <p:cNvPr id="6" name="Header Placeholder 5"/>
          <p:cNvSpPr>
            <a:spLocks noGrp="1"/>
          </p:cNvSpPr>
          <p:nvPr>
            <p:ph type="hdr" sz="quarter"/>
          </p:nvPr>
        </p:nvSpPr>
        <p:spPr/>
        <p:txBody>
          <a:bodyPr/>
          <a:lstStyle/>
          <a:p>
            <a:r>
              <a:rPr lang="en-IN"/>
              <a:t>INTRODUCTION</a:t>
            </a:r>
          </a:p>
        </p:txBody>
      </p:sp>
    </p:spTree>
    <p:extLst>
      <p:ext uri="{BB962C8B-B14F-4D97-AF65-F5344CB8AC3E}">
        <p14:creationId xmlns:p14="http://schemas.microsoft.com/office/powerpoint/2010/main" val="230300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5E58F0A-825B-43EC-9CD7-118F126DA1B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2EF212-5EE0-4AA8-AA52-1AD4716B5520}"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D477AD5-9516-4803-9B8F-64EFE6B04E97}" type="datetime1">
              <a:rPr lang="en-US" smtClean="0"/>
              <a:t>12/5/2025</a:t>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FEC19F5-3ACF-4602-91F2-584ADA347226}" type="datetime1">
              <a:rPr lang="en-US" smtClean="0"/>
              <a:t>12/5/2025</a:t>
            </a:fld>
            <a:endParaRPr lang="en-IN"/>
          </a:p>
        </p:txBody>
      </p:sp>
      <p:sp>
        <p:nvSpPr>
          <p:cNvPr id="8" name="Footer Placeholder 7"/>
          <p:cNvSpPr>
            <a:spLocks noGrp="1"/>
          </p:cNvSpPr>
          <p:nvPr>
            <p:ph type="ftr" sz="quarter" idx="11"/>
          </p:nvPr>
        </p:nvSpPr>
        <p:spPr/>
        <p:txBody>
          <a:bodyPr/>
          <a:lstStyle/>
          <a:p>
            <a:r>
              <a:rPr lang="en-US"/>
              <a:t>Review No.         Batch No.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F932DEC-E61F-415A-BB11-622ACF22FA82}" type="datetime1">
              <a:rPr lang="en-US" smtClean="0"/>
              <a:t>12/5/2025</a:t>
            </a:fld>
            <a:endParaRPr lang="en-IN"/>
          </a:p>
        </p:txBody>
      </p:sp>
      <p:sp>
        <p:nvSpPr>
          <p:cNvPr id="4" name="Footer Placeholder 3"/>
          <p:cNvSpPr>
            <a:spLocks noGrp="1"/>
          </p:cNvSpPr>
          <p:nvPr>
            <p:ph type="ftr" sz="quarter" idx="11"/>
          </p:nvPr>
        </p:nvSpPr>
        <p:spPr/>
        <p:txBody>
          <a:bodyPr/>
          <a:lstStyle/>
          <a:p>
            <a:r>
              <a:rPr lang="en-US"/>
              <a:t>Review No.         Batch No.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96EEC6-0141-45B7-8835-252B848F88BA}" type="datetime1">
              <a:rPr lang="en-US" smtClean="0"/>
              <a:t>12/5/2025</a:t>
            </a:fld>
            <a:endParaRPr lang="en-IN"/>
          </a:p>
        </p:txBody>
      </p:sp>
      <p:sp>
        <p:nvSpPr>
          <p:cNvPr id="3" name="Footer Placeholder 2"/>
          <p:cNvSpPr>
            <a:spLocks noGrp="1"/>
          </p:cNvSpPr>
          <p:nvPr>
            <p:ph type="ftr" sz="quarter" idx="11"/>
          </p:nvPr>
        </p:nvSpPr>
        <p:spPr/>
        <p:txBody>
          <a:bodyPr/>
          <a:lstStyle/>
          <a:p>
            <a:r>
              <a:rPr lang="en-US"/>
              <a:t>Review No.         Batch No.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53116E-6FF0-4C6D-8DFD-00263320DEBD}" type="datetime1">
              <a:rPr lang="en-US" smtClean="0"/>
              <a:t>12/5/2025</a:t>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B6E4B8-84AF-4AF2-B62C-BFAB3810F0B1}" type="datetime1">
              <a:rPr lang="en-US" smtClean="0"/>
              <a:t>12/5/2025</a:t>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F6D04C-3771-42DE-9B65-7B6404FB4859}"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B51216-7DD8-4439-BE7B-781B8BCB2E48}"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797CF1-9FF6-48D4-89E7-B1B5528DDDD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797CF1-9FF6-48D4-89E7-B1B5528DDDD6}" type="datetime1">
              <a:rPr lang="en-US" smtClean="0"/>
              <a:t>12/5/2025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Batch No.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mailto:kk7391257@gmail.com"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anose="02020603050405020304" pitchFamily="18" charset="0"/>
              </a:rPr>
              <a:t>Department of Computer Science and Engineering</a:t>
            </a:r>
          </a:p>
          <a:p>
            <a:pPr lvl="0" algn="ctr">
              <a:spcBef>
                <a:spcPct val="20000"/>
              </a:spcBef>
              <a:defRPr/>
            </a:pPr>
            <a:r>
              <a:rPr lang="en-US" sz="3600" dirty="0">
                <a:solidFill>
                  <a:srgbClr val="FF0000"/>
                </a:solidFill>
                <a:effectLst>
                  <a:outerShdw blurRad="38100" dist="38100" dir="2700000" algn="tl">
                    <a:srgbClr val="000000">
                      <a:alpha val="43137"/>
                    </a:srgbClr>
                  </a:outerShdw>
                </a:effectLst>
              </a:rPr>
              <a:t>Deep Learning Framework for Enhanced Image Forgery Detection</a:t>
            </a:r>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sp>
        <p:nvSpPr>
          <p:cNvPr id="16" name="Subtitle 2"/>
          <p:cNvSpPr>
            <a:spLocks noGrp="1"/>
          </p:cNvSpPr>
          <p:nvPr>
            <p:ph type="subTitle" idx="1"/>
          </p:nvPr>
        </p:nvSpPr>
        <p:spPr>
          <a:xfrm>
            <a:off x="1881450" y="2391764"/>
            <a:ext cx="9144000" cy="1341058"/>
          </a:xfrm>
        </p:spPr>
        <p:txBody>
          <a:bodyPr>
            <a:normAutofit lnSpcReduction="10000"/>
          </a:bodyPr>
          <a:lstStyle/>
          <a:p>
            <a:pPr eaLnBrk="1" hangingPunct="1"/>
            <a:r>
              <a:rPr lang="en-US" altLang="en-US" sz="1600" dirty="0">
                <a:solidFill>
                  <a:schemeClr val="tx1"/>
                </a:solidFill>
                <a:latin typeface="Times New Roman" panose="02020603050405020304" pitchFamily="18" charset="0"/>
                <a:cs typeface="Times New Roman" panose="02020603050405020304" pitchFamily="18" charset="0"/>
              </a:rPr>
              <a:t>PRESENTED BY</a:t>
            </a:r>
          </a:p>
          <a:p>
            <a:pPr algn="l"/>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Mullangi</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Pothana</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pavan</a:t>
            </a:r>
            <a:r>
              <a:rPr lang="en-US" altLang="en-US" sz="1600" dirty="0">
                <a:latin typeface="Times New Roman" panose="02020603050405020304" pitchFamily="18" charset="0"/>
                <a:cs typeface="Times New Roman" panose="02020603050405020304" pitchFamily="18" charset="0"/>
              </a:rPr>
              <a:t> Reddy</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a:latin typeface="Times New Roman" panose="02020603050405020304" pitchFamily="18" charset="0"/>
                <a:cs typeface="Times New Roman" panose="02020603050405020304" pitchFamily="18" charset="0"/>
              </a:rPr>
              <a:t>(23475A0516</a:t>
            </a:r>
            <a:r>
              <a:rPr lang="en-US" altLang="en-US" sz="1600" dirty="0">
                <a:latin typeface="Times New Roman" panose="02020603050405020304" pitchFamily="18" charset="0"/>
                <a:cs typeface="Times New Roman" panose="02020603050405020304" pitchFamily="18" charset="0"/>
              </a:rPr>
              <a:t>)</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Madanu</a:t>
            </a:r>
            <a:r>
              <a:rPr lang="en-US" altLang="en-US" sz="1600" dirty="0">
                <a:latin typeface="Times New Roman" panose="02020603050405020304" pitchFamily="18" charset="0"/>
                <a:cs typeface="Times New Roman" panose="02020603050405020304" pitchFamily="18" charset="0"/>
              </a:rPr>
              <a:t> joseph </a:t>
            </a:r>
            <a:r>
              <a:rPr lang="en-US" altLang="en-US" sz="1600" dirty="0" err="1">
                <a:latin typeface="Times New Roman" panose="02020603050405020304" pitchFamily="18" charset="0"/>
                <a:cs typeface="Times New Roman" panose="02020603050405020304" pitchFamily="18" charset="0"/>
              </a:rPr>
              <a:t>kumar</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(22471A05N2) </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Guntreddi</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Harshavardhan</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(23475A0518)</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17" name="Subtitle 2"/>
          <p:cNvSpPr txBox="1"/>
          <p:nvPr/>
        </p:nvSpPr>
        <p:spPr bwMode="auto">
          <a:xfrm>
            <a:off x="2782854" y="3934529"/>
            <a:ext cx="6858000" cy="2288429"/>
          </a:xfrm>
          <a:prstGeom prst="rect">
            <a:avLst/>
          </a:prstGeom>
          <a:noFill/>
          <a:ln w="9525">
            <a:noFill/>
            <a:miter lim="800000"/>
          </a:ln>
        </p:spPr>
        <p:txBody>
          <a:bodyPr/>
          <a:lstStyle/>
          <a:p>
            <a:pPr algn="ctr" eaLnBrk="1" hangingPunct="1">
              <a:spcBef>
                <a:spcPct val="20000"/>
              </a:spcBef>
              <a:buFont typeface="Wingdings" panose="05000000000000000000" pitchFamily="2" charset="2"/>
              <a:buNone/>
            </a:pPr>
            <a:r>
              <a:rPr lang="en-US" altLang="en-US" dirty="0">
                <a:solidFill>
                  <a:srgbClr val="006600"/>
                </a:solidFill>
                <a:latin typeface="Times New Roman" panose="02020603050405020304" pitchFamily="18" charset="0"/>
                <a:cs typeface="Times New Roman" panose="02020603050405020304" pitchFamily="18" charset="0"/>
              </a:rPr>
              <a:t>Under the Guidance of,</a:t>
            </a:r>
            <a:endParaRPr lang="en-US" altLang="en-US" b="1" dirty="0">
              <a:solidFill>
                <a:srgbClr val="006600"/>
              </a:solidFill>
              <a:latin typeface="Times New Roman" panose="02020603050405020304" pitchFamily="18" charset="0"/>
              <a:cs typeface="Times New Roman" panose="02020603050405020304" pitchFamily="18" charset="0"/>
            </a:endParaRPr>
          </a:p>
          <a:p>
            <a:pPr algn="ctr" eaLnBrk="1" hangingPunct="1">
              <a:spcBef>
                <a:spcPct val="20000"/>
              </a:spcBef>
              <a:buFont typeface="Wingdings" panose="05000000000000000000" pitchFamily="2" charset="2"/>
              <a:buNone/>
            </a:pPr>
            <a:endParaRPr lang="en-US" altLang="en-US" sz="900" b="1" dirty="0">
              <a:solidFill>
                <a:schemeClr val="bg1"/>
              </a:solidFill>
              <a:latin typeface="Times New Roman" panose="02020603050405020304" pitchFamily="18" charset="0"/>
              <a:cs typeface="Times New Roman" panose="02020603050405020304" pitchFamily="18" charset="0"/>
            </a:endParaRPr>
          </a:p>
          <a:p>
            <a:pPr algn="ctr" eaLnBrk="1" hangingPunct="1">
              <a:spcBef>
                <a:spcPct val="20000"/>
              </a:spcBef>
              <a:buFont typeface="Wingdings" panose="05000000000000000000" pitchFamily="2" charset="2"/>
              <a:buNone/>
            </a:pPr>
            <a:r>
              <a:rPr lang="en-US" altLang="en-US" sz="1600" dirty="0" err="1">
                <a:solidFill>
                  <a:srgbClr val="898989"/>
                </a:solidFill>
                <a:latin typeface="Times New Roman" panose="02020603050405020304" pitchFamily="18" charset="0"/>
                <a:cs typeface="Times New Roman" panose="02020603050405020304" pitchFamily="18" charset="0"/>
              </a:rPr>
              <a:t>M.Mounika</a:t>
            </a:r>
            <a:r>
              <a:rPr lang="en-US" altLang="en-US" sz="1600" dirty="0">
                <a:solidFill>
                  <a:srgbClr val="898989"/>
                </a:solidFill>
                <a:latin typeface="Times New Roman" panose="02020603050405020304" pitchFamily="18" charset="0"/>
                <a:cs typeface="Times New Roman" panose="02020603050405020304" pitchFamily="18" charset="0"/>
              </a:rPr>
              <a:t> Naga </a:t>
            </a:r>
            <a:r>
              <a:rPr lang="en-US" altLang="en-US" sz="1600" dirty="0" err="1">
                <a:solidFill>
                  <a:srgbClr val="898989"/>
                </a:solidFill>
                <a:latin typeface="Times New Roman" panose="02020603050405020304" pitchFamily="18" charset="0"/>
                <a:cs typeface="Times New Roman" panose="02020603050405020304" pitchFamily="18" charset="0"/>
              </a:rPr>
              <a:t>Bhavani</a:t>
            </a:r>
            <a:r>
              <a:rPr lang="en-US" altLang="en-US" sz="1600" dirty="0">
                <a:solidFill>
                  <a:srgbClr val="898989"/>
                </a:solidFill>
                <a:latin typeface="Times New Roman" panose="02020603050405020304" pitchFamily="18" charset="0"/>
                <a:cs typeface="Times New Roman" panose="02020603050405020304" pitchFamily="18" charset="0"/>
              </a:rPr>
              <a:t> </a:t>
            </a:r>
            <a:r>
              <a:rPr lang="en-US" altLang="en-US" sz="1600" baseline="-25000" dirty="0" err="1">
                <a:solidFill>
                  <a:srgbClr val="898989"/>
                </a:solidFill>
                <a:latin typeface="Times New Roman" panose="02020603050405020304" pitchFamily="18" charset="0"/>
                <a:cs typeface="Times New Roman" panose="02020603050405020304" pitchFamily="18" charset="0"/>
              </a:rPr>
              <a:t>M.Tech</a:t>
            </a:r>
            <a:r>
              <a:rPr lang="en-US" altLang="en-US" sz="1600" baseline="-25000" dirty="0">
                <a:solidFill>
                  <a:srgbClr val="898989"/>
                </a:solidFill>
                <a:latin typeface="Times New Roman" panose="02020603050405020304" pitchFamily="18" charset="0"/>
                <a:cs typeface="Times New Roman" panose="02020603050405020304" pitchFamily="18" charset="0"/>
              </a:rPr>
              <a:t>,</a:t>
            </a:r>
          </a:p>
          <a:p>
            <a:pPr algn="ctr" eaLnBrk="1" hangingPunct="1">
              <a:spcBef>
                <a:spcPct val="20000"/>
              </a:spcBef>
              <a:buFont typeface="Wingdings" panose="05000000000000000000" pitchFamily="2" charset="2"/>
              <a:buNone/>
            </a:pPr>
            <a:r>
              <a:rPr lang="en-US" altLang="en-US" sz="1600" dirty="0" err="1">
                <a:solidFill>
                  <a:srgbClr val="898989"/>
                </a:solidFill>
                <a:latin typeface="Times New Roman" panose="02020603050405020304" pitchFamily="18" charset="0"/>
                <a:cs typeface="Times New Roman" panose="02020603050405020304" pitchFamily="18" charset="0"/>
              </a:rPr>
              <a:t>Asst.Professor</a:t>
            </a:r>
            <a:r>
              <a:rPr lang="en-US" altLang="en-US" sz="1600" dirty="0">
                <a:solidFill>
                  <a:srgbClr val="898989"/>
                </a:solidFill>
                <a:latin typeface="Times New Roman" panose="02020603050405020304" pitchFamily="18" charset="0"/>
                <a:cs typeface="Times New Roman" panose="02020603050405020304" pitchFamily="18" charset="0"/>
              </a:rPr>
              <a:t>,</a:t>
            </a:r>
          </a:p>
          <a:p>
            <a:pPr algn="ctr" eaLnBrk="1" hangingPunct="1">
              <a:lnSpc>
                <a:spcPct val="150000"/>
              </a:lnSpc>
              <a:spcBef>
                <a:spcPct val="20000"/>
              </a:spcBef>
              <a:buFont typeface="Wingdings" panose="05000000000000000000" pitchFamily="2" charset="2"/>
              <a:buNone/>
            </a:pPr>
            <a:r>
              <a:rPr lang="en-US" altLang="en-US" sz="1600" dirty="0">
                <a:solidFill>
                  <a:srgbClr val="898989"/>
                </a:solidFill>
                <a:latin typeface="Times New Roman" panose="02020603050405020304" pitchFamily="18" charset="0"/>
                <a:cs typeface="Times New Roman" panose="02020603050405020304" pitchFamily="18" charset="0"/>
              </a:rPr>
              <a:t>Department of Computer Science and Engineering,</a:t>
            </a:r>
          </a:p>
          <a:p>
            <a:pPr algn="ctr" eaLnBrk="1" hangingPunct="1">
              <a:lnSpc>
                <a:spcPct val="150000"/>
              </a:lnSpc>
              <a:spcBef>
                <a:spcPct val="20000"/>
              </a:spcBef>
              <a:buFont typeface="Wingdings" panose="05000000000000000000" pitchFamily="2" charset="2"/>
              <a:buNone/>
            </a:pPr>
            <a:r>
              <a:rPr lang="en-US" altLang="en-US" sz="1600" dirty="0" err="1">
                <a:solidFill>
                  <a:srgbClr val="898989"/>
                </a:solidFill>
                <a:latin typeface="Times New Roman" panose="02020603050405020304" pitchFamily="18" charset="0"/>
                <a:cs typeface="Times New Roman" panose="02020603050405020304" pitchFamily="18" charset="0"/>
              </a:rPr>
              <a:t>Narasaraopeta</a:t>
            </a:r>
            <a:r>
              <a:rPr lang="en-US" altLang="en-US" sz="1600" dirty="0">
                <a:solidFill>
                  <a:srgbClr val="898989"/>
                </a:solidFill>
                <a:latin typeface="Times New Roman" panose="02020603050405020304" pitchFamily="18" charset="0"/>
                <a:cs typeface="Times New Roman" panose="02020603050405020304" pitchFamily="18" charset="0"/>
              </a:rPr>
              <a:t> Engineering College (Autonomous),</a:t>
            </a:r>
          </a:p>
          <a:p>
            <a:pPr algn="ctr" eaLnBrk="1" hangingPunct="1">
              <a:lnSpc>
                <a:spcPct val="150000"/>
              </a:lnSpc>
              <a:spcBef>
                <a:spcPct val="20000"/>
              </a:spcBef>
              <a:buFont typeface="Wingdings" panose="05000000000000000000" pitchFamily="2" charset="2"/>
              <a:buNone/>
            </a:pPr>
            <a:r>
              <a:rPr lang="en-US" altLang="en-US" sz="1600" dirty="0" err="1">
                <a:solidFill>
                  <a:srgbClr val="898989"/>
                </a:solidFill>
                <a:latin typeface="Times New Roman" panose="02020603050405020304" pitchFamily="18" charset="0"/>
                <a:cs typeface="Times New Roman" panose="02020603050405020304" pitchFamily="18" charset="0"/>
              </a:rPr>
              <a:t>Narasaraopet</a:t>
            </a:r>
            <a:r>
              <a:rPr lang="en-US" altLang="en-US" sz="1600" dirty="0">
                <a:solidFill>
                  <a:srgbClr val="898989"/>
                </a:solidFill>
                <a:latin typeface="Times New Roman" panose="02020603050405020304" pitchFamily="18" charset="0"/>
                <a:cs typeface="Times New Roman" panose="02020603050405020304" pitchFamily="18" charset="0"/>
              </a:rPr>
              <a: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74193"/>
            <a:ext cx="10515600" cy="4683829"/>
          </a:xfrm>
        </p:spPr>
        <p:txBody>
          <a:bodyPr>
            <a:normAutofit fontScale="62500" lnSpcReduction="20000"/>
          </a:bodyPr>
          <a:lstStyle/>
          <a:p>
            <a:r>
              <a:rPr lang="en-IN" dirty="0">
                <a:latin typeface="Times New Roman" panose="02020603050405020304" pitchFamily="18" charset="0"/>
                <a:cs typeface="Times New Roman" panose="02020603050405020304" pitchFamily="18" charset="0"/>
              </a:rPr>
              <a:t>Abstract</a:t>
            </a:r>
          </a:p>
          <a:p>
            <a:r>
              <a:rPr lang="en-IN" dirty="0">
                <a:latin typeface="Times New Roman" panose="02020603050405020304" pitchFamily="18" charset="0"/>
                <a:cs typeface="Times New Roman" panose="02020603050405020304" pitchFamily="18" charset="0"/>
              </a:rPr>
              <a:t>Introduction </a:t>
            </a:r>
          </a:p>
          <a:p>
            <a:r>
              <a:rPr lang="en-IN" dirty="0">
                <a:latin typeface="Times New Roman" panose="02020603050405020304" pitchFamily="18" charset="0"/>
                <a:cs typeface="Times New Roman" panose="02020603050405020304" pitchFamily="18" charset="0"/>
              </a:rPr>
              <a:t>Literature Survey</a:t>
            </a:r>
          </a:p>
          <a:p>
            <a:r>
              <a:rPr lang="en-IN" dirty="0">
                <a:latin typeface="Times New Roman" panose="02020603050405020304" pitchFamily="18" charset="0"/>
                <a:cs typeface="Times New Roman" panose="02020603050405020304" pitchFamily="18" charset="0"/>
              </a:rPr>
              <a:t>Research Gaps</a:t>
            </a:r>
          </a:p>
          <a:p>
            <a:r>
              <a:rPr lang="en-IN" dirty="0">
                <a:latin typeface="Times New Roman" panose="02020603050405020304" pitchFamily="18" charset="0"/>
                <a:cs typeface="Times New Roman" panose="02020603050405020304" pitchFamily="18" charset="0"/>
              </a:rPr>
              <a:t>Problem Statement</a:t>
            </a:r>
          </a:p>
          <a:p>
            <a:r>
              <a:rPr lang="en-IN" dirty="0">
                <a:latin typeface="Times New Roman" panose="02020603050405020304" pitchFamily="18" charset="0"/>
                <a:cs typeface="Times New Roman" panose="02020603050405020304" pitchFamily="18" charset="0"/>
              </a:rPr>
              <a:t>Objectives </a:t>
            </a:r>
          </a:p>
          <a:p>
            <a:r>
              <a:rPr lang="en-US" dirty="0">
                <a:latin typeface="Times New Roman" panose="02020603050405020304" pitchFamily="18" charset="0"/>
                <a:cs typeface="Times New Roman" panose="02020603050405020304" pitchFamily="18" charset="0"/>
              </a:rPr>
              <a:t>Block Diagram / Flow Diagram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Methodology</a:t>
            </a:r>
          </a:p>
          <a:p>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Results and Analysis</a:t>
            </a:r>
          </a:p>
          <a:p>
            <a:r>
              <a:rPr lang="en-IN" dirty="0">
                <a:latin typeface="Times New Roman" panose="02020603050405020304" pitchFamily="18" charset="0"/>
                <a:cs typeface="Times New Roman" panose="02020603050405020304" pitchFamily="18" charset="0"/>
              </a:rPr>
              <a:t>Conclusion &amp; Future Scope</a:t>
            </a:r>
          </a:p>
          <a:p>
            <a:r>
              <a:rPr lang="en-US" dirty="0">
                <a:latin typeface="Times New Roman" panose="02020603050405020304" pitchFamily="18" charset="0"/>
                <a:cs typeface="Times New Roman" panose="02020603050405020304" pitchFamily="18" charset="0"/>
              </a:rPr>
              <a:t>References</a:t>
            </a:r>
          </a:p>
          <a:p>
            <a:r>
              <a:rPr lang="en-US" dirty="0">
                <a:latin typeface="Times New Roman" panose="02020603050405020304" pitchFamily="18" charset="0"/>
                <a:cs typeface="Times New Roman" panose="02020603050405020304" pitchFamily="18" charset="0"/>
              </a:rPr>
              <a:t>Question and Answers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Acknowledgements</a:t>
            </a: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889477E6-D1B2-4024-A621-0A271A8663AE}"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p:cNvSpPr>
            <a:spLocks noGrp="1"/>
          </p:cNvSpPr>
          <p:nvPr>
            <p:ph idx="1"/>
          </p:nvPr>
        </p:nvSpPr>
        <p:spPr>
          <a:xfrm>
            <a:off x="838200" y="1423283"/>
            <a:ext cx="10515600" cy="4829599"/>
          </a:xfrm>
        </p:spPr>
        <p:txBody>
          <a:bodyPr>
            <a:noAutofit/>
          </a:bodyPr>
          <a:lstStyle/>
          <a:p>
            <a:pPr marL="0" indent="0">
              <a:buNone/>
            </a:pPr>
            <a:r>
              <a:rPr lang="en-US" sz="2400" dirty="0"/>
              <a:t>The objective of this work is to develop an efficient image forgery detection system using Error Level Analysis (ELA) and Convolutional Neural Networks (CNN) with transfer learning. In this study, eight pre-trained models were evaluated for binary classification, among which EfficientNetV2 delivered the highest performance with 96% accuracy, demonstrating exceptional efficiency and lightweight architecture. The proposed method proved highly effective in detecting multiple types of forgeries, including splicing, copy-move, and crack forgeries, even under challenging conditions such as noise, scaling, and rotation. Furthermore, the model outperformed existing state-of-the-art approaches by achieving high accuracy with reduced computational complexity, making it suitable for resource-limited environments. Future advancements of this research include extending the framework to support video forgery detection and tackling more advanced real-world manipulation techniques.</a:t>
            </a:r>
            <a:endParaRPr lang="en-US" altLang="en-US" sz="23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7/14/25</a:t>
            </a: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9" name="Content Placeholder 8"/>
          <p:cNvSpPr>
            <a:spLocks noGrp="1"/>
          </p:cNvSpPr>
          <p:nvPr>
            <p:ph idx="1"/>
          </p:nvPr>
        </p:nvSpPr>
        <p:spPr/>
        <p:txBody>
          <a:bodyPr>
            <a:noAutofit/>
          </a:bodyPr>
          <a:lstStyle/>
          <a:p>
            <a:r>
              <a:rPr lang="en-US" altLang="en-US" sz="2300" dirty="0">
                <a:latin typeface="Times New Roman" panose="02020603050405020304" pitchFamily="18" charset="0"/>
                <a:cs typeface="Times New Roman" panose="02020603050405020304" pitchFamily="18" charset="0"/>
              </a:rPr>
              <a:t>Introduction to the Project : Focuses on detecting digital image forgery prevalent in social media (e.g., Facebook, Twitter).</a:t>
            </a:r>
          </a:p>
          <a:p>
            <a:r>
              <a:rPr lang="en-US" altLang="en-US" sz="2300" dirty="0">
                <a:latin typeface="Times New Roman" panose="02020603050405020304" pitchFamily="18" charset="0"/>
                <a:cs typeface="Times New Roman" panose="02020603050405020304" pitchFamily="18" charset="0"/>
              </a:rPr>
              <a:t>Proposes the ELA-CNN model combining Error Level Analysis (ELA) and   Convolutional Neural Networks (CNNs).</a:t>
            </a:r>
          </a:p>
          <a:p>
            <a:r>
              <a:rPr lang="en-US" altLang="en-US" sz="2300" dirty="0">
                <a:latin typeface="Times New Roman" panose="02020603050405020304" pitchFamily="18" charset="0"/>
                <a:cs typeface="Times New Roman" panose="02020603050405020304" pitchFamily="18" charset="0"/>
              </a:rPr>
              <a:t>Detects various forgeries: splicing, copy-move, and crack, even under challenging conditions (noise, scaling, rotations).</a:t>
            </a:r>
          </a:p>
          <a:p>
            <a:r>
              <a:rPr lang="en-US" altLang="en-US" sz="2300" dirty="0">
                <a:latin typeface="Times New Roman" panose="02020603050405020304" pitchFamily="18" charset="0"/>
                <a:cs typeface="Times New Roman" panose="02020603050405020304" pitchFamily="18" charset="0"/>
              </a:rPr>
              <a:t>Motivation Behind the Project : Rising challenge in identifying image authenticity due to advanced editing tools.</a:t>
            </a:r>
          </a:p>
          <a:p>
            <a:r>
              <a:rPr lang="en-US" altLang="en-US" sz="2300" dirty="0">
                <a:latin typeface="Times New Roman" panose="02020603050405020304" pitchFamily="18" charset="0"/>
                <a:cs typeface="Times New Roman" panose="02020603050405020304" pitchFamily="18" charset="0"/>
              </a:rPr>
              <a:t>Widespread use of manipulated images spreading misinformation and deception.</a:t>
            </a:r>
          </a:p>
          <a:p>
            <a:r>
              <a:rPr lang="en-US" altLang="en-US" sz="2300" dirty="0">
                <a:latin typeface="Times New Roman" panose="02020603050405020304" pitchFamily="18" charset="0"/>
                <a:cs typeface="Times New Roman" panose="02020603050405020304" pitchFamily="18" charset="0"/>
              </a:rPr>
              <a:t>Aim: Leverage pre-trained models and transfer learning for efficient and accurate forgery detection.</a:t>
            </a:r>
          </a:p>
          <a:p>
            <a:pPr marL="0" indent="0">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7/14/25</a:t>
            </a: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l"/>
            <a:r>
              <a:rPr lang="en-US">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INTRODUCTION</a:t>
            </a:r>
          </a:p>
        </p:txBody>
      </p:sp>
      <p:sp>
        <p:nvSpPr>
          <p:cNvPr id="8" name="Content Placeholder 7"/>
          <p:cNvSpPr>
            <a:spLocks noGrp="1"/>
          </p:cNvSpPr>
          <p:nvPr>
            <p:ph idx="1"/>
          </p:nvPr>
        </p:nvSpPr>
        <p:spPr/>
        <p:txBody>
          <a:bodyPr/>
          <a:lstStyle/>
          <a:p>
            <a:r>
              <a:rPr lang="en-US" altLang="en-US" sz="2400" dirty="0">
                <a:latin typeface="Times New Roman" panose="02020603050405020304" pitchFamily="18" charset="0"/>
                <a:cs typeface="Times New Roman" panose="02020603050405020304" pitchFamily="18" charset="0"/>
              </a:rPr>
              <a:t>Importance and Relevance of the project </a:t>
            </a:r>
          </a:p>
          <a:p>
            <a:r>
              <a:rPr lang="en-US" altLang="en-US" sz="2400" dirty="0">
                <a:latin typeface="Times New Roman" panose="02020603050405020304" pitchFamily="18" charset="0"/>
                <a:cs typeface="Times New Roman" panose="02020603050405020304" pitchFamily="18" charset="0"/>
              </a:rPr>
              <a:t>High Accuracy: Achieves 96% accuracy with lightweight EfficientNetV2.</a:t>
            </a:r>
          </a:p>
          <a:p>
            <a:r>
              <a:rPr lang="en-US" altLang="en-US" sz="2400" dirty="0">
                <a:latin typeface="Times New Roman" panose="02020603050405020304" pitchFamily="18" charset="0"/>
                <a:cs typeface="Times New Roman" panose="02020603050405020304" pitchFamily="18" charset="0"/>
              </a:rPr>
              <a:t>Real-World Use: Handles diverse forgery types, ensuring reliability in various scenarios.</a:t>
            </a:r>
          </a:p>
          <a:p>
            <a:r>
              <a:rPr lang="en-US" altLang="en-US" sz="2400" dirty="0">
                <a:latin typeface="Times New Roman" panose="02020603050405020304" pitchFamily="18" charset="0"/>
                <a:cs typeface="Times New Roman" panose="02020603050405020304" pitchFamily="18" charset="0"/>
              </a:rPr>
              <a:t>Technological Advancement: Sets a benchmark for future developments in image forgery detection</a:t>
            </a:r>
            <a:r>
              <a:rPr lang="en-US" altLang="en-US" dirty="0"/>
              <a:t>.</a:t>
            </a:r>
          </a:p>
        </p:txBody>
      </p:sp>
      <p:sp>
        <p:nvSpPr>
          <p:cNvPr id="4" name="Date Placeholder 3"/>
          <p:cNvSpPr>
            <a:spLocks noGrp="1"/>
          </p:cNvSpPr>
          <p:nvPr>
            <p:ph type="dt" sz="half" idx="10"/>
          </p:nvPr>
        </p:nvSpPr>
        <p:spPr/>
        <p:txBody>
          <a:bodyPr/>
          <a:lstStyle/>
          <a:p>
            <a:fld id="{4E797CF1-9FF6-48D4-89E7-B1B5528DDDD6}" type="datetime1">
              <a:rPr lang="en-US" smtClean="0"/>
              <a:t>12/5/2025</a:t>
            </a:fld>
            <a:endParaRPr lang="en-IN" dirty="0"/>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6"/>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4DC18775-DE41-46DA-992A-5E2E089E1992}" type="datetime1">
              <a:rPr lang="en-US" smtClean="0">
                <a:latin typeface="Times New Roman" panose="02020603050405020304" pitchFamily="18" charset="0"/>
                <a:cs typeface="Times New Roman" panose="02020603050405020304" pitchFamily="18" charset="0"/>
              </a:rPr>
              <a:t>12/5/2025</a:t>
            </a:fld>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10" name="Content Placeholder 8"/>
          <p:cNvSpPr txBox="1"/>
          <p:nvPr/>
        </p:nvSpPr>
        <p:spPr>
          <a:xfrm>
            <a:off x="596265" y="105854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3" name="Table 3"/>
          <p:cNvGraphicFramePr>
            <a:graphicFrameLocks noGrp="1"/>
          </p:cNvGraphicFramePr>
          <p:nvPr>
            <p:custDataLst>
              <p:tags r:id="rId1"/>
            </p:custDataLst>
          </p:nvPr>
        </p:nvGraphicFramePr>
        <p:xfrm>
          <a:off x="838200" y="1344930"/>
          <a:ext cx="10230485" cy="4645152"/>
        </p:xfrm>
        <a:graphic>
          <a:graphicData uri="http://schemas.openxmlformats.org/drawingml/2006/table">
            <a:tbl>
              <a:tblPr firstRow="1" bandRow="1">
                <a:tableStyleId>{17292A2E-F333-43FB-9621-5CBBE7FDCDCB}</a:tableStyleId>
              </a:tblPr>
              <a:tblGrid>
                <a:gridCol w="73406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564005">
                  <a:extLst>
                    <a:ext uri="{9D8B030D-6E8A-4147-A177-3AD203B41FA5}">
                      <a16:colId xmlns:a16="http://schemas.microsoft.com/office/drawing/2014/main" val="20002"/>
                    </a:ext>
                  </a:extLst>
                </a:gridCol>
                <a:gridCol w="1612900">
                  <a:extLst>
                    <a:ext uri="{9D8B030D-6E8A-4147-A177-3AD203B41FA5}">
                      <a16:colId xmlns:a16="http://schemas.microsoft.com/office/drawing/2014/main" val="20003"/>
                    </a:ext>
                  </a:extLst>
                </a:gridCol>
                <a:gridCol w="1821815">
                  <a:extLst>
                    <a:ext uri="{9D8B030D-6E8A-4147-A177-3AD203B41FA5}">
                      <a16:colId xmlns:a16="http://schemas.microsoft.com/office/drawing/2014/main" val="20004"/>
                    </a:ext>
                  </a:extLst>
                </a:gridCol>
                <a:gridCol w="1491615">
                  <a:extLst>
                    <a:ext uri="{9D8B030D-6E8A-4147-A177-3AD203B41FA5}">
                      <a16:colId xmlns:a16="http://schemas.microsoft.com/office/drawing/2014/main" val="20005"/>
                    </a:ext>
                  </a:extLst>
                </a:gridCol>
                <a:gridCol w="1055370">
                  <a:extLst>
                    <a:ext uri="{9D8B030D-6E8A-4147-A177-3AD203B41FA5}">
                      <a16:colId xmlns:a16="http://schemas.microsoft.com/office/drawing/2014/main" val="20006"/>
                    </a:ext>
                  </a:extLst>
                </a:gridCol>
              </a:tblGrid>
              <a:tr h="274320">
                <a:tc>
                  <a:txBody>
                    <a:bodyPr/>
                    <a:lstStyle/>
                    <a:p>
                      <a:pPr algn="l">
                        <a:lnSpc>
                          <a:spcPct val="80000"/>
                        </a:lnSpc>
                      </a:pPr>
                      <a:r>
                        <a:rPr lang="en-US" sz="1400" dirty="0">
                          <a:solidFill>
                            <a:schemeClr val="tx1"/>
                          </a:solidFill>
                          <a:latin typeface="Times New Roman" panose="02020603050405020304" pitchFamily="18" charset="0"/>
                          <a:cs typeface="Times New Roman" panose="02020603050405020304" pitchFamily="18" charset="0"/>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sz="1400" dirty="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sz="1400" dirty="0">
                          <a:solidFill>
                            <a:schemeClr val="tx1"/>
                          </a:solidFill>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sz="1400" dirty="0">
                          <a:solidFill>
                            <a:schemeClr val="tx1"/>
                          </a:solidFill>
                          <a:latin typeface="Times New Roman" panose="02020603050405020304" pitchFamily="18" charset="0"/>
                          <a:cs typeface="Times New Roman" panose="02020603050405020304" pitchFamily="18" charset="0"/>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sz="1400" dirty="0">
                          <a:solidFill>
                            <a:schemeClr val="tx1"/>
                          </a:solidFill>
                          <a:latin typeface="Times New Roman" panose="02020603050405020304" pitchFamily="18" charset="0"/>
                          <a:cs typeface="Times New Roman" panose="02020603050405020304" pitchFamily="18" charset="0"/>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sz="1400" dirty="0">
                          <a:solidFill>
                            <a:schemeClr val="tx1"/>
                          </a:solidFill>
                          <a:latin typeface="Times New Roman" panose="02020603050405020304" pitchFamily="18" charset="0"/>
                          <a:cs typeface="Times New Roman" panose="02020603050405020304" pitchFamily="18" charset="0"/>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sz="1400" dirty="0">
                          <a:solidFill>
                            <a:schemeClr val="tx1"/>
                          </a:solidFill>
                          <a:latin typeface="Times New Roman" panose="02020603050405020304" pitchFamily="18" charset="0"/>
                          <a:cs typeface="Times New Roman" panose="02020603050405020304" pitchFamily="18" charset="0"/>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l">
                        <a:lnSpc>
                          <a:spcPct val="80000"/>
                        </a:lnSpc>
                      </a:pPr>
                      <a:r>
                        <a:rPr lang="en-US" sz="1400" dirty="0">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80000"/>
                        </a:lnSpc>
                        <a:spcBef>
                          <a:spcPts val="0"/>
                        </a:spcBef>
                        <a:spcAft>
                          <a:spcPts val="0"/>
                        </a:spcAft>
                        <a:buClrTx/>
                        <a:buSzTx/>
                        <a:buFontTx/>
                        <a:buNone/>
                        <a:defRPr/>
                      </a:pPr>
                      <a:r>
                        <a:rPr lang="en-US" altLang="en-US" sz="1400" dirty="0">
                          <a:latin typeface="Times New Roman" panose="02020603050405020304" pitchFamily="18" charset="0"/>
                          <a:cs typeface="Times New Roman" panose="02020603050405020304" pitchFamily="18" charset="0"/>
                        </a:rPr>
                        <a:t>MobileNetV2 for Digital Forgery</a:t>
                      </a:r>
                    </a:p>
                    <a:p>
                      <a:pPr marL="0" marR="0" indent="0" algn="l" defTabSz="914400" rtl="0" eaLnBrk="1" fontAlgn="auto" latinLnBrk="0" hangingPunct="1">
                        <a:lnSpc>
                          <a:spcPct val="100000"/>
                        </a:lnSpc>
                        <a:spcBef>
                          <a:spcPts val="0"/>
                        </a:spcBef>
                        <a:spcAft>
                          <a:spcPts val="0"/>
                        </a:spcAft>
                        <a:buClrTx/>
                        <a:buSzTx/>
                        <a:buFontTx/>
                        <a:buNone/>
                        <a:defRPr/>
                      </a:pP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sz="1400" dirty="0">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Ribeiro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https://ieeexplore.ieee.org/</a:t>
                      </a:r>
                    </a:p>
                    <a:p>
                      <a:pPr algn="l">
                        <a:lnSpc>
                          <a:spcPct val="80000"/>
                        </a:lnSpc>
                      </a:pPr>
                      <a:r>
                        <a:rPr lang="en-US" altLang="en-US" sz="1400" dirty="0">
                          <a:latin typeface="Times New Roman" panose="02020603050405020304" pitchFamily="18" charset="0"/>
                          <a:cs typeface="Times New Roman" panose="02020603050405020304" pitchFamily="18" charset="0"/>
                        </a:rPr>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Lightweight MobileNetV2 for tampering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Achieved 95% accuracy on CASIA dataset.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Limited resilience to advanced forgery.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l">
                        <a:lnSpc>
                          <a:spcPct val="80000"/>
                        </a:lnSpc>
                      </a:pPr>
                      <a:r>
                        <a:rPr lang="en-US" sz="1400" dirty="0">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Lightweight Convolutional Networks for Forgery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a:latin typeface="Times New Roman" panose="02020603050405020304" pitchFamily="18" charset="0"/>
                          <a:cs typeface="Times New Roman" panose="02020603050405020304" pitchFamily="18" charset="0"/>
                        </a:rPr>
                        <a:t>K. D. Kadam, S. Ahirrao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https://ieeexplore.ieee.org/</a:t>
                      </a:r>
                    </a:p>
                    <a:p>
                      <a:pPr algn="l">
                        <a:lnSpc>
                          <a:spcPct val="80000"/>
                        </a:lnSpc>
                      </a:pPr>
                      <a:r>
                        <a:rPr lang="en-US" altLang="en-US" sz="1400" dirty="0">
                          <a:latin typeface="Times New Roman" panose="02020603050405020304" pitchFamily="18" charset="0"/>
                          <a:cs typeface="Times New Roman" panose="02020603050405020304" pitchFamily="18" charset="0"/>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Lightweight CNNs combined with augmentation techniques.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Achieved high accuracy for small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Limited generalization to large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l">
                        <a:lnSpc>
                          <a:spcPct val="80000"/>
                        </a:lnSpc>
                      </a:pPr>
                      <a:r>
                        <a:rPr lang="en-US" sz="1400" dirty="0">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Error-Level Analysis for Image Tampering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Mallick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ITM Web Conf.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Error Level Analysis (ELA) combined with pre-trained CNNs.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Enhanced detection of subtle image manipulations.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Performance degrades with high compression.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l">
                        <a:lnSpc>
                          <a:spcPct val="80000"/>
                        </a:lnSpc>
                      </a:pPr>
                      <a:r>
                        <a:rPr lang="en-US" sz="1400" dirty="0">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Splicing Forgery Detection Using GANs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Agarwal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https://link.springer.com/</a:t>
                      </a:r>
                    </a:p>
                    <a:p>
                      <a:pPr algn="l">
                        <a:lnSpc>
                          <a:spcPct val="80000"/>
                        </a:lnSpc>
                      </a:pPr>
                      <a:r>
                        <a:rPr lang="en-US" altLang="en-US" sz="1400" dirty="0">
                          <a:latin typeface="Times New Roman" panose="02020603050405020304" pitchFamily="18" charset="0"/>
                          <a:cs typeface="Times New Roman" panose="02020603050405020304" pitchFamily="18" charset="0"/>
                        </a:rPr>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Generative Adversarial Networks for feature extraction.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Improved cross-domain 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pPr>
                      <a:r>
                        <a:rPr lang="en-US" altLang="en-US" sz="1400" dirty="0">
                          <a:latin typeface="Times New Roman" panose="02020603050405020304" pitchFamily="18" charset="0"/>
                          <a:cs typeface="Times New Roman" panose="02020603050405020304" pitchFamily="18" charset="0"/>
                        </a:rPr>
                        <a:t>High computational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l">
                        <a:lnSpc>
                          <a:spcPct val="80000"/>
                        </a:lnSpc>
                        <a:buNone/>
                      </a:pPr>
                      <a:r>
                        <a:rPr lang="en-US" sz="1400" dirty="0">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buNone/>
                      </a:pPr>
                      <a:r>
                        <a:rPr lang="en-US" altLang="en-US" sz="1400" dirty="0">
                          <a:latin typeface="Times New Roman" panose="02020603050405020304" pitchFamily="18" charset="0"/>
                          <a:cs typeface="Times New Roman" panose="02020603050405020304" pitchFamily="18" charset="0"/>
                        </a:rPr>
                        <a:t>Multi-Class Forgery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buNone/>
                      </a:pPr>
                      <a:r>
                        <a:rPr lang="en-US" altLang="en-US" sz="1400" dirty="0">
                          <a:latin typeface="Times New Roman" panose="02020603050405020304" pitchFamily="18" charset="0"/>
                          <a:cs typeface="Times New Roman" panose="02020603050405020304" pitchFamily="18" charset="0"/>
                        </a:rPr>
                        <a:t>Agarwal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buNone/>
                      </a:pPr>
                      <a:r>
                        <a:rPr lang="en-US" altLang="en-US" sz="1400" dirty="0">
                          <a:latin typeface="Times New Roman" panose="02020603050405020304" pitchFamily="18" charset="0"/>
                          <a:cs typeface="Times New Roman" panose="02020603050405020304" pitchFamily="18" charset="0"/>
                        </a:rPr>
                        <a:t>https://link.springer.com/</a:t>
                      </a:r>
                    </a:p>
                    <a:p>
                      <a:pPr algn="l">
                        <a:lnSpc>
                          <a:spcPct val="80000"/>
                        </a:lnSpc>
                        <a:buNone/>
                      </a:pPr>
                      <a:r>
                        <a:rPr lang="en-US" altLang="en-US" sz="1400" dirty="0">
                          <a:latin typeface="Times New Roman" panose="02020603050405020304" pitchFamily="18" charset="0"/>
                          <a:cs typeface="Times New Roman" panose="02020603050405020304" pitchFamily="18" charset="0"/>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buNone/>
                      </a:pPr>
                      <a:r>
                        <a:rPr lang="en-US" altLang="en-US" sz="1400" dirty="0">
                          <a:latin typeface="Times New Roman" panose="02020603050405020304" pitchFamily="18" charset="0"/>
                          <a:cs typeface="Times New Roman" panose="02020603050405020304" pitchFamily="18" charset="0"/>
                        </a:rPr>
                        <a:t>Multi-class classification using DenseNet.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buNone/>
                      </a:pPr>
                      <a:r>
                        <a:rPr lang="en-US" altLang="en-US" sz="1400" dirty="0">
                          <a:latin typeface="Times New Roman" panose="02020603050405020304" pitchFamily="18" charset="0"/>
                          <a:cs typeface="Times New Roman" panose="02020603050405020304" pitchFamily="18" charset="0"/>
                        </a:rPr>
                        <a:t>Significant improvements in recall and 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80000"/>
                        </a:lnSpc>
                        <a:buNone/>
                      </a:pPr>
                      <a:r>
                        <a:rPr lang="en-US" altLang="en-US" sz="1400" dirty="0">
                          <a:latin typeface="Times New Roman" panose="02020603050405020304" pitchFamily="18" charset="0"/>
                          <a:cs typeface="Times New Roman" panose="02020603050405020304" pitchFamily="18" charset="0"/>
                        </a:rPr>
                        <a:t>Overfitting in small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5" name="Date Placeholder 4"/>
          <p:cNvSpPr>
            <a:spLocks noGrp="1"/>
          </p:cNvSpPr>
          <p:nvPr>
            <p:ph type="dt" sz="half" idx="10"/>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10" name="Content Placeholder 8"/>
          <p:cNvSpPr txBox="1"/>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11" name="Content Placeholder 2"/>
          <p:cNvSpPr txBox="1"/>
          <p:nvPr/>
        </p:nvSpPr>
        <p:spPr>
          <a:xfrm>
            <a:off x="914400" y="1672521"/>
            <a:ext cx="10515600" cy="4351338"/>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7400" dirty="0">
                <a:latin typeface="Times New Roman" panose="02020603050405020304" pitchFamily="18" charset="0"/>
                <a:cs typeface="Times New Roman" panose="02020603050405020304" pitchFamily="18" charset="0"/>
              </a:rPr>
              <a:t>Lightweight CNNs for Forgery Detection : High accuracy using lightweight models in resource-constrained settings.</a:t>
            </a:r>
          </a:p>
          <a:p>
            <a:r>
              <a:rPr lang="en-US" altLang="en-US" sz="7400" dirty="0">
                <a:latin typeface="Times New Roman" panose="02020603050405020304" pitchFamily="18" charset="0"/>
                <a:cs typeface="Times New Roman" panose="02020603050405020304" pitchFamily="18" charset="0"/>
              </a:rPr>
              <a:t>Effective for splicing and copy-move forgeries.</a:t>
            </a:r>
          </a:p>
          <a:p>
            <a:r>
              <a:rPr lang="en-US" altLang="en-US" sz="7400" dirty="0">
                <a:latin typeface="Times New Roman" panose="02020603050405020304" pitchFamily="18" charset="0"/>
                <a:cs typeface="Times New Roman" panose="02020603050405020304" pitchFamily="18" charset="0"/>
              </a:rPr>
              <a:t>GANs for Splicing Detection : Improved feature extraction and precision.</a:t>
            </a:r>
          </a:p>
          <a:p>
            <a:r>
              <a:rPr lang="en-US" altLang="en-US" sz="7400" dirty="0">
                <a:latin typeface="Times New Roman" panose="02020603050405020304" pitchFamily="18" charset="0"/>
                <a:cs typeface="Times New Roman" panose="02020603050405020304" pitchFamily="18" charset="0"/>
              </a:rPr>
              <a:t>Effective for cross-domain forgery scenarios.</a:t>
            </a:r>
          </a:p>
          <a:p>
            <a:r>
              <a:rPr lang="en-US" altLang="en-US" sz="7400" dirty="0">
                <a:latin typeface="Times New Roman" panose="02020603050405020304" pitchFamily="18" charset="0"/>
                <a:cs typeface="Times New Roman" panose="02020603050405020304" pitchFamily="18" charset="0"/>
              </a:rPr>
              <a:t>Error-Level Analysis (ELA) with CNNs : Enhanced detection of subtle manipulations.</a:t>
            </a:r>
          </a:p>
          <a:p>
            <a:r>
              <a:rPr lang="en-US" altLang="en-US" sz="7400" dirty="0">
                <a:latin typeface="Times New Roman" panose="02020603050405020304" pitchFamily="18" charset="0"/>
                <a:cs typeface="Times New Roman" panose="02020603050405020304" pitchFamily="18" charset="0"/>
              </a:rPr>
              <a:t>Effective integration of ELA with deep learning.</a:t>
            </a:r>
          </a:p>
          <a:p>
            <a:r>
              <a:rPr lang="en-US" altLang="en-US" sz="7400" dirty="0">
                <a:latin typeface="Times New Roman" panose="02020603050405020304" pitchFamily="18" charset="0"/>
                <a:cs typeface="Times New Roman" panose="02020603050405020304" pitchFamily="18" charset="0"/>
              </a:rPr>
              <a:t>Robust against noise and scaling.</a:t>
            </a:r>
          </a:p>
          <a:p>
            <a:r>
              <a:rPr lang="en-US" altLang="en-US" sz="7400" dirty="0">
                <a:latin typeface="Times New Roman" panose="02020603050405020304" pitchFamily="18" charset="0"/>
                <a:cs typeface="Times New Roman" panose="02020603050405020304" pitchFamily="18" charset="0"/>
              </a:rPr>
              <a:t>Multi-Class Detection : Improved accuracy across diverse forgery types.</a:t>
            </a:r>
          </a:p>
          <a:p>
            <a:r>
              <a:rPr lang="en-US" altLang="en-US" sz="7400" dirty="0">
                <a:latin typeface="Times New Roman" panose="02020603050405020304" pitchFamily="18" charset="0"/>
                <a:cs typeface="Times New Roman" panose="02020603050405020304" pitchFamily="18" charset="0"/>
              </a:rPr>
              <a:t>Balanced performance metrics (precision and recall).</a:t>
            </a:r>
          </a:p>
          <a:p>
            <a:endParaRPr lang="en-US" altLang="en-US" sz="8000"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LITERATURE SURVEY</a:t>
            </a:r>
            <a:endParaRPr lang="en-US"/>
          </a:p>
        </p:txBody>
      </p:sp>
      <p:sp>
        <p:nvSpPr>
          <p:cNvPr id="3" name="Content Placeholder 2"/>
          <p:cNvSpPr>
            <a:spLocks noGrp="1"/>
          </p:cNvSpPr>
          <p:nvPr>
            <p:ph idx="1"/>
          </p:nvPr>
        </p:nvSpPr>
        <p:spPr/>
        <p:txBody>
          <a:bodyPr>
            <a:normAutofit/>
          </a:bodyPr>
          <a:lstStyle/>
          <a:p>
            <a:r>
              <a:rPr lang="en-US" altLang="en-US" sz="2400" dirty="0">
                <a:latin typeface="Times New Roman" panose="02020603050405020304" pitchFamily="18" charset="0"/>
                <a:cs typeface="Times New Roman" panose="02020603050405020304" pitchFamily="18" charset="0"/>
              </a:rPr>
              <a:t>Key Findings : ELA combined with CNNs improves detection accuracy.</a:t>
            </a:r>
          </a:p>
          <a:p>
            <a:r>
              <a:rPr lang="en-US" altLang="en-US" sz="2400" dirty="0">
                <a:latin typeface="Times New Roman" panose="02020603050405020304" pitchFamily="18" charset="0"/>
                <a:cs typeface="Times New Roman" panose="02020603050405020304" pitchFamily="18" charset="0"/>
              </a:rPr>
              <a:t>Lightweight models (e.g.,EfficientNetV2,MobileNetV2) are resource-efficient.</a:t>
            </a:r>
          </a:p>
          <a:p>
            <a:r>
              <a:rPr lang="en-US" altLang="en-US" sz="2400" dirty="0">
                <a:latin typeface="Times New Roman" panose="02020603050405020304" pitchFamily="18" charset="0"/>
                <a:cs typeface="Times New Roman" panose="02020603050405020304" pitchFamily="18" charset="0"/>
              </a:rPr>
              <a:t>Generative models (e.g., GANs) enhance feature extraction.</a:t>
            </a:r>
          </a:p>
          <a:p>
            <a:r>
              <a:rPr lang="en-US" altLang="en-US" sz="2400" dirty="0">
                <a:latin typeface="Times New Roman" panose="02020603050405020304" pitchFamily="18" charset="0"/>
                <a:cs typeface="Times New Roman" panose="02020603050405020304" pitchFamily="18" charset="0"/>
              </a:rPr>
              <a:t>Multi-class approaches address diverse forgery types effectively.</a:t>
            </a:r>
          </a:p>
          <a:p>
            <a:r>
              <a:rPr lang="en-US" altLang="en-US" sz="2400" dirty="0">
                <a:latin typeface="Times New Roman" panose="02020603050405020304" pitchFamily="18" charset="0"/>
                <a:cs typeface="Times New Roman" panose="02020603050405020304" pitchFamily="18" charset="0"/>
              </a:rPr>
              <a:t>Relevance to Project : Forms the foundation for implementing the ELA-CNN model.</a:t>
            </a:r>
          </a:p>
          <a:p>
            <a:r>
              <a:rPr lang="en-US" altLang="en-US" sz="2400" dirty="0">
                <a:latin typeface="Times New Roman" panose="02020603050405020304" pitchFamily="18" charset="0"/>
                <a:cs typeface="Times New Roman" panose="02020603050405020304" pitchFamily="18" charset="0"/>
              </a:rPr>
              <a:t>Demonstrates the importance of efficient and accurate models.</a:t>
            </a:r>
          </a:p>
          <a:p>
            <a:r>
              <a:rPr lang="en-US" altLang="en-US" sz="2400" dirty="0">
                <a:latin typeface="Times New Roman" panose="02020603050405020304" pitchFamily="18" charset="0"/>
                <a:cs typeface="Times New Roman" panose="02020603050405020304" pitchFamily="18" charset="0"/>
              </a:rPr>
              <a:t>Validates the integration of pre-trained architectures (e.g., EfficientNetV2,DenseNet121,MobileNetV2).</a:t>
            </a:r>
          </a:p>
          <a:p>
            <a:endParaRPr lang="en-US" alt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7/14/25</a:t>
            </a:r>
            <a:endParaRPr lang="en-IN" dirty="0"/>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9" name="Content Placeholder 8"/>
          <p:cNvSpPr>
            <a:spLocks noGrp="1"/>
          </p:cNvSpPr>
          <p:nvPr>
            <p:ph idx="1"/>
          </p:nvPr>
        </p:nvSpPr>
        <p:spPr/>
        <p:txBody>
          <a:bodyPr>
            <a:normAutofit/>
          </a:bodyPr>
          <a:lstStyle/>
          <a:p>
            <a:r>
              <a:rPr lang="en-US" altLang="en-US">
                <a:latin typeface="Times New Roman" panose="02020603050405020304" pitchFamily="18" charset="0"/>
                <a:cs typeface="Times New Roman" panose="02020603050405020304" pitchFamily="18" charset="0"/>
              </a:rPr>
              <a:t>Limited Generalization : Existing models struggle to generalize well across heterogeneous datasets and real-world scenarios.</a:t>
            </a:r>
          </a:p>
          <a:p>
            <a:r>
              <a:rPr lang="en-US" altLang="en-US">
                <a:latin typeface="Times New Roman" panose="02020603050405020304" pitchFamily="18" charset="0"/>
                <a:cs typeface="Times New Roman" panose="02020603050405020304" pitchFamily="18" charset="0"/>
              </a:rPr>
              <a:t>Advanced Forgery Detection : Challenges in detecting sophisticated forgery techniques, such as Gaussian smoothing and adaptive compression.</a:t>
            </a:r>
          </a:p>
          <a:p>
            <a:r>
              <a:rPr lang="en-US" altLang="en-US">
                <a:latin typeface="Times New Roman" panose="02020603050405020304" pitchFamily="18" charset="0"/>
                <a:cs typeface="Times New Roman" panose="02020603050405020304" pitchFamily="18" charset="0"/>
              </a:rPr>
              <a:t>Handling Low-Quality Images : Performance degrades significantly with highly compressed or low-resolution images.</a:t>
            </a:r>
            <a:endParaRPr lang="en-US" altLang="en-US" sz="2855">
              <a:latin typeface="Times New Roman" panose="02020603050405020304" pitchFamily="18" charset="0"/>
              <a:cs typeface="Times New Roman" panose="02020603050405020304" pitchFamily="18" charset="0"/>
            </a:endParaRPr>
          </a:p>
          <a:p>
            <a:endParaRPr lang="en-US" altLang="en-US" sz="2855">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8861BA7F-A371-40B4-833D-5B10E62AD0F8}"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RESEARCH GAPS</a:t>
            </a:r>
          </a:p>
        </p:txBody>
      </p:sp>
      <p:sp>
        <p:nvSpPr>
          <p:cNvPr id="3" name="Content Placeholder 2"/>
          <p:cNvSpPr>
            <a:spLocks noGrp="1"/>
          </p:cNvSpPr>
          <p:nvPr>
            <p:ph idx="1"/>
          </p:nvPr>
        </p:nvSpPr>
        <p:spPr/>
        <p:txBody>
          <a:bodyPr/>
          <a:lstStyle/>
          <a:p>
            <a:r>
              <a:rPr lang="en-US" altLang="en-US">
                <a:latin typeface="Times New Roman" panose="02020603050405020304" pitchFamily="18" charset="0"/>
                <a:cs typeface="Times New Roman" panose="02020603050405020304" pitchFamily="18" charset="0"/>
                <a:sym typeface="+mn-ea"/>
              </a:rPr>
              <a:t>Computational Complexity : High computational demands for models like GANs and Mask R-CNN, making them unsuitable for resource-constrained environments.</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Multi-Class Detection Challenges : Difficulty in extending binary classification approaches to multi-class scenarios without overfitting.</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Scalability Issues : Limited scalability of existing models to handle large-scale or high-resolution datasets effectively.</a:t>
            </a:r>
            <a:endParaRPr lang="en-US" altLang="en-US">
              <a:latin typeface="Times New Roman" panose="02020603050405020304" pitchFamily="18" charset="0"/>
              <a:cs typeface="Times New Roman" panose="02020603050405020304" pitchFamily="18" charset="0"/>
            </a:endParaRPr>
          </a:p>
          <a:p>
            <a:endParaRPr lang="en-US"/>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9" name="Content Placeholder 8"/>
          <p:cNvSpPr>
            <a:spLocks noGrp="1"/>
          </p:cNvSpPr>
          <p:nvPr>
            <p:ph idx="1"/>
          </p:nvPr>
        </p:nvSpPr>
        <p:spPr/>
        <p:txBody>
          <a:bodyPr>
            <a:noAutofit/>
          </a:bodyPr>
          <a:lstStyle/>
          <a:p>
            <a:r>
              <a:rPr lang="en-US" altLang="en-US" sz="2400">
                <a:latin typeface="Times New Roman" panose="02020603050405020304" pitchFamily="18" charset="0"/>
                <a:cs typeface="Times New Roman" panose="02020603050405020304" pitchFamily="18" charset="0"/>
              </a:rPr>
              <a:t>Problem Definition: </a:t>
            </a:r>
          </a:p>
          <a:p>
            <a:r>
              <a:rPr lang="en-US" altLang="en-US" sz="2400">
                <a:latin typeface="Times New Roman" panose="02020603050405020304" pitchFamily="18" charset="0"/>
                <a:cs typeface="Times New Roman" panose="02020603050405020304" pitchFamily="18" charset="0"/>
              </a:rPr>
              <a:t>Digital image manipulation has become widespread due to accessible editing tools.</a:t>
            </a:r>
          </a:p>
          <a:p>
            <a:r>
              <a:rPr lang="en-US" altLang="en-US" sz="2400">
                <a:latin typeface="Times New Roman" panose="02020603050405020304" pitchFamily="18" charset="0"/>
                <a:cs typeface="Times New Roman" panose="02020603050405020304" pitchFamily="18" charset="0"/>
              </a:rPr>
              <a:t>Forged images are often undetectable to the human eye.</a:t>
            </a:r>
          </a:p>
          <a:p>
            <a:r>
              <a:rPr lang="en-US" altLang="en-US" sz="2400">
                <a:latin typeface="Times New Roman" panose="02020603050405020304" pitchFamily="18" charset="0"/>
                <a:cs typeface="Times New Roman" panose="02020603050405020304" pitchFamily="18" charset="0"/>
              </a:rPr>
              <a:t>Existing detection methods focus narrowly on specific forgery types (e.g., splicing, copy-move).</a:t>
            </a:r>
          </a:p>
          <a:p>
            <a:r>
              <a:rPr lang="en-US" altLang="en-US" sz="2400">
                <a:latin typeface="Times New Roman" panose="02020603050405020304" pitchFamily="18" charset="0"/>
                <a:cs typeface="Times New Roman" panose="02020603050405020304" pitchFamily="18" charset="0"/>
              </a:rPr>
              <a:t>High computational complexity limits their applicability in real-world scenarios.</a:t>
            </a:r>
          </a:p>
          <a:p>
            <a:r>
              <a:rPr lang="en-US" altLang="en-US" sz="2400">
                <a:latin typeface="Times New Roman" panose="02020603050405020304" pitchFamily="18" charset="0"/>
                <a:cs typeface="Times New Roman" panose="02020603050405020304" pitchFamily="18" charset="0"/>
              </a:rPr>
              <a:t>Significance of the Problem:</a:t>
            </a:r>
          </a:p>
          <a:p>
            <a:r>
              <a:rPr lang="en-US" altLang="en-US" sz="2400">
                <a:latin typeface="Times New Roman" panose="02020603050405020304" pitchFamily="18" charset="0"/>
                <a:cs typeface="Times New Roman" panose="02020603050405020304" pitchFamily="18" charset="0"/>
              </a:rPr>
              <a:t>Impact on Society : Fake images fuel misinformation, undermining trust in media and institutions.</a:t>
            </a:r>
          </a:p>
          <a:p>
            <a:endParaRPr lang="en-US" altLang="en-US" sz="24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CFBDFE2C-0A16-4F5C-A88F-D69DAFFEC2DA}"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normAutofit/>
          </a:bodyPr>
          <a:lstStyle/>
          <a:p>
            <a:r>
              <a:rPr lang="en-US" altLang="en-US" sz="2400">
                <a:latin typeface="Times New Roman" panose="02020603050405020304" pitchFamily="18" charset="0"/>
                <a:cs typeface="Times New Roman" panose="02020603050405020304" pitchFamily="18" charset="0"/>
                <a:sym typeface="+mn-ea"/>
              </a:rPr>
              <a:t>Applications : Crucial for verifying authenticity in journalism, cybersecurity, and legal cases.</a:t>
            </a:r>
          </a:p>
          <a:p>
            <a:r>
              <a:rPr lang="en-US" altLang="en-US" sz="2400">
                <a:latin typeface="Times New Roman" panose="02020603050405020304" pitchFamily="18" charset="0"/>
                <a:cs typeface="Times New Roman" panose="02020603050405020304" pitchFamily="18" charset="0"/>
                <a:sym typeface="+mn-ea"/>
              </a:rPr>
              <a:t>Limitations of Current Methods : </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Dependence on large datasets for deep learning models.</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Inefficiency in resource-constrained environments.</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Poor robustness against advanced forgery techniques like re-compression and smoothing.</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Need for Action :</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 Develop a robust, efficient, and scalable image forgery detection system to address these challenges.</a:t>
            </a:r>
            <a:endParaRPr lang="en-US" altLang="en-US" sz="240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sz="2400"/>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p:cNvSpPr>
            <a:spLocks noGrp="1"/>
          </p:cNvSpPr>
          <p:nvPr>
            <p:ph idx="1"/>
          </p:nvPr>
        </p:nvSpPr>
        <p:spPr/>
        <p:txBody>
          <a:bodyPr>
            <a:noAutofit/>
          </a:bodyPr>
          <a:lstStyle/>
          <a:p>
            <a:r>
              <a:rPr lang="en-US" altLang="en-US" sz="2400">
                <a:latin typeface="Times New Roman" panose="02020603050405020304" pitchFamily="18" charset="0"/>
                <a:cs typeface="Times New Roman" panose="02020603050405020304" pitchFamily="18" charset="0"/>
              </a:rPr>
              <a:t>Develop an Efficient Detection Model : Create a lightweight and scalable system for detecting various types of image forgeries.</a:t>
            </a:r>
          </a:p>
          <a:p>
            <a:r>
              <a:rPr lang="en-US" altLang="en-US" sz="2400">
                <a:latin typeface="Times New Roman" panose="02020603050405020304" pitchFamily="18" charset="0"/>
                <a:cs typeface="Times New Roman" panose="02020603050405020304" pitchFamily="18" charset="0"/>
              </a:rPr>
              <a:t>Leverage Transfer Learning : Utilize pre-trained deep learning models to enhance detection accuracy while reducing computational complexity.</a:t>
            </a:r>
          </a:p>
          <a:p>
            <a:r>
              <a:rPr lang="en-US" altLang="en-US" sz="2400">
                <a:latin typeface="Times New Roman" panose="02020603050405020304" pitchFamily="18" charset="0"/>
                <a:cs typeface="Times New Roman" panose="02020603050405020304" pitchFamily="18" charset="0"/>
              </a:rPr>
              <a:t>Address Advanced Forgery Techniques : Ensure robustness against sophisticated manipulations like re-compression and adaptive smoothing.</a:t>
            </a:r>
          </a:p>
          <a:p>
            <a:r>
              <a:rPr lang="en-US" altLang="en-US" sz="2400">
                <a:latin typeface="Times New Roman" panose="02020603050405020304" pitchFamily="18" charset="0"/>
                <a:cs typeface="Times New Roman" panose="02020603050405020304" pitchFamily="18" charset="0"/>
              </a:rPr>
              <a:t>Improve Real-World Applicability : Design a solution that performs effectively in resource-constrained environments with minimal data and processing requirements.</a:t>
            </a:r>
          </a:p>
          <a:p>
            <a:endParaRPr lang="en-US" altLang="en-US" sz="24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9FBFF6F6-CDA1-4F2B-8832-3B2A7420B6B9}"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BLOCK DIAGRAM OR FLOW DIAGRAM</a:t>
            </a:r>
          </a:p>
        </p:txBody>
      </p:sp>
      <p:sp>
        <p:nvSpPr>
          <p:cNvPr id="5" name="Date Placeholder 4"/>
          <p:cNvSpPr>
            <a:spLocks noGrp="1"/>
          </p:cNvSpPr>
          <p:nvPr>
            <p:ph type="dt" sz="half" idx="10"/>
          </p:nvPr>
        </p:nvSpPr>
        <p:spPr/>
        <p:txBody>
          <a:bodyPr/>
          <a:lstStyle/>
          <a:p>
            <a:fld id="{D6F4A1E3-5F7A-4AAC-A8C4-6CC6614F961D}"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14</a:t>
            </a:fld>
            <a:endParaRPr lang="en-US">
              <a:latin typeface="Times New Roman" panose="02020603050405020304" pitchFamily="18" charset="0"/>
              <a:cs typeface="Times New Roman" panose="02020603050405020304" pitchFamily="18" charset="0"/>
            </a:endParaRPr>
          </a:p>
        </p:txBody>
      </p:sp>
      <p:pic>
        <p:nvPicPr>
          <p:cNvPr id="9" name="Picture 8" descr="Figure_15"/>
          <p:cNvPicPr>
            <a:picLocks noChangeAspect="1"/>
          </p:cNvPicPr>
          <p:nvPr/>
        </p:nvPicPr>
        <p:blipFill>
          <a:blip r:embed="rId3"/>
          <a:stretch>
            <a:fillRect/>
          </a:stretch>
        </p:blipFill>
        <p:spPr>
          <a:xfrm>
            <a:off x="3977005" y="1397635"/>
            <a:ext cx="3627120" cy="4779645"/>
          </a:xfrm>
          <a:prstGeom prst="rect">
            <a:avLst/>
          </a:prstGeom>
        </p:spPr>
      </p:pic>
      <p:pic>
        <p:nvPicPr>
          <p:cNvPr id="3" name="Content Placeholder 2">
            <a:extLst>
              <a:ext uri="{FF2B5EF4-FFF2-40B4-BE49-F238E27FC236}">
                <a16:creationId xmlns:a16="http://schemas.microsoft.com/office/drawing/2014/main" id="{73F00E54-4B48-B449-FC81-B5E106338CB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251200" y="1229360"/>
            <a:ext cx="4511040" cy="5126990"/>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p:cNvSpPr>
            <a:spLocks noGrp="1"/>
          </p:cNvSpPr>
          <p:nvPr>
            <p:ph idx="1"/>
          </p:nvPr>
        </p:nvSpPr>
        <p:spPr/>
        <p:txBody>
          <a:bodyPr>
            <a:noAutofit/>
          </a:bodyPr>
          <a:lstStyle/>
          <a:p>
            <a:pPr marL="0" indent="0">
              <a:buNone/>
            </a:pPr>
            <a:r>
              <a:rPr lang="en-US" altLang="en-US" sz="2400">
                <a:latin typeface="Times New Roman" panose="02020603050405020304" pitchFamily="18" charset="0"/>
                <a:cs typeface="Times New Roman" panose="02020603050405020304" pitchFamily="18" charset="0"/>
              </a:rPr>
              <a:t>1.Preprocessing</a:t>
            </a:r>
          </a:p>
          <a:p>
            <a:r>
              <a:rPr lang="en-US" altLang="en-US" sz="2400">
                <a:latin typeface="Times New Roman" panose="02020603050405020304" pitchFamily="18" charset="0"/>
                <a:cs typeface="Times New Roman" panose="02020603050405020304" pitchFamily="18" charset="0"/>
              </a:rPr>
              <a:t>Error Level Analysis (ELA):</a:t>
            </a:r>
          </a:p>
          <a:p>
            <a:r>
              <a:rPr lang="en-US" altLang="en-US" sz="2400">
                <a:latin typeface="Times New Roman" panose="02020603050405020304" pitchFamily="18" charset="0"/>
                <a:cs typeface="Times New Roman" panose="02020603050405020304" pitchFamily="18" charset="0"/>
              </a:rPr>
              <a:t>ELA highlights regions with different compression levels.</a:t>
            </a:r>
          </a:p>
          <a:p>
            <a:r>
              <a:rPr lang="en-US" altLang="en-US" sz="2400">
                <a:latin typeface="Times New Roman" panose="02020603050405020304" pitchFamily="18" charset="0"/>
                <a:cs typeface="Times New Roman" panose="02020603050405020304" pitchFamily="18" charset="0"/>
              </a:rPr>
              <a:t>Steps involve resizing images to 224x224 pixels and normalizing pixel values to the range [0,1].</a:t>
            </a:r>
          </a:p>
          <a:p>
            <a:r>
              <a:rPr lang="en-US" altLang="en-US" sz="2400">
                <a:latin typeface="Times New Roman" panose="02020603050405020304" pitchFamily="18" charset="0"/>
                <a:cs typeface="Times New Roman" panose="02020603050405020304" pitchFamily="18" charset="0"/>
              </a:rPr>
              <a:t>Data augmentation techniques (random rotations, flips, zoom, brightness alterations) are applied to enhance the dataset and minimize overfitting.</a:t>
            </a:r>
          </a:p>
          <a:p>
            <a:pPr marL="0" indent="0">
              <a:buNone/>
            </a:pPr>
            <a:r>
              <a:rPr lang="en-US" altLang="en-US" sz="2400">
                <a:latin typeface="Times New Roman" panose="02020603050405020304" pitchFamily="18" charset="0"/>
                <a:cs typeface="Times New Roman" panose="02020603050405020304" pitchFamily="18" charset="0"/>
              </a:rPr>
              <a:t>2. Exploratory Data Analysis (EDA)</a:t>
            </a:r>
          </a:p>
          <a:p>
            <a:r>
              <a:rPr lang="en-US" altLang="en-US" sz="2400">
                <a:latin typeface="Times New Roman" panose="02020603050405020304" pitchFamily="18" charset="0"/>
                <a:cs typeface="Times New Roman" panose="02020603050405020304" pitchFamily="18" charset="0"/>
              </a:rPr>
              <a:t>Visualization of image differences before and after ELA.</a:t>
            </a:r>
          </a:p>
          <a:p>
            <a:r>
              <a:rPr lang="en-US" altLang="en-US" sz="2400">
                <a:latin typeface="Times New Roman" panose="02020603050405020304" pitchFamily="18" charset="0"/>
                <a:cs typeface="Times New Roman" panose="02020603050405020304" pitchFamily="18" charset="0"/>
              </a:rPr>
              <a:t>Understanding dataset characteristics through class distribution and image quality levels.</a:t>
            </a:r>
          </a:p>
          <a:p>
            <a:endParaRPr lang="en-US" altLang="en-US" sz="240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3074014C-4FBD-4305-8CA1-EC0986CDD1CB}"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p:txBody>
          <a:bodyPr>
            <a:normAutofit fontScale="92500" lnSpcReduction="10000"/>
          </a:bodyPr>
          <a:lstStyle/>
          <a:p>
            <a:pPr marL="0" indent="0">
              <a:buNone/>
            </a:pPr>
            <a:r>
              <a:rPr lang="en-US" altLang="en-US" sz="2665" dirty="0">
                <a:latin typeface="Times New Roman" panose="02020603050405020304" pitchFamily="18" charset="0"/>
                <a:cs typeface="Times New Roman" panose="02020603050405020304" pitchFamily="18" charset="0"/>
              </a:rPr>
              <a:t>3. Frameworks and Tools</a:t>
            </a:r>
          </a:p>
          <a:p>
            <a:r>
              <a:rPr lang="en-US" altLang="en-US" sz="2665" dirty="0">
                <a:latin typeface="Times New Roman" panose="02020603050405020304" pitchFamily="18" charset="0"/>
                <a:cs typeface="Times New Roman" panose="02020603050405020304" pitchFamily="18" charset="0"/>
              </a:rPr>
              <a:t>Programming Environment: Google </a:t>
            </a:r>
            <a:r>
              <a:rPr lang="en-US" altLang="en-US" sz="2665" dirty="0" err="1">
                <a:latin typeface="Times New Roman" panose="02020603050405020304" pitchFamily="18" charset="0"/>
                <a:cs typeface="Times New Roman" panose="02020603050405020304" pitchFamily="18" charset="0"/>
              </a:rPr>
              <a:t>Colab</a:t>
            </a:r>
            <a:r>
              <a:rPr lang="en-US" altLang="en-US" sz="2665" dirty="0">
                <a:latin typeface="Times New Roman" panose="02020603050405020304" pitchFamily="18" charset="0"/>
                <a:cs typeface="Times New Roman" panose="02020603050405020304" pitchFamily="18" charset="0"/>
              </a:rPr>
              <a:t> (upgraded to T4 GPU for performance).</a:t>
            </a:r>
          </a:p>
          <a:p>
            <a:r>
              <a:rPr lang="en-US" altLang="en-US" sz="2665" dirty="0">
                <a:latin typeface="Times New Roman" panose="02020603050405020304" pitchFamily="18" charset="0"/>
                <a:cs typeface="Times New Roman" panose="02020603050405020304" pitchFamily="18" charset="0"/>
              </a:rPr>
              <a:t>Frameworks: </a:t>
            </a:r>
            <a:r>
              <a:rPr lang="en-US" altLang="en-US" sz="2665" dirty="0" err="1">
                <a:latin typeface="Times New Roman" panose="02020603050405020304" pitchFamily="18" charset="0"/>
                <a:cs typeface="Times New Roman" panose="02020603050405020304" pitchFamily="18" charset="0"/>
              </a:rPr>
              <a:t>TensorFlow</a:t>
            </a:r>
            <a:r>
              <a:rPr lang="en-US" altLang="en-US" sz="2665" dirty="0">
                <a:latin typeface="Times New Roman" panose="02020603050405020304" pitchFamily="18" charset="0"/>
                <a:cs typeface="Times New Roman" panose="02020603050405020304" pitchFamily="18" charset="0"/>
              </a:rPr>
              <a:t>/</a:t>
            </a:r>
            <a:r>
              <a:rPr lang="en-US" altLang="en-US" sz="2665" dirty="0" err="1">
                <a:latin typeface="Times New Roman" panose="02020603050405020304" pitchFamily="18" charset="0"/>
                <a:cs typeface="Times New Roman" panose="02020603050405020304" pitchFamily="18" charset="0"/>
              </a:rPr>
              <a:t>Keras</a:t>
            </a:r>
            <a:r>
              <a:rPr lang="en-US" altLang="en-US" sz="2665" dirty="0">
                <a:latin typeface="Times New Roman" panose="02020603050405020304" pitchFamily="18" charset="0"/>
                <a:cs typeface="Times New Roman" panose="02020603050405020304" pitchFamily="18" charset="0"/>
              </a:rPr>
              <a:t> for deep learning model implementation.</a:t>
            </a:r>
          </a:p>
          <a:p>
            <a:r>
              <a:rPr lang="en-US" altLang="en-US" sz="2665" dirty="0">
                <a:latin typeface="Times New Roman" panose="02020603050405020304" pitchFamily="18" charset="0"/>
                <a:cs typeface="Times New Roman" panose="02020603050405020304" pitchFamily="18" charset="0"/>
              </a:rPr>
              <a:t>Dataset: CASIA2 dataset for image forgery detection tasks.</a:t>
            </a:r>
          </a:p>
          <a:p>
            <a:pPr marL="0" indent="0">
              <a:buNone/>
            </a:pPr>
            <a:r>
              <a:rPr lang="en-US" altLang="en-US" sz="2665" dirty="0">
                <a:latin typeface="Times New Roman" panose="02020603050405020304" pitchFamily="18" charset="0"/>
                <a:cs typeface="Times New Roman" panose="02020603050405020304" pitchFamily="18" charset="0"/>
              </a:rPr>
              <a:t>4. Algorithms and Techniques</a:t>
            </a:r>
          </a:p>
          <a:p>
            <a:r>
              <a:rPr lang="en-US" altLang="en-US" sz="2665" dirty="0">
                <a:latin typeface="Times New Roman" panose="02020603050405020304" pitchFamily="18" charset="0"/>
                <a:cs typeface="Times New Roman" panose="02020603050405020304" pitchFamily="18" charset="0"/>
              </a:rPr>
              <a:t>Model Architectures:</a:t>
            </a:r>
          </a:p>
          <a:p>
            <a:r>
              <a:rPr lang="en-US" altLang="en-US" sz="2665" dirty="0">
                <a:latin typeface="Times New Roman" panose="02020603050405020304" pitchFamily="18" charset="0"/>
                <a:cs typeface="Times New Roman" panose="02020603050405020304" pitchFamily="18" charset="0"/>
              </a:rPr>
              <a:t>EfficientNetV2,MobileNetV2, ResNet50, DenseNet121 were employed with transfer learning.</a:t>
            </a:r>
          </a:p>
          <a:p>
            <a:r>
              <a:rPr lang="en-US" altLang="en-US" sz="2665" dirty="0">
                <a:latin typeface="Times New Roman" panose="02020603050405020304" pitchFamily="18" charset="0"/>
                <a:cs typeface="Times New Roman" panose="02020603050405020304" pitchFamily="18" charset="0"/>
              </a:rPr>
              <a:t>Top layers of pre-trained models were customized for binary classification tasks.</a:t>
            </a:r>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16</a:t>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p:txBody>
          <a:bodyPr/>
          <a:lstStyle/>
          <a:p>
            <a:pPr marL="0" indent="0">
              <a:buNone/>
            </a:pPr>
            <a:r>
              <a:rPr lang="en-US" altLang="en-US" dirty="0">
                <a:latin typeface="Times New Roman" panose="02020603050405020304" pitchFamily="18" charset="0"/>
                <a:cs typeface="Times New Roman" panose="02020603050405020304" pitchFamily="18" charset="0"/>
              </a:rPr>
              <a:t>5.Parameter Settings </a:t>
            </a:r>
            <a:endParaRPr lang="en-US" altLang="en-US" dirty="0"/>
          </a:p>
          <a:p>
            <a:pPr marL="0" indent="0">
              <a:buNone/>
            </a:pPr>
            <a:endParaRPr lang="en-US" altLang="en-US" dirty="0"/>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17</a:t>
            </a:fld>
            <a:endParaRPr lang="en-IN"/>
          </a:p>
        </p:txBody>
      </p:sp>
      <p:graphicFrame>
        <p:nvGraphicFramePr>
          <p:cNvPr id="8" name="Table 7"/>
          <p:cNvGraphicFramePr/>
          <p:nvPr>
            <p:custDataLst>
              <p:tags r:id="rId1"/>
            </p:custDataLst>
          </p:nvPr>
        </p:nvGraphicFramePr>
        <p:xfrm>
          <a:off x="2098040" y="2610485"/>
          <a:ext cx="8813800" cy="3004820"/>
        </p:xfrm>
        <a:graphic>
          <a:graphicData uri="http://schemas.openxmlformats.org/drawingml/2006/table">
            <a:tbl>
              <a:tblPr firstRow="1" bandRow="1">
                <a:tableStyleId>{5C22544A-7EE6-4342-B048-85BDC9FD1C3A}</a:tableStyleId>
              </a:tblPr>
              <a:tblGrid>
                <a:gridCol w="4406900">
                  <a:extLst>
                    <a:ext uri="{9D8B030D-6E8A-4147-A177-3AD203B41FA5}">
                      <a16:colId xmlns:a16="http://schemas.microsoft.com/office/drawing/2014/main" val="20000"/>
                    </a:ext>
                  </a:extLst>
                </a:gridCol>
                <a:gridCol w="4406900">
                  <a:extLst>
                    <a:ext uri="{9D8B030D-6E8A-4147-A177-3AD203B41FA5}">
                      <a16:colId xmlns:a16="http://schemas.microsoft.com/office/drawing/2014/main" val="20001"/>
                    </a:ext>
                  </a:extLst>
                </a:gridCol>
              </a:tblGrid>
              <a:tr h="429260">
                <a:tc>
                  <a:txBody>
                    <a:bodyPr/>
                    <a:lstStyle/>
                    <a:p>
                      <a:pPr>
                        <a:buNone/>
                      </a:pPr>
                      <a:r>
                        <a:rPr lang="en-US"/>
                        <a:t>Parameter</a:t>
                      </a:r>
                    </a:p>
                  </a:txBody>
                  <a:tcPr/>
                </a:tc>
                <a:tc>
                  <a:txBody>
                    <a:bodyPr/>
                    <a:lstStyle/>
                    <a:p>
                      <a:pPr>
                        <a:buNone/>
                      </a:pPr>
                      <a:r>
                        <a:rPr lang="en-US"/>
                        <a:t>Value</a:t>
                      </a:r>
                    </a:p>
                  </a:txBody>
                  <a:tcPr/>
                </a:tc>
                <a:extLst>
                  <a:ext uri="{0D108BD9-81ED-4DB2-BD59-A6C34878D82A}">
                    <a16:rowId xmlns:a16="http://schemas.microsoft.com/office/drawing/2014/main" val="10000"/>
                  </a:ext>
                </a:extLst>
              </a:tr>
              <a:tr h="429260">
                <a:tc>
                  <a:txBody>
                    <a:bodyPr/>
                    <a:lstStyle/>
                    <a:p>
                      <a:pPr>
                        <a:buNone/>
                      </a:pPr>
                      <a:r>
                        <a:rPr lang="en-US" altLang="en-US"/>
                        <a:t>Image Size</a:t>
                      </a:r>
                    </a:p>
                  </a:txBody>
                  <a:tcPr/>
                </a:tc>
                <a:tc>
                  <a:txBody>
                    <a:bodyPr/>
                    <a:lstStyle/>
                    <a:p>
                      <a:pPr>
                        <a:buNone/>
                      </a:pPr>
                      <a:r>
                        <a:rPr lang="en-US" altLang="en-US"/>
                        <a:t>224x224</a:t>
                      </a:r>
                    </a:p>
                  </a:txBody>
                  <a:tcPr/>
                </a:tc>
                <a:extLst>
                  <a:ext uri="{0D108BD9-81ED-4DB2-BD59-A6C34878D82A}">
                    <a16:rowId xmlns:a16="http://schemas.microsoft.com/office/drawing/2014/main" val="10001"/>
                  </a:ext>
                </a:extLst>
              </a:tr>
              <a:tr h="429260">
                <a:tc>
                  <a:txBody>
                    <a:bodyPr/>
                    <a:lstStyle/>
                    <a:p>
                      <a:pPr>
                        <a:buNone/>
                      </a:pPr>
                      <a:r>
                        <a:rPr lang="en-US" altLang="en-US"/>
                        <a:t>Optimizer</a:t>
                      </a:r>
                    </a:p>
                  </a:txBody>
                  <a:tcPr/>
                </a:tc>
                <a:tc>
                  <a:txBody>
                    <a:bodyPr/>
                    <a:lstStyle/>
                    <a:p>
                      <a:pPr>
                        <a:buNone/>
                      </a:pPr>
                      <a:r>
                        <a:rPr lang="en-US"/>
                        <a:t>Adam</a:t>
                      </a:r>
                    </a:p>
                  </a:txBody>
                  <a:tcPr/>
                </a:tc>
                <a:extLst>
                  <a:ext uri="{0D108BD9-81ED-4DB2-BD59-A6C34878D82A}">
                    <a16:rowId xmlns:a16="http://schemas.microsoft.com/office/drawing/2014/main" val="10002"/>
                  </a:ext>
                </a:extLst>
              </a:tr>
              <a:tr h="429260">
                <a:tc>
                  <a:txBody>
                    <a:bodyPr/>
                    <a:lstStyle/>
                    <a:p>
                      <a:pPr>
                        <a:buNone/>
                      </a:pPr>
                      <a:r>
                        <a:rPr lang="en-US" altLang="en-US"/>
                        <a:t>Learning Rate</a:t>
                      </a:r>
                    </a:p>
                  </a:txBody>
                  <a:tcPr/>
                </a:tc>
                <a:tc>
                  <a:txBody>
                    <a:bodyPr/>
                    <a:lstStyle/>
                    <a:p>
                      <a:pPr>
                        <a:buNone/>
                      </a:pPr>
                      <a:r>
                        <a:rPr lang="en-US"/>
                        <a:t>0.001</a:t>
                      </a:r>
                    </a:p>
                  </a:txBody>
                  <a:tcPr/>
                </a:tc>
                <a:extLst>
                  <a:ext uri="{0D108BD9-81ED-4DB2-BD59-A6C34878D82A}">
                    <a16:rowId xmlns:a16="http://schemas.microsoft.com/office/drawing/2014/main" val="10003"/>
                  </a:ext>
                </a:extLst>
              </a:tr>
              <a:tr h="429260">
                <a:tc>
                  <a:txBody>
                    <a:bodyPr/>
                    <a:lstStyle/>
                    <a:p>
                      <a:pPr>
                        <a:buNone/>
                      </a:pPr>
                      <a:r>
                        <a:rPr lang="en-US" altLang="en-US"/>
                        <a:t>Loss Function</a:t>
                      </a:r>
                    </a:p>
                  </a:txBody>
                  <a:tcPr/>
                </a:tc>
                <a:tc>
                  <a:txBody>
                    <a:bodyPr/>
                    <a:lstStyle/>
                    <a:p>
                      <a:pPr>
                        <a:buNone/>
                      </a:pPr>
                      <a:r>
                        <a:rPr lang="en-US"/>
                        <a:t>Binary Cross-Entropy</a:t>
                      </a:r>
                    </a:p>
                  </a:txBody>
                  <a:tcPr/>
                </a:tc>
                <a:extLst>
                  <a:ext uri="{0D108BD9-81ED-4DB2-BD59-A6C34878D82A}">
                    <a16:rowId xmlns:a16="http://schemas.microsoft.com/office/drawing/2014/main" val="10004"/>
                  </a:ext>
                </a:extLst>
              </a:tr>
              <a:tr h="429260">
                <a:tc>
                  <a:txBody>
                    <a:bodyPr/>
                    <a:lstStyle/>
                    <a:p>
                      <a:pPr>
                        <a:buNone/>
                      </a:pPr>
                      <a:r>
                        <a:rPr lang="en-US" altLang="en-US"/>
                        <a:t>Batch Size</a:t>
                      </a:r>
                    </a:p>
                  </a:txBody>
                  <a:tcPr/>
                </a:tc>
                <a:tc>
                  <a:txBody>
                    <a:bodyPr/>
                    <a:lstStyle/>
                    <a:p>
                      <a:pPr>
                        <a:buNone/>
                      </a:pPr>
                      <a:r>
                        <a:rPr lang="en-US"/>
                        <a:t>32</a:t>
                      </a:r>
                    </a:p>
                  </a:txBody>
                  <a:tcPr/>
                </a:tc>
                <a:extLst>
                  <a:ext uri="{0D108BD9-81ED-4DB2-BD59-A6C34878D82A}">
                    <a16:rowId xmlns:a16="http://schemas.microsoft.com/office/drawing/2014/main" val="10005"/>
                  </a:ext>
                </a:extLst>
              </a:tr>
              <a:tr h="429260">
                <a:tc>
                  <a:txBody>
                    <a:bodyPr/>
                    <a:lstStyle/>
                    <a:p>
                      <a:pPr>
                        <a:buNone/>
                      </a:pPr>
                      <a:r>
                        <a:rPr lang="en-US" altLang="en-US"/>
                        <a:t>Epochs</a:t>
                      </a:r>
                    </a:p>
                  </a:txBody>
                  <a:tcPr/>
                </a:tc>
                <a:tc>
                  <a:txBody>
                    <a:bodyPr/>
                    <a:lstStyle/>
                    <a:p>
                      <a:pPr>
                        <a:buNone/>
                      </a:pPr>
                      <a:r>
                        <a:rPr lang="en-US"/>
                        <a:t>20(with early stopping)</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p:txBody>
          <a:bodyPr>
            <a:noAutofit/>
          </a:bodyPr>
          <a:lstStyle/>
          <a:p>
            <a:pPr marL="0" indent="0">
              <a:buNone/>
            </a:pPr>
            <a:r>
              <a:rPr lang="en-US" altLang="en-US" sz="2400" dirty="0">
                <a:latin typeface="Times New Roman" panose="02020603050405020304" pitchFamily="18" charset="0"/>
                <a:cs typeface="Times New Roman" panose="02020603050405020304" pitchFamily="18" charset="0"/>
              </a:rPr>
              <a:t>6.Results Summary:</a:t>
            </a:r>
          </a:p>
          <a:p>
            <a:r>
              <a:rPr lang="en-US" altLang="en-US" sz="2400" dirty="0">
                <a:latin typeface="Times New Roman" panose="02020603050405020304" pitchFamily="18" charset="0"/>
                <a:cs typeface="Times New Roman" panose="02020603050405020304" pitchFamily="18" charset="0"/>
              </a:rPr>
              <a:t>The Efficienetv2model achieved:</a:t>
            </a:r>
          </a:p>
          <a:p>
            <a:r>
              <a:rPr lang="en-US" altLang="en-US" sz="2400" dirty="0">
                <a:latin typeface="Times New Roman" panose="02020603050405020304" pitchFamily="18" charset="0"/>
                <a:cs typeface="Times New Roman" panose="02020603050405020304" pitchFamily="18" charset="0"/>
              </a:rPr>
              <a:t>Training Accuracy: 96.5%.</a:t>
            </a:r>
          </a:p>
          <a:p>
            <a:r>
              <a:rPr lang="en-US" altLang="en-US" sz="2400" dirty="0">
                <a:latin typeface="Times New Roman" panose="02020603050405020304" pitchFamily="18" charset="0"/>
                <a:cs typeface="Times New Roman" panose="02020603050405020304" pitchFamily="18" charset="0"/>
              </a:rPr>
              <a:t>Validation Accuracy: 95%.</a:t>
            </a:r>
          </a:p>
          <a:p>
            <a:r>
              <a:rPr lang="en-US" altLang="en-US" sz="2400" dirty="0">
                <a:latin typeface="Times New Roman" panose="02020603050405020304" pitchFamily="18" charset="0"/>
                <a:cs typeface="Times New Roman" panose="02020603050405020304" pitchFamily="18" charset="0"/>
              </a:rPr>
              <a:t>Superior performance compared to ResNet50 and DenseNet121.</a:t>
            </a:r>
            <a:endParaRPr lang="en-US" altLang="en-US" sz="1900" dirty="0">
              <a:latin typeface="Times New Roman" panose="02020603050405020304" pitchFamily="18" charset="0"/>
              <a:cs typeface="Times New Roman" panose="02020603050405020304" pitchFamily="18" charset="0"/>
            </a:endParaRPr>
          </a:p>
          <a:p>
            <a:endParaRPr lang="en-US" altLang="en-US" sz="13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IMPLEMENTATION</a:t>
            </a:r>
          </a:p>
        </p:txBody>
      </p:sp>
      <p:sp>
        <p:nvSpPr>
          <p:cNvPr id="9" name="Content Placeholder 8"/>
          <p:cNvSpPr>
            <a:spLocks noGrp="1"/>
          </p:cNvSpPr>
          <p:nvPr>
            <p:ph idx="1"/>
          </p:nvPr>
        </p:nvSpPr>
        <p:spPr/>
        <p:txBody>
          <a:bodyPr>
            <a:normAutofit/>
          </a:bodyPr>
          <a:lstStyle/>
          <a:p>
            <a:r>
              <a:rPr lang="en-US" altLang="en-US" sz="2400">
                <a:latin typeface="Times New Roman" panose="02020603050405020304" pitchFamily="18" charset="0"/>
                <a:cs typeface="Times New Roman" panose="02020603050405020304" pitchFamily="18" charset="0"/>
              </a:rPr>
              <a:t>Software Specifications</a:t>
            </a:r>
          </a:p>
          <a:p>
            <a:r>
              <a:rPr lang="en-US" altLang="en-US" sz="2400">
                <a:latin typeface="Times New Roman" panose="02020603050405020304" pitchFamily="18" charset="0"/>
                <a:cs typeface="Times New Roman" panose="02020603050405020304" pitchFamily="18" charset="0"/>
              </a:rPr>
              <a:t>Programming Environment: Google Colab Pro with T4 GPU.</a:t>
            </a:r>
          </a:p>
          <a:p>
            <a:r>
              <a:rPr lang="en-US" altLang="en-US" sz="2400">
                <a:latin typeface="Times New Roman" panose="02020603050405020304" pitchFamily="18" charset="0"/>
                <a:cs typeface="Times New Roman" panose="02020603050405020304" pitchFamily="18" charset="0"/>
              </a:rPr>
              <a:t>Programming Languages: Python 3.x.</a:t>
            </a:r>
          </a:p>
          <a:p>
            <a:r>
              <a:rPr lang="en-US" altLang="en-US" sz="2400">
                <a:latin typeface="Times New Roman" panose="02020603050405020304" pitchFamily="18" charset="0"/>
                <a:cs typeface="Times New Roman" panose="02020603050405020304" pitchFamily="18" charset="0"/>
              </a:rPr>
              <a:t>Libraries/Frameworks:</a:t>
            </a:r>
          </a:p>
          <a:p>
            <a:r>
              <a:rPr lang="en-US" altLang="en-US" sz="2400">
                <a:latin typeface="Times New Roman" panose="02020603050405020304" pitchFamily="18" charset="0"/>
                <a:cs typeface="Times New Roman" panose="02020603050405020304" pitchFamily="18" charset="0"/>
              </a:rPr>
              <a:t>TensorFlow, Keras (Model Development).</a:t>
            </a:r>
          </a:p>
          <a:p>
            <a:r>
              <a:rPr lang="en-US" altLang="en-US" sz="2400">
                <a:latin typeface="Times New Roman" panose="02020603050405020304" pitchFamily="18" charset="0"/>
                <a:cs typeface="Times New Roman" panose="02020603050405020304" pitchFamily="18" charset="0"/>
              </a:rPr>
              <a:t>OpenCV, PIL (Image Preprocessing).</a:t>
            </a:r>
          </a:p>
          <a:p>
            <a:r>
              <a:rPr lang="en-US" altLang="en-US" sz="2400">
                <a:latin typeface="Times New Roman" panose="02020603050405020304" pitchFamily="18" charset="0"/>
                <a:cs typeface="Times New Roman" panose="02020603050405020304" pitchFamily="18" charset="0"/>
              </a:rPr>
              <a:t>Matplotlib, Seaborn (Visualization).</a:t>
            </a:r>
          </a:p>
          <a:p>
            <a:r>
              <a:rPr lang="en-US" altLang="en-US" sz="2400">
                <a:latin typeface="Times New Roman" panose="02020603050405020304" pitchFamily="18" charset="0"/>
                <a:cs typeface="Times New Roman" panose="02020603050405020304" pitchFamily="18" charset="0"/>
              </a:rPr>
              <a:t>Dataset: CASIA2 (Authentic and Tampered Images).</a:t>
            </a:r>
          </a:p>
          <a:p>
            <a:pPr marL="0" indent="0">
              <a:buNone/>
            </a:pPr>
            <a:endParaRPr lang="en-US" altLang="en-US"/>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DE2B2372-D1F2-4A4D-8D2F-C41CCD86F877}"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19</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atin typeface="Times New Roman" panose="02020603050405020304" pitchFamily="18" charset="0"/>
                <a:cs typeface="Times New Roman" panose="02020603050405020304" pitchFamily="18" charset="0"/>
              </a:rPr>
              <a:t>IMPLEMENTATION</a:t>
            </a:r>
          </a:p>
        </p:txBody>
      </p:sp>
      <p:sp>
        <p:nvSpPr>
          <p:cNvPr id="3" name="Content Placeholder 2"/>
          <p:cNvSpPr>
            <a:spLocks noGrp="1"/>
          </p:cNvSpPr>
          <p:nvPr>
            <p:ph idx="1"/>
          </p:nvPr>
        </p:nvSpPr>
        <p:spPr/>
        <p:txBody>
          <a:bodyPr/>
          <a:lstStyle/>
          <a:p>
            <a:r>
              <a:rPr lang="en-US" altLang="en-US" sz="2400" dirty="0">
                <a:latin typeface="Times New Roman" panose="02020603050405020304" pitchFamily="18" charset="0"/>
                <a:cs typeface="Times New Roman" panose="02020603050405020304" pitchFamily="18" charset="0"/>
              </a:rPr>
              <a:t>Hardware Specifications</a:t>
            </a:r>
          </a:p>
          <a:p>
            <a:r>
              <a:rPr lang="en-US" altLang="en-US" sz="2400" dirty="0">
                <a:latin typeface="Times New Roman" panose="02020603050405020304" pitchFamily="18" charset="0"/>
                <a:cs typeface="Times New Roman" panose="02020603050405020304" pitchFamily="18" charset="0"/>
              </a:rPr>
              <a:t>Google </a:t>
            </a:r>
            <a:r>
              <a:rPr lang="en-US" altLang="en-US" sz="2400" dirty="0" err="1">
                <a:latin typeface="Times New Roman" panose="02020603050405020304" pitchFamily="18" charset="0"/>
                <a:cs typeface="Times New Roman" panose="02020603050405020304" pitchFamily="18" charset="0"/>
              </a:rPr>
              <a:t>Colab</a:t>
            </a:r>
            <a:r>
              <a:rPr lang="en-US" altLang="en-US" sz="2400" dirty="0">
                <a:latin typeface="Times New Roman" panose="02020603050405020304" pitchFamily="18" charset="0"/>
                <a:cs typeface="Times New Roman" panose="02020603050405020304" pitchFamily="18" charset="0"/>
              </a:rPr>
              <a:t> Pro (T4 GPU for faster training).</a:t>
            </a:r>
          </a:p>
          <a:p>
            <a:r>
              <a:rPr lang="en-US" altLang="en-US" sz="2400" dirty="0">
                <a:latin typeface="Times New Roman" panose="02020603050405020304" pitchFamily="18" charset="0"/>
                <a:cs typeface="Times New Roman" panose="02020603050405020304" pitchFamily="18" charset="0"/>
              </a:rPr>
              <a:t>Local </a:t>
            </a:r>
            <a:r>
              <a:rPr lang="en-US" altLang="en-US" sz="2400" dirty="0" err="1">
                <a:latin typeface="Times New Roman" panose="02020603050405020304" pitchFamily="18" charset="0"/>
                <a:cs typeface="Times New Roman" panose="02020603050405020304" pitchFamily="18" charset="0"/>
              </a:rPr>
              <a:t>System:Intel</a:t>
            </a:r>
            <a:r>
              <a:rPr lang="en-US" altLang="en-US" sz="2400" dirty="0">
                <a:latin typeface="Times New Roman" panose="02020603050405020304" pitchFamily="18" charset="0"/>
                <a:cs typeface="Times New Roman" panose="02020603050405020304" pitchFamily="18" charset="0"/>
              </a:rPr>
              <a:t> Core i7, 16GB RAM, 500GB SSD.</a:t>
            </a:r>
          </a:p>
          <a:p>
            <a:r>
              <a:rPr lang="en-US" altLang="en-US" sz="2400" dirty="0">
                <a:latin typeface="Times New Roman" panose="02020603050405020304" pitchFamily="18" charset="0"/>
                <a:cs typeface="Times New Roman" panose="02020603050405020304" pitchFamily="18" charset="0"/>
              </a:rPr>
              <a:t>Challenges and Solutions:</a:t>
            </a:r>
          </a:p>
          <a:p>
            <a:endParaRPr lang="en-US" alt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20</a:t>
            </a:fld>
            <a:endParaRPr lang="en-IN"/>
          </a:p>
        </p:txBody>
      </p:sp>
      <p:graphicFrame>
        <p:nvGraphicFramePr>
          <p:cNvPr id="7" name="Table 6"/>
          <p:cNvGraphicFramePr/>
          <p:nvPr>
            <p:custDataLst>
              <p:tags r:id="rId1"/>
            </p:custDataLst>
          </p:nvPr>
        </p:nvGraphicFramePr>
        <p:xfrm>
          <a:off x="1270000" y="3674110"/>
          <a:ext cx="9091930" cy="2604770"/>
        </p:xfrm>
        <a:graphic>
          <a:graphicData uri="http://schemas.openxmlformats.org/drawingml/2006/table">
            <a:tbl>
              <a:tblPr firstRow="1" bandRow="1">
                <a:tableStyleId>{5C22544A-7EE6-4342-B048-85BDC9FD1C3A}</a:tableStyleId>
              </a:tblPr>
              <a:tblGrid>
                <a:gridCol w="4545965">
                  <a:extLst>
                    <a:ext uri="{9D8B030D-6E8A-4147-A177-3AD203B41FA5}">
                      <a16:colId xmlns:a16="http://schemas.microsoft.com/office/drawing/2014/main" val="20000"/>
                    </a:ext>
                  </a:extLst>
                </a:gridCol>
                <a:gridCol w="4545965">
                  <a:extLst>
                    <a:ext uri="{9D8B030D-6E8A-4147-A177-3AD203B41FA5}">
                      <a16:colId xmlns:a16="http://schemas.microsoft.com/office/drawing/2014/main" val="20001"/>
                    </a:ext>
                  </a:extLst>
                </a:gridCol>
              </a:tblGrid>
              <a:tr h="416560">
                <a:tc>
                  <a:txBody>
                    <a:bodyPr/>
                    <a:lstStyle/>
                    <a:p>
                      <a:pPr>
                        <a:buNone/>
                      </a:pPr>
                      <a:r>
                        <a:rPr lang="en-US"/>
                        <a:t>Challenge</a:t>
                      </a:r>
                    </a:p>
                  </a:txBody>
                  <a:tcPr/>
                </a:tc>
                <a:tc>
                  <a:txBody>
                    <a:bodyPr/>
                    <a:lstStyle/>
                    <a:p>
                      <a:pPr>
                        <a:buNone/>
                      </a:pPr>
                      <a:r>
                        <a:rPr lang="en-US"/>
                        <a:t>Solution</a:t>
                      </a:r>
                    </a:p>
                  </a:txBody>
                  <a:tcPr/>
                </a:tc>
                <a:extLst>
                  <a:ext uri="{0D108BD9-81ED-4DB2-BD59-A6C34878D82A}">
                    <a16:rowId xmlns:a16="http://schemas.microsoft.com/office/drawing/2014/main" val="10000"/>
                  </a:ext>
                </a:extLst>
              </a:tr>
              <a:tr h="416560">
                <a:tc>
                  <a:txBody>
                    <a:bodyPr/>
                    <a:lstStyle/>
                    <a:p>
                      <a:pPr>
                        <a:buNone/>
                      </a:pPr>
                      <a:r>
                        <a:rPr lang="en-US" altLang="en-US"/>
                        <a:t>Slow Training on CPU</a:t>
                      </a:r>
                    </a:p>
                  </a:txBody>
                  <a:tcPr/>
                </a:tc>
                <a:tc>
                  <a:txBody>
                    <a:bodyPr/>
                    <a:lstStyle/>
                    <a:p>
                      <a:pPr>
                        <a:buNone/>
                      </a:pPr>
                      <a:r>
                        <a:rPr lang="en-US" altLang="en-US"/>
                        <a:t>Upgraded to Google Colab Pro with T4 GPU.</a:t>
                      </a:r>
                    </a:p>
                  </a:txBody>
                  <a:tcPr/>
                </a:tc>
                <a:extLst>
                  <a:ext uri="{0D108BD9-81ED-4DB2-BD59-A6C34878D82A}">
                    <a16:rowId xmlns:a16="http://schemas.microsoft.com/office/drawing/2014/main" val="10001"/>
                  </a:ext>
                </a:extLst>
              </a:tr>
              <a:tr h="416560">
                <a:tc>
                  <a:txBody>
                    <a:bodyPr/>
                    <a:lstStyle/>
                    <a:p>
                      <a:pPr>
                        <a:buNone/>
                      </a:pPr>
                      <a:r>
                        <a:rPr lang="en-US" altLang="en-US"/>
                        <a:t>Overfitting</a:t>
                      </a:r>
                    </a:p>
                  </a:txBody>
                  <a:tcPr/>
                </a:tc>
                <a:tc>
                  <a:txBody>
                    <a:bodyPr/>
                    <a:lstStyle/>
                    <a:p>
                      <a:pPr>
                        <a:buNone/>
                      </a:pPr>
                      <a:r>
                        <a:rPr lang="en-US" altLang="en-US"/>
                        <a:t>Data augmentation, and early stopping.</a:t>
                      </a:r>
                    </a:p>
                  </a:txBody>
                  <a:tcPr/>
                </a:tc>
                <a:extLst>
                  <a:ext uri="{0D108BD9-81ED-4DB2-BD59-A6C34878D82A}">
                    <a16:rowId xmlns:a16="http://schemas.microsoft.com/office/drawing/2014/main" val="10002"/>
                  </a:ext>
                </a:extLst>
              </a:tr>
              <a:tr h="677545">
                <a:tc>
                  <a:txBody>
                    <a:bodyPr/>
                    <a:lstStyle/>
                    <a:p>
                      <a:pPr>
                        <a:buNone/>
                      </a:pPr>
                      <a:r>
                        <a:rPr lang="en-US" altLang="en-US"/>
                        <a:t>Data Imbalance</a:t>
                      </a:r>
                    </a:p>
                  </a:txBody>
                  <a:tcPr/>
                </a:tc>
                <a:tc>
                  <a:txBody>
                    <a:bodyPr/>
                    <a:lstStyle/>
                    <a:p>
                      <a:pPr>
                        <a:buNone/>
                      </a:pPr>
                      <a:r>
                        <a:rPr lang="en-US" altLang="en-US"/>
                        <a:t>Balanced dataset using augmentation techniques</a:t>
                      </a:r>
                    </a:p>
                  </a:txBody>
                  <a:tcPr/>
                </a:tc>
                <a:extLst>
                  <a:ext uri="{0D108BD9-81ED-4DB2-BD59-A6C34878D82A}">
                    <a16:rowId xmlns:a16="http://schemas.microsoft.com/office/drawing/2014/main" val="10003"/>
                  </a:ext>
                </a:extLst>
              </a:tr>
              <a:tr h="677545">
                <a:tc>
                  <a:txBody>
                    <a:bodyPr/>
                    <a:lstStyle/>
                    <a:p>
                      <a:pPr>
                        <a:buNone/>
                      </a:pPr>
                      <a:r>
                        <a:rPr lang="en-US" altLang="en-US"/>
                        <a:t>Complex Transfer Learning</a:t>
                      </a:r>
                    </a:p>
                  </a:txBody>
                  <a:tcPr/>
                </a:tc>
                <a:tc>
                  <a:txBody>
                    <a:bodyPr/>
                    <a:lstStyle/>
                    <a:p>
                      <a:pPr>
                        <a:buNone/>
                      </a:pPr>
                      <a:r>
                        <a:rPr lang="en-US" altLang="en-US"/>
                        <a:t>Fine-tuned pre-trained models and adjusted hyperparameters.</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IMPLEMENTATION</a:t>
            </a:r>
          </a:p>
        </p:txBody>
      </p:sp>
      <p:sp>
        <p:nvSpPr>
          <p:cNvPr id="3" name="Content Placeholder 2"/>
          <p:cNvSpPr>
            <a:spLocks noGrp="1"/>
          </p:cNvSpPr>
          <p:nvPr>
            <p:ph idx="1"/>
          </p:nvPr>
        </p:nvSpPr>
        <p:spPr/>
        <p:txBody>
          <a:bodyPr>
            <a:noAutofit/>
          </a:bodyPr>
          <a:lstStyle/>
          <a:p>
            <a:pPr marL="0" indent="0">
              <a:buNone/>
            </a:pPr>
            <a:r>
              <a:rPr lang="en-US" altLang="en-US" sz="1700" dirty="0">
                <a:latin typeface="Times New Roman" panose="02020603050405020304" pitchFamily="18" charset="0"/>
                <a:cs typeface="Times New Roman" panose="02020603050405020304" pitchFamily="18" charset="0"/>
              </a:rPr>
              <a:t>Implementation Process</a:t>
            </a:r>
          </a:p>
          <a:p>
            <a:r>
              <a:rPr lang="en-US" altLang="en-US" sz="1700" dirty="0">
                <a:latin typeface="Times New Roman" panose="02020603050405020304" pitchFamily="18" charset="0"/>
                <a:cs typeface="Times New Roman" panose="02020603050405020304" pitchFamily="18" charset="0"/>
              </a:rPr>
              <a:t>Data Preparation: Preprocessing with ELA, resizing, and augmentation.</a:t>
            </a:r>
          </a:p>
          <a:p>
            <a:r>
              <a:rPr lang="en-US" altLang="en-US" sz="1700" dirty="0">
                <a:latin typeface="Times New Roman" panose="02020603050405020304" pitchFamily="18" charset="0"/>
                <a:cs typeface="Times New Roman" panose="02020603050405020304" pitchFamily="18" charset="0"/>
              </a:rPr>
              <a:t>Model Development:</a:t>
            </a:r>
          </a:p>
          <a:p>
            <a:r>
              <a:rPr lang="en-US" altLang="en-US" sz="1700" dirty="0">
                <a:latin typeface="Times New Roman" panose="02020603050405020304" pitchFamily="18" charset="0"/>
                <a:cs typeface="Times New Roman" panose="02020603050405020304" pitchFamily="18" charset="0"/>
              </a:rPr>
              <a:t>Base Model: EfficienetNetV2 </a:t>
            </a:r>
          </a:p>
          <a:p>
            <a:r>
              <a:rPr lang="en-US" altLang="en-US" sz="1700" dirty="0">
                <a:latin typeface="Times New Roman" panose="02020603050405020304" pitchFamily="18" charset="0"/>
                <a:cs typeface="Times New Roman" panose="02020603050405020304" pitchFamily="18" charset="0"/>
              </a:rPr>
              <a:t>Optimizer: Adam (Learning Rate: 0.001).</a:t>
            </a:r>
          </a:p>
          <a:p>
            <a:r>
              <a:rPr lang="en-US" altLang="en-US" sz="1700" dirty="0">
                <a:latin typeface="Times New Roman" panose="02020603050405020304" pitchFamily="18" charset="0"/>
                <a:cs typeface="Times New Roman" panose="02020603050405020304" pitchFamily="18" charset="0"/>
              </a:rPr>
              <a:t>Loss Function: Binary Cross-Entropy.</a:t>
            </a:r>
          </a:p>
          <a:p>
            <a:r>
              <a:rPr lang="en-US" altLang="en-US" sz="1700" dirty="0">
                <a:latin typeface="Times New Roman" panose="02020603050405020304" pitchFamily="18" charset="0"/>
                <a:cs typeface="Times New Roman" panose="02020603050405020304" pitchFamily="18" charset="0"/>
              </a:rPr>
              <a:t>Training:</a:t>
            </a:r>
          </a:p>
          <a:p>
            <a:r>
              <a:rPr lang="en-US" altLang="en-US" sz="1700" dirty="0">
                <a:latin typeface="Times New Roman" panose="02020603050405020304" pitchFamily="18" charset="0"/>
                <a:cs typeface="Times New Roman" panose="02020603050405020304" pitchFamily="18" charset="0"/>
              </a:rPr>
              <a:t>Early stopping after 5 epochs of no improvement.</a:t>
            </a:r>
          </a:p>
          <a:p>
            <a:r>
              <a:rPr lang="en-US" altLang="en-US" sz="1700" dirty="0">
                <a:latin typeface="Times New Roman" panose="02020603050405020304" pitchFamily="18" charset="0"/>
                <a:cs typeface="Times New Roman" panose="02020603050405020304" pitchFamily="18" charset="0"/>
              </a:rPr>
              <a:t>Monitored accuracy/loss graphs for </a:t>
            </a:r>
            <a:r>
              <a:rPr lang="en-US" altLang="en-US" sz="1700" dirty="0" err="1">
                <a:latin typeface="Times New Roman" panose="02020603050405020304" pitchFamily="18" charset="0"/>
                <a:cs typeface="Times New Roman" panose="02020603050405020304" pitchFamily="18" charset="0"/>
              </a:rPr>
              <a:t>overfitting</a:t>
            </a:r>
            <a:r>
              <a:rPr lang="en-US" altLang="en-US" sz="1700" dirty="0">
                <a:latin typeface="Times New Roman" panose="02020603050405020304" pitchFamily="18" charset="0"/>
                <a:cs typeface="Times New Roman" panose="02020603050405020304" pitchFamily="18" charset="0"/>
              </a:rPr>
              <a:t>.</a:t>
            </a:r>
          </a:p>
          <a:p>
            <a:r>
              <a:rPr lang="en-US" altLang="en-US" sz="1700" dirty="0">
                <a:latin typeface="Times New Roman" panose="02020603050405020304" pitchFamily="18" charset="0"/>
                <a:cs typeface="Times New Roman" panose="02020603050405020304" pitchFamily="18" charset="0"/>
              </a:rPr>
              <a:t>Evaluation:</a:t>
            </a:r>
          </a:p>
          <a:p>
            <a:r>
              <a:rPr lang="en-US" altLang="en-US" sz="1700" dirty="0">
                <a:latin typeface="Times New Roman" panose="02020603050405020304" pitchFamily="18" charset="0"/>
                <a:cs typeface="Times New Roman" panose="02020603050405020304" pitchFamily="18" charset="0"/>
              </a:rPr>
              <a:t>Metrics: Precision, Recall, F1 Score, Accuracy.</a:t>
            </a:r>
          </a:p>
          <a:p>
            <a:r>
              <a:rPr lang="en-US" altLang="en-US" sz="1700" dirty="0">
                <a:latin typeface="Times New Roman" panose="02020603050405020304" pitchFamily="18" charset="0"/>
                <a:cs typeface="Times New Roman" panose="02020603050405020304" pitchFamily="18" charset="0"/>
              </a:rPr>
              <a:t>Compared with MobileNet, ResNet50 and </a:t>
            </a:r>
            <a:r>
              <a:rPr lang="en-US" altLang="en-US" sz="1700" dirty="0" err="1">
                <a:latin typeface="Times New Roman" panose="02020603050405020304" pitchFamily="18" charset="0"/>
                <a:cs typeface="Times New Roman" panose="02020603050405020304" pitchFamily="18" charset="0"/>
              </a:rPr>
              <a:t>DenseNet</a:t>
            </a:r>
            <a:r>
              <a:rPr lang="en-US" altLang="en-US" sz="1700" dirty="0">
                <a:latin typeface="Times New Roman" panose="02020603050405020304" pitchFamily="18" charset="0"/>
                <a:cs typeface="Times New Roman" panose="02020603050405020304" pitchFamily="18" charset="0"/>
              </a:rPr>
              <a:t> for validation.</a:t>
            </a:r>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21</a:t>
            </a:fld>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 &amp; ANALYSIS</a:t>
            </a:r>
          </a:p>
        </p:txBody>
      </p:sp>
      <p:sp>
        <p:nvSpPr>
          <p:cNvPr id="9" name="Content Placeholder 8"/>
          <p:cNvSpPr>
            <a:spLocks noGrp="1"/>
          </p:cNvSpPr>
          <p:nvPr>
            <p:ph idx="1"/>
          </p:nvPr>
        </p:nvSpPr>
        <p:spPr>
          <a:xfrm>
            <a:off x="546100" y="1699260"/>
            <a:ext cx="10807700" cy="4656455"/>
          </a:xfrm>
        </p:spPr>
        <p:txBody>
          <a:bodyPr>
            <a:normAutofit fontScale="85000" lnSpcReduction="20000"/>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Training and Validation Accuracy and Loss for EfficientNetV2 model</a:t>
            </a:r>
            <a:endParaRPr lang="en-US" sz="2335"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2D747F6C-F631-438D-89AF-4F47076E0A81}"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22</a:t>
            </a:fld>
            <a:endParaRPr lang="en-US">
              <a:latin typeface="Times New Roman" panose="02020603050405020304" pitchFamily="18" charset="0"/>
              <a:cs typeface="Times New Roman" panose="02020603050405020304" pitchFamily="18" charset="0"/>
            </a:endParaRPr>
          </a:p>
        </p:txBody>
      </p:sp>
      <p:sp>
        <p:nvSpPr>
          <p:cNvPr id="10" name="Text Box 9"/>
          <p:cNvSpPr txBox="1"/>
          <p:nvPr/>
        </p:nvSpPr>
        <p:spPr>
          <a:xfrm>
            <a:off x="2644140" y="5420360"/>
            <a:ext cx="4064000" cy="368300"/>
          </a:xfrm>
          <a:prstGeom prst="rect">
            <a:avLst/>
          </a:prstGeom>
          <a:noFill/>
        </p:spPr>
        <p:txBody>
          <a:bodyPr wrap="square" rtlCol="0">
            <a:spAutoFit/>
          </a:bodyPr>
          <a:lstStyle/>
          <a:p>
            <a:endParaRPr lang="en-US"/>
          </a:p>
        </p:txBody>
      </p:sp>
      <p:sp>
        <p:nvSpPr>
          <p:cNvPr id="3" name="AutoShape 2" descr="data:image/png;base64,iVBORw0KGgoAAAANSUhEUgAAAsQAAAHWCAYAAABwo5+OAAAAOnRFWHRTb2Z0d2FyZQBNYXRwbG90bGliIHZlcnNpb24zLjEwLjAsIGh0dHBzOi8vbWF0cGxvdGxpYi5vcmcvlHJYcgAAAAlwSFlzAAAPYQAAD2EBqD+naQAAlPFJREFUeJzs3XdYU9f/B/B3EiBho2wQQXBvRcU9WhVFqautYlVcqK3YKvXnqNu22m9bR4fWDker0qpVsdaJuLdVcS9ARVEQUPYKyf39EYnEMBUIkvfrefJIzj333nPvCfDxcO7niARBEEBEREREpKfEum4AEREREZEuMSAmIiIiIr3GgJiIiIiI9BoDYiIiIiLSawyIiYiIiEivMSAmIiIiIr3GgJiIiIiI9BoDYiIiIiLSawyIiYiIiEivMSAmKiMjR46Em5vbK+07f/58iESism1QJXPv3j2IRCKsW7euws8tEokwf/589ft169ZBJBLh3r17xe7r5uaGkSNHlml7XuezQpXDgwcPIJPJcOLEiVfa/86dO+jZsycsLS0hEokQEhICADh37hzat28PU1NTiEQihIeHv/LPh65du6Jr166v1D7SNGTIELz//vu6bgaVIwbEVOWJRKISvQ4fPqzrpuq9jz/+GCKRCBEREYXWmTVrFkQiES5fvlyBLSu9R48eYf78+QgPD9d1Uwp048YNiEQiyGQyJCUl6bo5b5yFCxfCy8sLHTp0UJeNHDmy0J8vMplMY39/f39cuXIFX375JdavX49WrVpBLpfjvffew9OnT7Fs2TKsX78erq6uFX1ppXLy5EnMnz+/wM+Qm5sbRCIRJk2apLXt8OHDEIlE+Pvvv0t9zoK+t+RyOWxsbNCxY8dC9xMEAS4uLmjZsiUA4ObNm5g2bRqaN28Oc3NzODo6ok+fPvjvv/+09p0+fTq2bt2KS5culbq99IYQiKq49evXa7x69OghANAqj42Nfa3z5OTkCFlZWa+0r1wuFzIzM1/r/JXd3bt3BQDC2rVrC61z+vRpAYCwYMGCQuvUqlVLaNKkSanODUCYN2+e+n1ubq6QmZkpKJXKYvd1dXUV/P39S3U+QRCEc+fOFXq9r/NZKSufffaZ4ODgIEilUuHXX3/VaVveNE+ePBEMDQ2F4OBgjXJ/f39BKpVq/WxZv369Rt2MjAwBgDBr1iyN/W/cuCEA0OqPV/35kJ2dLWRnZ5d6v9L45ptvBADC3bt3tba5uroKAASpVCrExMRobDt06JAAQNiyZUupz1nY99aECRMEkUgk3Lt3r8D9Dh8+LAAQlixZIgiCIHz66aeClZWVMGbMGOHnn38Wvv76a8HDw0OQSCRCaGio1v5t2rQRhg8fXur20pvBQDdhOFHFGTZsmMb706dPIzQ0VKv8ZRkZGTAxMSnxeQwNDV+pfQBgYGAAAwN+O3p5eaF27dr4888/MXfuXK3tp06dwt27d/HVV1+91nkkEgkkEslrHeN1vM5npSwIgoDg4GAMHToUd+/excaNGzF27Fidtqkw6enpMDU11XUzNGzYsAEGBgbw9fXV2mZgYFDsz5b4+HgAgJWVlUb5kydPCix/1Z8PRkZGpd6nrDVq1Ai3bt3CV199he+//75cz/XBBx9g1apV+PPPPzFjxgyt7cHBwRCLxRgyZAgAwM/PD/Pnz4eZmZm6zujRo9GgQQPMnz8f3bt319j//fffx7x587By5UqNfahq4JQJIqjm2jVu3Bjnz59H586dYWJigs8++wwAsGPHDvTp0wdOTk6QSqXw8PDA559/DoVCoXGMl+eF5s2Z/fbbb/HLL7/Aw8MDUqkUrVu3xrlz5zT2LWiOoEgkQmBgIEJCQtC4cWNIpVI0atQIe/fu1Wr/4cOH0apVK8hkMnh4eODnn38u8bzDY8eO4b333kPNmjUhlUrh4uKCKVOmIDMzU+v6zMzMEBMTg/79+8PMzAy2traYOnWq1r1ISkrCyJEjYWlpCSsrK/j7+5f4z/IffPABbt68iQsXLmhtCw4Ohkgkgp+fH3JycjB37lx4enrC0tISpqam6NSpEw4dOlTsOQqaQywIAr744gvUqFEDJiYm6NatG65du6a179OnTzF16lQ0adIEZmZmsLCwQO/evTX+lHr48GG0bt0aADBq1Cj1n83z5k8XNIc4PT0dn376KVxcXCCVSlGvXj18++23EARBo15pPheFOXHiBO7du4chQ4ZgyJAhOHr0KB4+fKhVT6lU4rvvvkOTJk0gk8lga2uLXr16af1JecOGDWjTpg1MTExQrVo1dO7cGfv379doc/453Hlenp+d1y9HjhzBRx99BDs7O9SoUQMAcP/+fXz00UeoV68ejI2NYW1tjffee6/AeeBJSUmYMmUK3NzcIJVKUaNGDYwYMQIJCQlIS0uDqakpPvnkE639Hj58CIlEgsWLFxd5/0JCQuDl5fVKQdH8+fPV0yD+7//+DyKRSH0funTpAgB47733IBKJ1PN/C/teLu6+FzSHODs7G/PmzUPt2rXV3+/Tpk1Ddna2Rr2SfM7mz5+P//u//wMA1KpVS/05z98nbm5uGDFiBH799Vc8evSo2PsTExOD0aNHw97eXn3ONWvWqLcX9b3VoUMHuLm5ITg4WOu4crkcf//9N7p16wYnJycAgKenp1YfWltbo1OnTrhx44bWMXr06IH09HSEhoYWex305uGQFNFziYmJ6N27N4YMGYJhw4bB3t4egOqXtJmZGYKCgmBmZoaDBw9i7ty5SElJwTfffFPscYODg5Gamorx48dDJBLh66+/xsCBAxEVFVXsSOHx48exbds2fPTRRzA3N8f333+PQYMGITo6GtbW1gCAixcvolevXnB0dMSCBQugUCiwcOFC2Nralui6t2zZgoyMDHz44YewtrbG2bNn8cMPP+Dhw4fYsmWLRl2FQgFvb294eXnh22+/xYEDB7BkyRJ4eHjgww8/BKAKLPv164fjx49jwoQJaNCgAbZv3w5/f/8SteeDDz7AggULEBwcrJ7rl3fuzZs3o1OnTqhZsyYSEhLw22+/wc/PDwEBAUhNTcXq1avh7e2Ns2fPonnz5iU6X565c+fiiy++gI+PD3x8fHDhwgX07NkTOTk5GvWioqIQEhKC9957D7Vq1UJcXBx+/vlndOnSBdevX4eTkxMaNGiAhQsXYu7cuRg3bhw6deoEAGjfvn2B5xYEAe+88w4OHTqEMWPGoHnz5ti3bx/+7//+DzExMVi2bJlG/ZJ8LoqyceNGeHh4oHXr1mjcuDFMTEzw559/qoObPGPGjMG6devQu3dvjB07Frm5uTh27BhOnz6NVq1aAQAWLFiA+fPno3379li4cCGMjIxw5swZHDx4ED179izx/c/vo48+gq2tLebOnYv09HQAqofNTp48iSFDhqBGjRq4d+8efvrpJ3Tt2hXXr19X/zUnLS1NHdCMHj0aLVu2REJCAv755x88fPgQzZs3x4ABA7Bp0yYsXbpU4y8Ff/75JwRBwAcffFBo2+RyOc6dO6f+vBckISFBq8zIyAgWFhYYOHAgrKysMGXKFPj5+cHHxwdmZmawt7eHs7MzFi1ahI8//hitW7dW/wwqyKvcd6VSiXfeeQfHjx/HuHHj0KBBA1y5cgXLli3D7du31Q/25SnuczZw4EDcvn0bf/75J5YtWwYbGxsA0PrZM2vWLPzxxx/FjhLHxcWhbdu26mDc1tYWe/bswZgxY5CSkoLJkycX+b0lEokwdOhQLFq0CNeuXUOjRo3Ux967dy+ePn1aZN/miY2NVV9Lfg0bNoSxsTFOnDiBAQMGFHscesPocr4GkS5MnDhRePmj36VLFwGAsGrVKq36GRkZWmXjx48XTExMNOaB+vv7C66urur3eXNmra2thadPn6rLd+zYIQAQdu7cqS6bN2+eVpsACEZGRkJERIS67NKlSwIA4YcfflCX+fr6CiYmJhpz9O7cuSMYGBhoHbMgBV3f4sWLBZFIJNy/f1/j+gAICxcu1KjbokULwdPTU/0+JCREACB8/fXX6rLc3FyhU6dOxc4hztO6dWuhRo0agkKhUJft3btXACD8/PPP6mO+PD/y2bNngr29vTB69GiNcrw0h3jt2rUa8x6fPHkiGBkZCX369NGYV/zZZ58JADTmEGdlZWm0SxBUfS2VSjXuTVFziF/+rOTdsy+++EKj3rvvviuIRCKNz0BJPxeFycnJEaytrTXmrw4dOlRo1qyZRr2DBw8KAISPP/5Y6xh59+jOnTuCWCwWBgwYoHVP8t/Hl+9/npfnZ+f1S8eOHYXc3FyNugV9Tk+dOiUAEP744w912dy5cwUAwrZt2wpt9759+wQAwp49ezS2N23aVOjSpYvWfvlFREQUeq/zvkcKenl7e6vr5f1s+OabbzT2L2xe7cs/H0p637t06aJxPevXrxfEYrFw7NgxjX1WrVolABBOnDihLivp56y4OcR9+vQRBEEQRo0aJchkMuHRo0eFXuuYMWMER0dHISEhQeM4Q4YMESwtLdWfgaK+t65duyYAEGbOnKl1DJlMJiQnJ2vtk9/Ro0cFkUgkzJkzp8DtdevWFXr37l3kMejNxCkTRM9JpVKMGjVKq9zY2Fj9dWpqKhISEtCpUydkZGTg5s2bxR538ODBqFatmvp93ohGVFRUsft2794dHh4e6vdNmzaFhYWFel+FQoEDBw6gf//+6j8DAkDt2rXRu3fvYo8PaF5feno6EhIS0L59ewiCgIsXL2rVnzBhgsb7Tp06aVzL7t27YWBgoDGCJpFICnzSvDDDhg3Dw4cPcfToUXVZcHAwjIyM8N5776mPmTdHUqlU4unTp8jNzUWrVq0KnG5RlAMHDiAnJweTJk3S+NP05MmTtepKpVKIxaofnQqFAomJiTAzM0O9evVKfd48u3fvhkQiwccff6xR/umnn0IQBOzZs0ejvLjPRVH27NmDxMRE+Pn5qcv8/Pxw6dIljSkiW7duhUgkwrx587SOkXePQkJCoFQqMXfuXPU9ebnOqwgICNCa453/cyqXy5GYmIjatWvDyspK475v3boVzZo1K3AEL69N3bt3h5OTEzZu3KjedvXqVVy+fLnY+b+JiYkAoPE9nZ9MJkNoaKjW63Xnvef3qvd9y5YtaNCgAerXr4+EhAT166233gIArelGr/M5e9ns2bORm5tb6H0QBAFbt26Fr68vBEHQaJ+3tzeSk5NL9P3VsGFDtGjRAn/99Ze6LD09Hf/88w/69u0LCwuLQvd98uQJhg4dilq1amHatGkF1qlWrVqBfwGgNx8DYqLnnJ2dC3wI5dq1axgwYAAsLS1hYWEBW1tb9S/N5OTkYo9bs2ZNjfd5v0ifPXtW6n3z9s/b98mTJ8jMzETt2rW16hVUVpDo6GiMHDkS1atXV88LzpvL+PL15c0jLaw9gGqup6Ojo9bcvHr16pWoPYAq56dEIlHPBczKysL27dvRu3dvjUDk999/R9OmTSGTyWBtbQ1bW1vs2rWrRP2S3/379wEAderU0Si3tbXVCnyUSiWWLVuGOnXqQCqVwsbGBra2trh8+XKpz5v//E5OTjA3N9cob9CggUb78hT3uSjKhg0bUKtWLUilUkRERCAiIgIeHh4wMTHRCBAjIyPh5OSE6tWrF3qsyMhIiMViNGzYsNjzlkatWrW0yjIzMzF37lz1HOu8+56UlKRx3yMjI9G4ceMijy8Wi/HBBx8gJCQEGRkZAFTTSGQymfo/XMURXprbnUcikaB79+5ar9JO4SnKq973O3fu4Nq1a7C1tdV41a1bF8CLh/ryvM7n7GXu7u4YPnw4fvnlFzx+/Fhre3x8PJKSkvDLL79otS9voOLl9hXmgw8+wN27d3Hy5EkAUPdzUdMl0tPT0bdvX6SmpmLHjh2Fzg8XBKHK54zXV5xDTPRc/hGoPElJSejSpQssLCywcOFCeHh4QCaT4cKFC5g+fTqUSmWxxy0sm0Fhv1DLat+SUCgU6NGjB54+fYrp06ejfv36MDU1RUxMDEaOHKl1fRWVmcHOzg49evTA1q1bsWLFCuzcuROpqakav9A2bNiAkSNHon///vi///s/2NnZqR+IioyMLLe2LVq0CHPmzMHo0aPx+eefo3r16hCLxZg8eXKJPg9l4VU/FykpKdi5cyeysrK0gn9ANQr/5ZdfVtgv/JcfxsxT0PfipEmTsHbtWkyePBnt2rVTL2gxZMiQV7rvI0aMwDfffIOQkBD4+fkhODgYffv2haWlZZH75c3RfpWgUNeUSiWaNGmCpUuXFrjdxcVF431Z//yZNWsW1q9fj//973/o37+/VtsA1V+HCnveoGnTpiU6j5+fH6ZNm4bg4GC0b98ewcHBqFatGnx8fAqsn5OTg4EDB+Ly5cvYt29fkf+hevbsWYHfO/TmY0BMVITDhw8jMTER27ZtQ+fOndXld+/e1WGrXrCzs4NMJitwIYuiFrfIc+XKFdy+fRu///47RowYoS5/naeoXV1dERYWhrS0NI1Rllu3bpXqOB988AH27t2LPXv2IDg4GBYWFhpprv7++2+4u7tj27ZtGgFcQX/iL0mbAdUImru7u7o8Pj5eK/DJe1J99erVGuVJSUkaD+KUJqh0dXXFgQMHkJqaqjFKnDclp6wWZ9i2bRuysrLw008/aT00dOvWLcyePRsnTpxAx44d4eHhgX379uHp06eFjhJ7eHhAqVTi+vXrRY6AVqtWTSvLSE5OToEjhYX5+++/4e/vjyVLlqjLsrKytI7r4eGBq1evFnu8xo0bo0WLFti4cSNq1KiB6Oho/PDDD8XuV7NmTRgbG+v0Z0BJ73tB+126dAlvv/12mf2npzTH8fDwwLBhw/Dzzz/Dy8tLY5utrS3Mzc2hUCi00p2V9pxOTk7o1q0btmzZgjlz5iA0NBQjR44s8C+ASqUSI0aMQFhYGDZv3qz+61hBcnNz8eDBA7zzzjtFnp/eTJwyQVSEvBGS/CMiOTk5WLlypa6apCHvz7MhISEaKY0iIiK05p0Wtj+geX2CIOC777575Tb5+PggNzcXP/30k7pMoVCUKNjIr3///jAxMcHKlSuxZ88eDBw4UGO1r4LafubMGZw6darUbe7evTsMDQ3xww8/aBxv+fLlWnUlEonWCNmWLVsQExOjUZaXO7ck6eZ8fHygUCjw448/apQvW7YMIpGoxPPBi7Nhwwa4u7tjwoQJePfddzVeU6dOhZmZmXraxKBBgyAIAhYsWKB1nLzr79+/P8RiMRYuXKg1Spv/Hnl4eGjMBweAX375pdAR4oIUdN9/+OEHrWMMGjQIly5dwvbt2wttd57hw4dj//79WL58OaytrUt0nw0NDdGqVasCVzOrKCW97y97//33ERMTg19//VVrW2ZmpjqjR2mU5nMOqOYSy+VyfP311xrlEokEgwYNwtatWwv8D01e7uaSnvODDz7AkydPMH78eMjl8kKnS0yaNAmbNm3CypUrMXDgwCLbfv36dWRlZRWaLYbebBwhJipC+/btUa1aNfj7+6uXFV6/fn2ZTVkoC/Pnz8f+/fvRoUMHfPjhh+rAqnHjxsUuG1y/fn14eHhg6tSpiImJgYWFBbZu3fpafw729fVFhw4dMGPGDNy7dw8NGzbEtm3bSj2/1szMDP3791fPI375F1rfvn2xbds2DBgwAH369MHdu3exatUqNGzYEGlpaaU6V14+5cWLF6Nv377w8fHBxYsXsWfPHq2R1L59+2LhwoUYNWoU2rdvjytXrmDjxo0aI8uAKgi0srLCqlWrYG5uDlNTU3h5eRU4P9bX1xfdunXDrFmzcO/ePTRr1gz79+/Hjh07MHnyZI0Hm17Vo0ePcOjQIa0H9/JIpVJ4e3tjy5Yt+P7779GtWzcMHz4c33//Pe7cuYNevXpBqVTi2LFj6NatGwIDA1G7dm3MmjULn3/+OTp16oSBAwdCKpXi3LlzcHJyUufzHTt2LCZMmIBBgwahR48euHTpEvbt21dgaqvC9O3bF+vXr4elpSUaNmyIU6dO4cCBA1pp5v7v//4Pf//9N9577z2MHj0anp6eePr0Kf755x+sWrUKzZo1U9cdOnQopk2bhu3bt+PDDz8s8YIp/fr1w6xZs5CSkqL1kFZubi42bNhQ4H4DBgwok0VGSnrfXzZ8+HBs3rwZEyZMwKFDh9ChQwcoFArcvHkTmzdvxr59+9Tp9ErK09MTgGo6xJAhQ2BoaAhfX99CrzNvlPj333/X2vbVV1/h0KFD8PLyQkBAABo2bIinT5/iwoULOHDgAJ4+fao+RnHfW4MGDcJHH32EHTt2wMXFReMvfHmWL1+OlStXol27djAxMdHqt5f7KzQ0FCYmJujRo0ep7hG9ISowowVRpVBY2rVGjRoVWP/EiRNC27ZtBWNjY8HJyUmYNm2aOm3ToUOH1PUKS7v2cmolQdBOQ1VY2rWJEydq7VvQUsJhYWFCixYtBCMjI8HDw0P47bffhE8//VSQyWSF3IUXrl+/LnTv3l0wMzMTbGxshICAAHV6pfxpjfz9/QVTU1Ot/Qtqe2JiojB8+HDBwsJCsLS0FIYPHy5cvHixxGnX8uzatUsAIDg6OhaYXmrRokWCq6urIJVKhRYtWgj//vuvVj8IQvFp1wRBEBQKhbBgwQLB0dFRMDY2Frp27SpcvXpV635nZWUJn376qbpehw4dhFOnTmmluBIEVYq9hg0bqlPg5V17QW1MTU0VpkyZIjg5OQmGhoZCnTp1hG+++UZreenSfC7yW7JkiQBACAsLK7TOunXrBADCjh07BEFQpbb75ptvhPr16wtGRkaCra2t0Lt3b+H8+fMa+61Zs0Zo0aKFIJVKhWrVqgldunTRWPpWoVAI06dPF2xsbAQTExPB29tbiIiIKDTt2rlz57Ta9uzZM2HUqFGCjY2NYGZmJnh7ews3b94s8LoTExOFwMBAwdnZWTAyMhJq1Kgh+Pv7a6XzEgRB8PHxEQAIJ0+eLPS+vCwuLk4wMDAQ1q9fr1FeVNq1/J+31027lqe4+17QZzInJ0f43//+JzRq1Ei9n6enp7BgwQKNlGSl+Zx9/vnngrOzsyAWizWuM3/atfzu3LkjSCSSAq81Li5OmDhxouDi4iIYGhoKDg4Owttvvy388ssvGvUK+97K77333hMACNOmTdPaJggl7688Xl5ewrBhwwo8Fr35RIJQiYa6iKjM9O/fH9euXcOdO3d03RSiSmvAgAG4cuVKiebc5zdmzBjcvn0bx44dK6eWUWUSHh6Oli1b4sKFC2WaMYQqD84hJqoCXl5m+c6dO9i9e7fWsq1E9MLjx4+xa9cuDB8+vNT7zps3D+fOncOJEyfKoWVU2Xz11Vd49913GQxXYRwhJqoCHB0dMXLkSLi7u+P+/fv46aefkJ2djYsXLzJFENFL7t69ixMnTuC3337DuXPnEBkZCQcHB103i4h0iA/VEVUBvXr1wp9//onY2FhIpVK0a9cOixYtYjBMVIAjR45g1KhRqFmzJn7//XcGw0Sk2ykTR48eha+vL5ycnCASiRASElLsPocPH0bLli0hlUpRu3ZtrFu3TqvOihUr4ObmBplMBi8vL5w9e1Zje1ZWFiZOnAhra2uYmZlh0KBBiIuLK6OrIqp4a9euxb1795CVlYXk5GTs3bsXLVu21HWziCqlkSNHQhAE3L9/H++++66um0NElYBOA+L09HQ0a9YMK1asKFH9u3fvok+fPujWrRvCw8MxefJkjB07Fvv27VPX2bRpE4KCgjBv3jxcuHABzZo1g7e3t8aSj1OmTMHOnTuxZcsWHDlyBI8ePSo2/yARERERVU2VZg6xSCTC9u3btZZzzG/69OnYtWuXRtLuIUOGICkpCXv37gUAeHl5oXXr1uoE90qlEi4uLpg0aRJmzJiB5ORk2NraIjg4WD0ycPPmTTRo0ACnTp1C27Zty+8iiYiIiKjSeaPmEJ86dUprSUdvb29MnjwZgGoFsfPnz2PmzJnq7WKxGN27d1evXnX+/HnI5XKN49SvXx81a9YsMiDOzs5Gdna2+r1SqcTTp09hbW1dZktgEhEREVHZEQQBqampcHJyglhc+MSINyogjo2Nhb29vUaZvb09UlJSkJmZiWfPnkGhUBRY5+bNm+pjGBkZwcrKSqtObGxsoedevHhxgUuYEhEREVHl9uDBA9SoUaPQ7W9UQKxLM2fORFBQkPp9cnIyatasibt378Lc3Lzczy+Xy3Ho0CF069atxMuL0puNfa5/2Of6if2uf9jnFSc1NRW1atUqNlZ7owJiBwcHrWwQcXFxsLCwgLGxMSQSCSQSSYF18tLqODg4ICcnB0lJSRqjxPnrFEQqlUIqlWqVV69eXWst+/Igl8thYmICa2trfvPoCfa5/mGf6yf2u/5hn1ecvPtb3PTWN2qlunbt2iEsLEyjLDQ0FO3atQMAGBkZwdPTU6OOUqlEWFiYuo6npycMDQ016ty6dQvR0dHqOkRERESkP3Q6QpyWlqaxfvzdu3cRHh6O6tWro2bNmpg5cyZiYmLwxx9/AAAmTJiAH3/8EdOmTcPo0aNx8OBBbN68Gbt27VIfIygoCP7+/mjVqhXatGmD5cuXIz09HaNGjQIAWFpaYsyYMQgKClKP7k6aNAnt2rVjhgkiIiIiPaTTgPi///5Dt27d1O/z5uj6+/tj3bp1ePz4MaKjo9Xba9WqhV27dmHKlCn47rvvUKNGDfz222/w9vZW1xk8eDDi4+Mxd+5cxMbGonnz5ti7d6/Gg3bLli2DWCzGoEGDkJ2dDW9vb6xcubICrpiIiIiIKhudBsRdu3ZFUWmQC1qFrmvXrrh48WKRxw0MDERgYGCh22UyGVasWFHiBUGIiIjeVIIgIDc3FwqFQtdNoefkcjkMDAyQlZXFfnlNEokEBgYGr50C9416qI6IiIhKLicnB48fP0ZGRoaum0L5CIIABwcHPHjwgGsZlAETExM4OjrCyMjolY/BgJiIiKgKUiqVuHv3LiQSCZycnGBkZMTgq5JQKpVIS0uDmZlZkYtFUNEEQUBOTg7i4+Nx9+5d1KlT55XvJwNiIiKiKignJwdKpRIuLi4wMTHRdXMoH6VSiZycHMhkMgbEr8nY2BiGhoa4f/+++p6+CvYCERFRFcaAi6q6sviM87uEiIiIiPQaA2IiIiIi0msMiImIiKjKc3Nzw/Lly0tc//DhwxCJREhKSiq3NlHlwYCYiIiIKg2RSFTka/78+a903HPnzmHcuHElrt++fXs8fvwYlpaWr3S+V1G/fn1IpVLExsZW2DlJhQExERERVRqPHz9Wv5YvXw4LCwuNsqlTp6rr5i06UhK2tralyrZhZGQEBweHCktVd/z4cWRmZuLdd9/F77//XiHnLIpcLtd1EyoUA2IiIiI9IQgCMnJyK/xV1Kq0L3NwcFC/LC0tIRKJ1O9v3rwJc3Nz7NmzB56enpBKpTh+/DgiIyPRr18/2Nvbw8zMDK1bt8aBAwc0jvvylAmRSITffvsNAwYMgImJCerUqYN//vlHvf3lKRPr1q2DlZUV9u3bhwYNGsDMzAy9evXC48eP1fvk5ubi448/hpWVFaytrTF9+nT4+/ujf//+xV736tWrMXToUAwfPhxr1qzR2v7w4UP4+fmhevXqMDU1RatWrXDmzBn19p07d6J169aQyWSwsbHBgAEDNK41JCRE43hWVlbqFYHv3bsHkUiETZs2oUuXLpDJZNi4cSMSExPh5+cHZ2dnmJiYoEmTJvjzzz81jqNUKvH111+jdu3akEqlqFmzJr788ksAwFtvvaW1cnB8fDyMjIwQFhZW7D2pSMxDTEREpCcy5Qo0nLuvws97faE3TIzKLuSYMWMGvv32W7i7u6NatWp48OABfHx88OWXX0IqleKPP/6Ar68vbt26hZo1axZ6nAULFuDrr7/GN998gx9++AEffPAB7t+/j+rVqxdYPyMjA99++y3Wr18PsViMYcOGYerUqdi4cSMA4H//+x82btyItWvXokGDBvjuu+8QEhKCbt26FXk9qamp2LJlC86cOYP69esjOTkZx44dQ6dOnQAAaWlp6NKlC5ydnfHPP//AwcEBFy5cgFKpBADs2rULAwYMwKxZs/DHH38gJycHu3fvfqX7umTJErRo0QIymQxZWVnw9PTE9OnTYWFhgV27dmH48OHw8PBAmzZtAAAzZ87Er7/+imXLlqFjx454/Pgxbt68CQAYO3YsAgMDsWTJEkilUgDAhg0b4OzsjLfeeqvU7StPDIiJiIjojbJw4UL06NFD/b569epo1qyZ+v3nn3+O7du3459//tEaocxv5MiR8PPzAwAsWrQI33//Pc6ePYtevXoVWF8ul2PVqlXw8PAAAAQGBmLhwoXq7T/88ANmzpypHp398ccfSxSY/vXXX6hTpw4aNWoEABgyZAhWr16tDoiDg4MRHx+Pc+fOqYP12rVrq/f/8ssvMWTIECxYsEBdlv9+lNTkyZMxcOBAjbL8U1QmTZqEffv2YfPmzWjTpg1SU1Px3Xff4ccff4S/vz8AwMPDAx07dgQADBw4EIGBgdixYwfef/99AKqR9pEjR1a6VRMZEBMREekJY0MJri/01sl5y1KrVq003qelpWH+/PnYtWsXHj9+jNzcXGRmZiI6OrrI4zRt2lT9tampKSwsLPDkyZNC65uYmKiDYQBwdHRU109OTkZcXJx65BQAJBIJPD091SO5hVmzZg2GDRumfj9s2DB06dIFP/zwA8zNzREeHo4WLVoUOnIdHh6OgICAIs9REi/fV4VCgUWLFmHz5s2IiYlBTk4OsrOz1XOxb9y4gezsbLz99tsFHk8mk6mngLz//vu4cOECrl69qjE1pbJgQExERKQnRCJRmU5d0BVTU1ON91OnTkVoaCi+/fZb1K5dG8bGxnj33XeRk5NT5HEMDQ013otEoiKD14Lql2Z+dEGuX7+O06dP4+zZs5g+fbq6XKFQ4K+//kJAQACMjY2LPEZx2wtqZ0EPzb18X7/55ht89913WL58OZo0aQJTU1NMnjxZfV+LOy+gmjbRvHlzPHz4EGvXrsVbb70FV1fXYveraHyojoiIiN5oJ06cwMiRIzFgwAA0adIEDg4OuHfvXoW2wdLSEvb29jh37py6TKFQ4MKFC0Xut3r1anTu3BmXLl1CeHi4+hUUFITVq1cDUI1kh4eH4+nTpwUeo2nTpkU+pGZra6vx8N+dO3eQkZFR7DWdOHEC/fr1w7Bhw9CsWTO4u7vj9u3b6u116tSBsbFxkedu0qQJWrVqhV9//RXBwcEYPXp0sefVBQbERERE9EarU6cOtm3bhvDwcFy6dAlDhw4tdppCeZg0aRIWL16MHTt24NatW/jkk0/w7NmzQufLyuVyrF+/Hn5+fmjcuLHGa+zYsThz5gyuXbsGPz8/ODg4oH///jhx4gSioqKwdetWnDp1CgAwb948/Pnnn5g3bx5u3LiBK1eu4H//+5/6PG+99RZ+/PFHXLx4Ef/99x8mTJigNdpdkDp16iA0NBQnT57EjRs3MH78eMTFxam3y2QyTJ8+HdOmTcMff/yByMhInD59Wh3I5xk7diy++uorCIKgkf2iMmFATERERG+0pUuXolq1amjfvj18fX3h7e2Nli1bVng7pk+fDj8/P4wYMQLt2rWDmZkZvL29IZPJCqz/zz//IDExscAgsUGDBmjQoAFWr14NIyMj7N+/H3Z2dvDx8UGTJk3w1VdfQSJRzc3u2rUrtmzZgn/++QfNmzfHW2+9hbNnz6qPtWTJEri4uKBTp04YOnQopk6dWqKczLNnz0bLli3h7e2Nrl27qoPy/ObMmYNPP/0Uc+fORYMGDTB48GCtedh+fn4wMDCAn59fofdC10TC605+0VMpKSmwtLREcnIyLCwsyv18crkcu3fvho+PT4n+V0dvPva5/mGf66fy6vesrCzcvXsXtWrVqrRBSFWnVCrRoEEDvP/++/j88881ylNSUmBhYQGxuOqPTd67dw8eHh44d+5cufxHpajPeknjtTd/Zj0RERFRJXD//n3s378fXbp0QXZ2Nn788UfcvXsXQ4cO1XXTdEIulyMxMRGzZ89G27ZtdTJqX1JV/78lRERERBVALBZj3bp1aN26NTp06IArV67gwIEDaNCgga6bphMnTpyAo6Mjzp07h1WrVum6OUXiCDERERFRGXBxccGJEyd03YxKo2vXrq+dlq6icISYiIiIiPQaA2IiIiIi0msMiImIiIhIrzEgJiIiIiK9xoCYiIiIiPQaA2IiIiIi0msMiImIiKjK6dq1KyZPnqx+7+bmhuXLlxe5j0gkQkhIyGufu6yOQxWHATERERFVGr6+vujVq1eB244dOwaRSITLly+X+rjnzp3DuHHjXrd5GubPn4/mzZtrlT9+/Bi9e/cu03MVJjMzE9WrV4eNjQ2ys7Mr5JxVEQNiIiIiqjTGjBmD0NBQPHz4UGvb2rVr0apVKzRt2rTUx7W1tYWJiUlZNLFYDg4OkEqlFXKurVu3olGjRqhfv77OR6UFQUBubq5O2/CqGBATERHpC0EActIr/lWK1cr69u0LW1tbrFu3TqM8LS0NW7ZswZgxY5CYmAg/Pz84OzvDxMQETZo0wZ9//lnkcV+eMnHnzh107twZMpkMDRs2RGhoqNY+06dPR926dWFiYgJ3d3fMmTMHcrkcALBu3TosWLAAly5dgkgkgkgkUrf55SkTV65cwVtvvQVjY2NYW1tj/PjxSEtLU28fOXIk+vfvj2+//RaOjo6wtrbGxIkT1ecqyurVqzFs2DAMGzYMq1ev1tp+7do19O3bFxYWFjA3N0enTp0QGRmp3r5mzRo0atQIUqkUjo6OCAwMBADcu3cPIpEI4eHh6rpJSUkQiUQ4fPgwAODw4cMQiUTYs2cPPD09IZVKcfz4cURGRqJfv36wt7eHmZkZWrdujQMHDmi0Kzs7G9OnT4eLiwukUilq166N1atXQxAE1K5dG99++61G/fDwcIhEIkRERBR7T14Fl24mIiLSF/IMYJFTxZ/3s0eAkWmJqhoYGGDEiBFYt24dZs2aBZFIBADYsmULFAoF/Pz8kJaWBk9PT0yfPh0WFhbYtWsXhg8fDg8PD7Rp06bYcyiVSgwcOBD29vY4c+YMkpOTNeYb5zE3N8e6devg5OSEK1euICAgAObm5pg2bRoGDx6Mq1evYu/evepgz9LSUusY6enp8Pb2Rrt27XDu3Dk8efIEY8eORXp6OjZs2KCud+jQITg6OuLQoUOIiIjA4MGD0bx5cwQEBBR6HZGRkTh16hS2bdsGQRAwZcoU3L9/H66urgCAmJgYdO7cGV27dsXBgwdhYWGBEydOqEdxf/rpJwQFBeGrr75C7969kZyc/EpLT8+YMQPffvst3N3dUa1aNTx48AA+Pj748ssvIZVK8ccff8DX1xe3bt1CzZo1AQAjRozAqVOn8P3336NZs2a4e/cuEhISIBKJMHr0aKxduxZTp05Vn2Pt2rXo3LkzateuXer2lQQDYiIiIqpURo8ejW+++QZHjhxB165dAagCokGDBsHS0hKWlpYawdKkSZOwb98+bN68uUQB8YEDB3Dz5k3s27cPTk6q/yAsWrRIa97v7Nmz1V+7ublh6tSp+OuvvzBt2jQYGxvDzMwMBgYGcHBwKPRcwcHByMrKwh9//AFTU9V/Cr7//nv069cPS5YsgaOjIwCgWrVq+PHHHyGRSFC/fn306dMHYWFhRQbEa9asQe/evVGtWjUAgLe3N9auXYv58+cDAFasWAFLS0v89ddfMDQ0BADUrVtXvf8XX3yBTz/9FJ988om6rHXr1sXev5ctXLgQPXr0UL+vXr06mjVrpn7/+eefY/v27fjnn38QGBiI27dvY/PmzQgNDUX37t0BAO7u7ur6I0eOxNy5c3H27Fm0adMGcrkcwcHBWqPGZYkBMRERkb4wNFGN1urivKVQv359tG/fHmvWrEHXrl0RERGBY8eOYeHChQAAhUKBRYsWYfPmzYiJiUFOTg6ys7NLPEf4xo0bcHFxUQfDANCuXTuteps2bcL333+PyMhIpKWlITc3FxYWFqW6lhs3bqBZs2bqYBgAOnToAKVSiVu3bqkD4kaNGkEikajrODo64sqVK4UeV6FQ4Pfff8d3332nLhs2bBimTp2KuXPnQiwWIzw8HJ06dVIHw/k9efIEjx49wttvv12q6ylIq1atNN6npaVh/vz52LVrFx4/fozc3FxkZmYiOjoagGr6g0QiQZcuXQo8npOTE/r06YM1a9agTZs22LlzJ7Kzs/Hee++9dlsLwznERERE+kIkUk1dqOjX82kPpTFmzBhs3boVqampWLt2LTw8PNQB1DfffIPvvvsO06dPx6FDhxAeHg5vb2/k5OSU2a06deoUPvjgA/j4+ODff//FxYsXMWvWrDI9R34vB60ikQhKpbLQ+vv27UNMTAwGDx4MAwMDGBgYYMiQIbh//z7CwsIAAMbGxoXuX9Q2ABCLVSGikG/+d2FzmvMH+wAwdepUbN++HYsWLcKxY8cQHh6OJk2aqO9dcecGgLFjx+Kvv/5CZmYm1q5di8GDB5frQ5EMiImIiKjSef/99yEWixEcHIw//vgDo0ePVs8nPnHiBPr164dhw4ahWbNmcHd3x+3bt0t87AYNGuDBgwd4/Pixuuz06dMadU6ePAlXV1fMmjULrVq1Qp06dXD//n2NOkZGRlAoFMWe69KlS0hPT1eXnThxAmKxGPXq1Stxm1+2evVqDBkyBOHh4RqvIUOGqB+ua9q0KY4dO1ZgIGtubg43Nzd18PwyW1tbANC4R/kfsCvKiRMnMHLkSAwYMABNmjSBg4MD7t27p97epEkTKJVKHDlypNBj+Pj4wNTUFD/99BP27t2L0aNHl+jcr4oBMREREVU6ZmZmGDx4MGbOnInHjx9j5MiR6m116tRBaGgoTp48iRs3bmD8+PGIi4sr8bG7d++OunXrwt/fH5cuXcKxY8cwa9YsjTp16tRBdHQ0/vrrL0RGRuL777/H9u3bNeq4ubnh7t27CA8PR0JCQoF5gD/44APIZDL4+/vj6tWrOHToED755BMMHjwY9vb2pbspz8XHx2Pnzp3w9/dH48aNNV4jRoxASEgInj59isDAQKSkpGDIkCH477//cOfOHaxfvx63bt0CoMqjvGTJEnz//fe4c+cOLly4gB9++AGAahS3bdu2+Oqrr3Djxg0cOXJEY051UerUqYNt27YhPDwcly5dwtChQzVGu93c3ODv74/Ro0cjJCQEd+/exeHDh7F582Z1HYlEgpEjR2LmzJmoU6dOgVNaypLOA+IVK1bAzc0NMpkMXl5eOHv2bKF15XI5Fi5cCA8PD8hkMjRr1gx79+7VqOPm5qZOf5L/NXHiRHWdrl27am2fMGFCuV0jERERld6YMWPw7NkzeHt7a8z3nT17Nlq2bAlvb2907doVDg4O6N+/f4mPKxaLsX37dmRmZqJNmzYYO3YsvvzyS40677zzDqZMmYLAwEA0b94cJ0+exJw5czTqDBo0CL169UK3bt1ga2tbYOo3ExMT7Nu3D0+fPkXr1q3x7rvv4q233sLXX39dupuRT94DegXN/3377bdhbGyMDRs2wNraGgcPHkRaWhq6dOkCT09P/Prrr+rpGf7+/li+fDlWrlyJRo0aoW/fvrhz5476WGvWrEFubi48PT0xefJkfPHFFyVq39KlS1GtWjW0b98evr6+8Pb2RsuWLTXq/PTTT3j33Xfx0UcfoX79+ggICNAYRQdU/Z+Tk4NRo0aV9haVnqBDf/31l2BkZCSsWbNGuHbtmhAQECBYWVkJcXFxBdafNm2a4OTkJOzatUuIjIwUVq5cKchkMuHChQvqOk+ePBEeP36sfoWGhgoAhEOHDqnrdOnSRQgICNCol5ycXKq2JycnCwBKvd+rysnJEUJCQoScnJwKOR/pHvtc/7DP9VN59XtmZqZw/fp1ITMzs0yPS69PoVAIz549ExQKha6bUqkdPXpUMDQ0FGJjY4usV9RnvaTxmk5HiJcuXYqAgACMGjUKDRs2xKpVq2BiYoI1a9YUWH/9+vX47LPP4OPjA3d3d3z44Yfw8fHBkiVL1HVsbW3h4OCgfv37778aE/HzmJiYaNQr7VOjRERERFT2srOz8fDhQ8yfPx/vvffeK08tKQ2dpV3LycnB+fPnMXPmTHWZWCxG9+7dcerUqQL3yc7Ohkwm0ygzNjbG8ePHCz3Hhg0bEBQUpJ6In2fjxo3YsGEDHBwc4Ovrizlz5hT59GJ2drbG3KCUlBQAqmkcJVlJ5nXlnaMizkWVA/tc/7DP9VN59btcLocgCFAqlUVmK6CKJzzP3JDXP6Rp48aNCAgIQPPmzbFu3bpi75FSqYQgCJDL5Rqp64CSf1/pLCBOSEiAQqHQivrt7e1x8+bNAvfx9vbG0qVL0blzZ3h4eCAsLAzbtm0r9AnPkJAQJCUlaUzEB4ChQ4fC1dUVTk5OuHz5MqZPn45bt25h27ZthbZ38eLFWLBggVb5/v37K2xtdAAFLi1JVRv7XP+wz/VTWfd73oIRaWlp5ZYqjF5PamqqrptQKQ0cOBADBw5Uv88bhCxMTk4OMjMzcfToUfUqfHkyMjJKdE6RIJRigfEy9OjRIzg7O+PkyZMaTw5OmzYNR44cwZkzZ7T2iY+PR0BAAHbu3AmRSAQPDw90794da9asQWZmplZ9b29vGBkZYefOnUW25eDBg3j77bcREREBDw+PAusUNELs4uKChISECpluIZfLERoaih49ehSYYJuqHva5/mGf66fy6vesrCw8ePBA/eA6VR6CICA1NRXm5uZaf8Gm0svKysK9e/fg4uKi9VlPSUmBjY0NkpOTi4zXdDZCbGNjA4lEopUmJS4urtAlEG1tbRESEoKsrCwkJibCyckJM2bM0FjuL8/9+/dx4MCBIkd983h5eQFAkQGxVCqFVCrVKjc0NKzQX1wVfT7SPfa5/mGf66ey7neFQqHOpJS3yAJVDnlTANg3ZSPvc17Q91BJv6d01gtGRkbw9PTUSAitVCoRFhZWbK45mUwGZ2dn5ObmYuvWrejXr59WnbVr18LOzg59+vQpti15iabzlk8kIiJ60+UFAiX9kzHRmyrvM/46/6HU2QgxAAQFBcHf3x+tWrVCmzZtsHz5cqSnp6vzzY0YMQLOzs5YvHgxAODMmTOIiYlB8+bNERMTg/nz50OpVGLatGkax1UqlVi7di38/f1hYKB5iZGRkQgODoaPjw+sra1x+fJlTJkyBZ07d0bTpk0r5sKJiIjKmUQigZWVFZ48eQJAlV2Jf56vHJRKJXJycpCVlcUR4tcgCAIyMjLw5MkTWFlZaT1QVxo6DYgHDx6M+Ph4zJ07F7GxsWjevDn27t2rftAuOjpa44OSlZWF2bNnIyoqCmZmZvDx8cH69ethZWWlcdwDBw4gOjq6wGX+jIyMcODAAXXw7eLigkGDBpV49RUiIqI3Rd4UxLygmCoHQRCQmZkJY2Nj/ielDFhZWRU63bakdBoQA0BgYCACAwML3Hb48GGN9126dMH169eLPWbPnj1R2LOCLi4uRa6dTUREVFWIRCI4OjrCzs6O6fwqEblcjqNHj6Jz5858XuA1GRoavtbIcB6dB8RERERUviQSSZkEDVQ2JBIJcnNzIZPJGBBXEpy4QkRERER6jQExEREREek1BsREREREpNcYEBMRERGRXmNATERERER6jQExEREREek1BsREREREpNcYEBMRERGRXmNATERERER6jQExEREREek1BsREREREpNcYEBMRERGRXmNATERERER6jQExEREREek1BsREREREpNcYEBMRERFVhNwcIC0eeBoJ0+w4ID0BUMh13SoCYKDrBhARERFVeoIAyDOBrGQgO0X1b2Evre3P3+dmAgAMAXQHgOv/pzq2oQkgswSkFqp/1a+X3kstAJmV9nYDGSAS6ejGVA0MiImIiKjqUyqBnLSiA9aspKK3K8tmNFcwMkNubi4MlVmqAnmG6pX6+NUOKDEqQTBtWfh2IzO9D6gZEBMREVHlp8jVDFQLDWrzb0t6sS07BRCUr98OkbiAUVvLfCO3BY3q5n9vjlyFErt374ZPr54wVGS+dC0vXVdRo9F516TIATISVK9XvSatgLqIayjoGsWS17+3OsSAmIiIiMpfbvZLQevLAV4xgWBOWtm0Q2JUgmDPqvDtRqavP5qqeB6Yiw0AaXXApPqrHUcQXox6F3ofi9iWN+otKJ//5yHp1a/JyFwrYFZKLZBjYI5siRkyJGZIhylSRSYwtquN+i07vfq5ygEDYiIiIiqaIKj+pF9g0JpUsoA2N6ts2mJoWvwobP7tL08VMJSVTTsqA5EIkJqrXpY1Sr+/IKj6pZCpI7mZychJewZ5+jMoM5MhZKoCbEl2CgzkKTDMTYNR3rSPnFTVK+Wh+vBiALLnL8t8p71o8TbAgJiIiIgqlFKpClZK8+f4l7crc8umLdJ8AavUAjC2KsXDZBaAxLBs2lHFCYKATLkCKZm5SMmSIzVLrv46JVOOlKy8r/O25z4vN0BKphVSs0yRnetQ7HkMkQtzZMBclAELZMBClA6Ll95XF2eiukEWqokzYSnKQFa1OhVwB0qHATEREVFlp54/m1SCoLagaQkpAITXb4dI8moPbeUFvFLzN36uaUVRKgWk5TwPUjNzVQGtOmjNH8A+356tGfCmZuUiV1kGfQ7AXGYAC5mh6l9jQ1jIDGGh/lr1b16dgr42lFT+LL8MiImIiCqKUgFkPAXS4oD0J0DaE4hTHqPBo/MQ7z1c+Chumc2flZZgJLaIB8QMTfQ+G0FpCYKAlKxcxKdmIyEtG/Gp2YhLzsC5B2Kc33UTaTmKfMHtiyA3LTsXQhnEsxKxKF/wmj9YNYC5zFD9tVbA+3y7mdQAEnHV73MGxERERK9DEIDMZ0Dak+eBbrzq37Qn+cqef52eAAgKjd0lAOoCQFwJzmVkVsCc2aLm01ppTk+oSvNndUgQBKTnKJCQmo34tGz1v/mD3vi0HHV5Tm5B2S3EwMPoYs8lNRCrAlfjgkZgDV4ardUOao0NJRDxPzHFYkBMRET0MkFQjcxqBLV5gW6carUxddmTUuanFQEm1oCZPWBmB6WJDe7GJcOtXlNITKsX8pDY8zIJf22Xpyy54nkw+1Jwm+/rhLQcxKdmI1OuKP6A+ZjLDGBrLoWtmRTWpoZIiX+MJvU8YGUq1ZpmYCFTjc6aywwgM+QUk4rA7ywiItIfOekFjN6+PKL7RDWiW9qsCMbVAFM7wMxOHezCzO55Wb73JjYaga1CLsfV3btRs4sPJIZ8YKys5eQq8wWzL4/iZiMhNUc9ypuaXboHB02NJLB5HuTamkth89K/qq+NYGMm1Qhs5XI5du+OgU+POjBkn1cKDIiJiOjNJs96MSUhf2Cb/kQ70JWnl+7YUot8QW3+l71mmaktYCAtn+sjLbkKJZ6m5+DJS1MW8oLb+NQs9UhucmbpVpeTGogLDW5tzYzUZTZmUphKGUZVFexJIiKqfHJzVCO3hQa6T15MXchOLt2xDU1eCnKLGM01NC6f6yMtSqWApxk5RU5TyCt7mpFTqgfODMQizeDWTAobc6Pn/+Yb4TWXwlxqwDm3eogBMRERVbzcHODZXSDhDpB4R/Vv8oMXgW7ms9IdT2L0IpA1fWkk9+UyIzNmStABpVLAo+RMRMWnIyo+DZHx6Yh+mqGeuvA0PQeKUqQJE4sAazOpRlCbF+TavjSNwdLYEGI9yJRAr44BMRERlQ9BADISgYTbmoFvwh3g2T2tbAtaRJLCR25fLpNZMsitJNKzc1VBb4Iq6I2MT0NUfDruJqQhS15QtgVN1U2NtILbgqYvVDMx0ot0YFQxGBATEdHrUY/25gW+ES++zkoqfD9DU8CmNmBTF7CuA1RzA8ztXwS6xtUAceVP6K+P8kZ7I5+P9kblC3xjUwp/GNFQIkLN6ibwsDWDu60ZatmYwM5Cpg58q5savRGLOFDVw4CYiIiKJwiqHLqJd7QD32f3ix7ttaypCnyt6wA2ea+6gLkjR3UrubTsXNxVB7tpiExIR+STNNxLTC9ytNfa1AjutqbPA19TuNuYwcPODC7VjGHAgJcqIQbERET0Qm4O8DQqX+Ab8eLrrCIeXjMyA6xrq4Ld/IFvdQ/AyKTi2k+lplQKiEnKRNTzYDcq4cWIb1xKdqH7GUpEcLU2hbuNKTzszOBuYwp3WzN42JrCysSoAq+A6PUxICYi0jd5o70JtzXn9Sbmze0tbORPBFi6vAh2rZ9Pd7Cpw9HeN0Badq7W9IbI+DTcTUhHdoErqanYmBnB3cZMc8TXlqO9VLUwICYiqqpys4Gnd/MFvhEvvi7RaG9dzcDX2oNpyCq5vNHevIA3KiENkU9U/xY12mskEcPV2kQd7OYFvh42ZrA04cIRVPXpPCBesWIFvvnmG8TGxqJZs2b44Ycf0KZNmwLryuVyLF68GL///jtiYmJQr149/O9//0OvXr3UdebPn48FCxZo7FevXj3cvHlT/T4rKwuffvop/vrrL2RnZ8Pb2xsrV66Evb19+VwkEVF5EQRVvt6E59MaEiNefJ10v+jRXisXzekN1nlzex042lvJ5Y32qgPfEo/2Sp+P9GrO763B0V7SczoNiDdt2oSgoCCsWrUKXl5eWL58Oby9vXHr1i3Y2dlp1Z89ezY2bNiAX3/9FfXr18e+ffswYMAAnDx5Ei1atFDXa9SoEQ4cOKB+b2CgeZlTpkzBrl27sGXLFlhaWiIwMBADBw7EiRMnyu9iiYheR262am6vVuB7p+iFKYzMtOf1WtfhaO8bQKEU8Oj5aO/L2RyepBY92utmY1LgNAdLY472EhVEpwHx0qVLERAQgFGjRgEAVq1ahV27dmHNmjWYMWOGVv3169dj1qxZ8PHxAQB8+OGHOHDgAJYsWYINGzao6xkYGMDBwaHAcyYnJ2P16tUIDg7GW2+9BQBYu3YtGjRogNOnT6Nt27ZlfZlERCVmJE+B6P4JIOmlRStKMtqbl74sfyozjvZWeqlZubifBuwIf4R7T7PUD7VFJaQjp0SjvaoH2fK+rlHNhPl5iUpJZwFxTk4Ozp8/j5kzZ6rLxGIxunfvjlOnThW4T3Z2NmQymUaZsbExjh8/rlF2584dODk5QSaToV27dli8eDFq1qwJADh//jzkcjm6d++url+/fn3UrFkTp06dKjQgzs7ORnb2i/+Rp6SkAFBN45DLS7dO+qvIO0dFnIsqB/a5nhCUED0Kh+jOXkhu7UbvhJvA1UKqGplBsFalLxOsaz9/1QGq1Sp8tDc3t/zaTiWmeD63925COqISMhCVkI67Cem4m5DxfLTXALii3fGGEhHcrE1Qy8YUHjamqGVjilo2JnC3MYVFIaO9SkUulMWseUK6xZ/vFaek91hnAXFCQgIUCoXWvF17e3uN+b75eXt7Y+nSpejcuTM8PDwQFhaGbdu2QaF48Z3v5eWFdevWoV69enj8+DEWLFiATp064erVqzA3N0dsbCyMjIxgZWWldd7Y2NhC27t48WKtuckAsH//fpiYVFxKodDQ0Ao7F1UO7POqR6zMgU3qDTgkX4Bj8kXIcpPU2wSIkGFkgzSpI9JkDkiTOSFN6oBUmROyDfKtxpby/HX3HoB7FX4NVLCsXCAuC3iSKXr+AuIyRYjPAnKFwkdtLQwF2BkDdjIBdsaqr+2NBVSXAmJRMoBkQA7gMfDoMfCowq6IyhN/vpe/jIyMEtXT+UN1pfHdd98hICAA9evXh0gkgoeHB0aNGoU1a9ao6/Tu3Vv9ddOmTeHl5QVXV1ds3rwZY8aMeeVzz5w5E0FBQer3KSkpcHFxQc+ePWFhYfHKxy0puVyO0NBQ9OjRA4aGnAOmD9jnVUzGU4giQiG+sxeiyIMQydPVmwQjUwjub0Pu0QNh0RJ07T0A1Q0NUV2HzaXCFTbaGxWfjvi0nEL3M5SIUMv6xQivu61qxNfF0ginjx3i97oe4c/3ipP3F/3i6CwgtrGxgUQiQVxcnEZ5XFxcofN/bW1tERISgqysLCQmJsLJyQkzZsyAu7t7oeexsrJC3bp1ERERAQBwcHBATk4OkpKSNEaJizovAEilUkilUq1yQ0PDCv0wV/T5SPfY52+wp1HAzd3ArT1A9CnN1dzMHYF6vYF6fSCq1QkiAynEcjnkj3azzyuJlCz58wwOmtkc7iYWPbfX1lz6fE6vmXrRCg8bMzhXMy5wbm/en3TZ7/qHfV7+Snp/dRYQGxkZwdPTE2FhYejfvz8AQKlUIiwsDIGBgUXuK5PJ4OzsDLlcjq1bt+L9998vtG5aWhoiIyMxfPhwAICnpycMDQ0RFhaGQYMGAQBu3bqF6OhotGvXrmwujoj0k1IJPLoA3NqtCoTjb2hut2/8PAj2AZxa8GG3SkChFBDzLC+TQ75sDgnpiC8qk4OBGLWsTeFhZ6qRzaGWrSksZAxwiN40Op0yERQUBH9/f7Rq1Qpt2rTB8uXLkZ6ers46MWLECDg7O2Px4sUAgDNnziAmJgbNmzdHTEwM5s+fD6VSiWnTpqmPOXXqVPj6+sLV1RWPHj3CvHnzIJFI4OfnBwCwtLTEmDFjEBQUhOrVq8PCwgKTJk1Cu3btmGGCiEpPngXcPaIKgm/tBdLyPYsgkgCu7YH6fVSBcDU3nTVT3+WN9r68NPG9xIwiR3vtzKX5UpepAt/atmZwsip4tJeI3kw6DYgHDx6M+Ph4zJ07F7GxsWjevDn27t2rftAuOjoaYvGLROFZWVmYPXs2oqKiYGZmBh8fH6xfv15j6sPDhw/h5+eHxMRE2NraomPHjjh9+jRsbW3VdZYtWwaxWIxBgwZpLMxBRFQi6YnAnX2qIDjiIJBvPjCMzIDa3VVBcJ0egHE13bVTzyiUAh4+y1AHu5Hq6Q7pSEgrerQ3b06vu42ZxqivOUd7ifSCzh+qCwwMLHSKxOHDhzXed+nSBdevXy/yeH/99Vex55TJZFixYgVWrFhR4nYSkZ5LjHw+Cpw3HzjfqKK5k2oEuL4P4NYJMNB+3oDKTnKmXGORirwliu8lZCBHUfRob/5FKvJWa+NoLxHpPCAmIqqUlEog5jxwa5cqCI5/KR2kfWPVXOD6PoBjc84HLmO5CiUePsvUmN4Q+fyhtqJGe6UGYlXOXnXg+3xurw1He4mocAyIiYjyyDOBqOfzgW/vBdLyZcERSQC3DkC9vPnArrprZxWSnCFHZN7KbPlGfe8nFj3aa28h1Zre4GFrBmcrY4g52ktEpcSAmIj0W3qiKvi9tRuIPAjI8yVxNzIH6nRXBcF1unM+8CvKG+3NP70h8onq34Qi8va+PNqb9y9He4morDEgJiL9kxgJ3Hw+FeLBac35wBbOL1KjuXUCDIx01843TP7RXlXwq/r6XmI65Aqh0P3sLfLN7bUxg4edKn8vR3uJqKIwICaiqk+pBGL+exEEJ9zS3O7QRBUA1/MBHJtxPnARchVKPHiWWeBDbSUa7bUzg4dN3kNtqry9ZlL+KiIi3eJPISKqmuSZQNRhVRB8ey+QHv9im9gAcO3wIj+wVU2dNbOySs6QIyJvlDchL39vOu4XM9rrYCHTeJgtL5uDkyVHe4mo8mJATERVR3rC8/nAe7TnA0stXuQHrt0dMLbSWTMri7zR3pcXq4iKT0dietGjvXmLVHg8H/V1t+FoLxG9ufiTi4jebAkRL1KjPTjz0nzgGi/yA7t21Nv5wEkZORqLVEQ9X6Y4+mlGsaO9L2dxcOdoLxFVQQyIiejNolQAD/97EQQn3Nbc7tD0RX5gh6Z6Mx84V6FE9NMMrSwOxY32ygzFqJUv4PV4/mAbR3uJSJ/wpx0RVX45Gar5wLd2Abf3ac8Hduv0/KG43oCVi86aWRFUo70vFqnIy+ZQmtFej+crtXG0l4hIhQExEVVOafH58gMfAnIzX2yTWgJ1eqgC4Do9AJml7tpZDuQKJR4kvZjeoA58E9LxtASjvR4vLU1cy8YUphztJSIqFH9CElHloVQCt/cAp1YC908AyDfiaenyYhTYtUOVmw+clJGD30/cRXC4BJ+eCUOusvDRXkdL2Ys5vXkpzOzM4Ggh42gvEdErYEBMRLqXmw1c3gSc+B5IvPOi3LHZi6WSHZpUyfnAMUmZ+O1YFDade4CMHAUAEQABMkOx+mE2jvYSEZUv/lQlIt3JTALOrwVO/wSkxanKpJZA6zFAq9FVej7wjccp+OVoFP659AiK56PB9R3M0cosCQH9usLF2pyjvUREFYQBMRFVvJRHwOmVwH/rgJxUVZm5E9BuIuDpD0jNddq88iIIAk5FJeLnI1E4cvvFg4EdaltjfGcPtHWzxJ49e+DEJYuJiCoUA2IiqjhPbgAnfwAubwaUclWZbQOgwydA40FVbl5wHoVSwN6rsfj5aCQuP0wGAIhFgE8TR4zv7IEmNVQPBcrlcl02k4hIbzEgJqLyJQhA9CngxHeqrBF5XDuqAuE6Park3GAAyJIrsOX8Q/x6NArRT1Wr5skMxXi/lQvGdnRHTWsTHbeQiIgABsREVF6USlXe4BPfAQ/PPS8UAQ36Ah0mAzVa6bJ15epZeg7Wn76P30/eUy+KYWViCP92bhjRzhXWZlIdt5CIiPJjQExEZUueBVz+SzU1IjFCVSaRAs39gHaTAJvaum1fOXrwNAOrj9/FpnMPkClXAABqVDNGQCd3vNeqBkyM+COXiKgy4k9nIiobmUnAf2uAM6teZIyQWQKtxwJtxgPm9jptXnm69igZvxyNwr+XH6szRjR0tMD4Lu7o08QRBhKxjltIRERFYUBMRK8n+aEqbdr5dUBOmqrMwlmVMaLliCqdMeJkZCJWHYnEsTsJ6vKOtW0wvos7Ota2gaiKzo0mIqpqGBAT0auJuw6c/B64sgVQ5qrK7Bq+yBghMdRt+8pJrkKJPc8zRlyNSQGgyhjRp6kTxnd2R2PnqrWMNBGRPmBATEQlJwjA/ZOqB+Xu7HtR7tZJFQjX7l5lM0Zk5iiw5fwD/HosCg+eZgJQZYwY3MoFYzu5w6U6M0YQEb2pGBATUfGUCuDm84wRMf89LxQBDd8B2n8C1PDUafPK07P0HPxx6j5+P3UPT59njKhmYgj/9m4Y0c4N1U2rZu5kIiJ9woCYiAonzwIu/anKGPE0UlUmkQItPgDaBQLWHrptXzl68DQDvx2Lwub/HqozRrhUf54xwtMFxkYSHbeQiIjKCgNiItKW+Qw4t1qVMSL9+RLDMiugTQDQZhxgZqfT5pWnqzHJ+PloFHZdfoTnCSPQ2NkC4zt7oHdjB2aMICKqghgQE9ELSQ9eZIyQp6vKLF1UGSNaDAekZjptXnkRBAEnIhLx81HNjBGd6thgQhcPtPewZsYIIqIqjAExEQFx14AT3wNX/36RMcK+sepBuUYDqnTGiN1XY/HzkUhce6TKGCERi9C3qSPGdXZHIydmjCAi0gcMiIn0lSAA946rHpSLCH1RXquzKhD2eLvKZozIyMnFlv8e4tdjUXj4TJUxwthQgsGtXTCmYy1mjCAi0jMMiIn0jVIB3NipCoQfXVCVicRAw35A+48B55a6bV85SkzLxh+n7uOPU/fwLEMOAKhuaoSR7d0wvK0rqjFjBBGRXmJATKQv5JlAeLAqY8Szu6oyAxnQYphqjnB1d922rxxFJ2bgt+NR2PzfA2TJlQCAmtVNENDZHe+2rMGMEUREeo4BMVFVl/H0RcaIjOcPjBlXU2WLaDMOMLXRbfvK0ZWHyfj5aCR2X3mszhjRxNkSE7p4oFdjB0jEVXNKCBERlQ4DYqKqKukBcGoFcOGPfBkjagLtA1Wjwkamum1fOREEAcfuJODno5E4EZGoLu9S1xbju7ijnTszRhARkSYGxERVTeyV5xkjtgKCakEJ2DcBOk4GGvYHJFXz2z5XocSuK4+x6kgUbjx+kTHinWZOCOjkjoZOFjpuIRERVVZV8zcjkb4RBODuUdWDcpFhL8rdu6oelPN4q0pnjNh07gF+O3YXMUmqjBEmRhIMaV0Tozu6oUY1ZowgIqKiMSAmepMpFcCNf55njLioKhOJVbmD238MODXXafPKU0JaNv44eQ9/nL6PpOcZI6xNjTCqgxuGtXWFlQkzRhARUckwICZ6E8kzgfCNzzNG3FOVGRjnyxhRS6fNK0/3E9Px67EobPnvIbJzVRkj3KxVGSMGtawBmSEzRhARUemIdd2AFStWwM3NDTKZDF5eXjh79myhdeVyORYuXAgPDw/IZDI0a9YMe/fu1aizePFitG7dGubm5rCzs0P//v1x69YtjTpdu3aFSCTSeE2YMKFcro+oTGU8BY58DSxrDOz6VBUMG1cHuswAplwF+nxbZYPhyw+TMDH4Arp9exgbTkcjO1eJZjUs8dMHLRH2aVd84OXKYJiIiF6JTkeIN23ahKCgIKxatQpeXl5Yvnw5vL29cevWLdjZ2WnVnz17NjZs2IBff/0V9evXx759+zBgwACcPHkSLVq0AAAcOXIEEydOROvWrZGbm4vPPvsMPXv2xPXr12Fq+uKp+oCAACxcuFD93sSE8wypEnt2Hzi98nnGiAxVmVVN1bSI5h8ARlXz8ysIAo7eScDPRyJxMvJFxohu9WwxvosHvGpVZ8YIIiJ6bToNiJcuXYqAgACMGjUKALBq1Srs2rULa9aswYwZM7Tqr1+/HrNmzYKPjw8A4MMPP8SBAwewZMkSbNiwAQC0RozXrVsHOzs7nD9/Hp07d1aXm5iYwMHBobwujahMWGTchyRkPHA95EXGCIemqqWVq3DGCLlCiV2XH2PVkUjcjE0FABiIRXinuRPGdXZHfQdmjCAiorKjs9+mOTk5OH/+PGbOnKkuE4vF6N69O06dOlXgPtnZ2ZDJZBplxsbGOH78eKHnSU5OBgBUr15do3zjxo3YsGEDHBwc4Ovrizlz5hQ5SpydnY3s7Gz1+5QUVVonuVwOuVxe6H5lJe8cFXEu0jFBgOjeMYhPfodu946oi5W1ukLZbhIEt86qjBFKAVBWrc9DenYutlyIwdoT9/EoOQuAKmPE4FY1MLJdTThZGQOout8H/D7XT+x3/cM+rzglvcciQRCEcm5LgR49egRnZ2ecPHkS7dq1U5dPmzYNR44cwZkzZ7T2GTp0KC5duoSQkBB4eHggLCwM/fr1g0Kh0AhW8yiVSrzzzjtISkrSCJp/+eUXuLq6wsnJCZcvX8b06dPRpk0bbNu2rdD2zp8/HwsWLNAqDw4O5nQLKhMiQQHHpHOoE7cbVpn3AABKiPGoWhtE2Pkg2cRNp+0rT6ly4OhjMY7HipChUE2BMDcU0NlBiY4OAkyq5kA4ERGVs4yMDAwdOhTJycmwsCj8r4tv1K+Z7777DgEBAahfvz5EIhE8PDwwatQorFmzpsD6EydOxNWrV7VGkMeNG6f+ukmTJnB0dMTbb7+NyMhIeHh4FHismTNnIigoSP0+JSUFLi4u6NmzZ5E3uKzI5XKEhoaiR48eMDQ0LPfzUQWSZ0B86U+Iz6yEKOk+AEAwMEZu06E4nNUQHfoORYcq2uf3EzOw+sQ9bAt/pJExYkwHNwxo7gipnj0kx+9z/cR+1z/s84qT9xf94ugsILaxsYFEIkFcXJxGeVxcXKFze21tbRESEoKsrCwkJibCyckJM2bMgLu7u1bdwMBA/Pvvvzh69Chq1KhRZFu8vLwAABEREYUGxFKpFFKpVKvc0NCwQj/MFX0+KkfpicC5X4EzPwOZT1VlJtZAm/EQtR4LGFkgY/fuKtnnlx4k4eejkdhzNRZ5f6Nq5mKFD7u4o0dDB0jE+v2gXFXscyoe+13/sM/LX0nvr84CYiMjI3h6eiIsLAz9+/cHoJriEBYWhsDAwCL3lclkcHZ2hlwux9atW/H++++rtwmCgEmTJmH79u04fPgwatUqPgVVeHg4AMDR0fGVr4eoxJ7dA06tAC6sB3JVK6vByhVoP0kzY0QVm1smCAIO347Hz0cicTrqqbr8rfp2GN/ZHW2YMYKIiHREp1MmgoKC4O/vj1atWqFNmzZYvnw50tPT1VknRowYAWdnZyxevBgAcObMGcTExKB58+aIiYnB/PnzoVQqMW3aNPUxJ06ciODgYOzYsQPm5uaIjY0FAFhaWsLY2BiRkZEIDg6Gj48PrK2tcfnyZUyZMgWdO3dG06ZNK/4mkP54fEm1oty17YCgmh4Ax+aqjBEN3qnSGSN2XnqEX45GaWSM6NfcGeM6u6Oeg7mOW0hERPpOp7+BBw8ejPj4eMydOxexsbFo3rw59u7dC3t7ewBAdHQ0xOIXa4dkZWVh9uzZiIqKgpmZGXx8fLB+/XpYWVmp6/z0008AVItv5Ld27VqMHDkSRkZGOHDggDr4dnFxwaBBgzB79uxyv17SQ4IARB1SBcJRh1+Ue7ytCoRrPc8YUQWlZefir7PRWHP8rjpjhKmRBEO9amJ0x1pwtDTWcQuJiIhUdD4kFRgYWOgUicOHD2u879KlC65fv17k8YpLmuHi4oIjR44UWYfotSlyVbmDTywHYq+oykQSoPEgoMPHgEMTXbauXMWnZmPdybtYf+o+UrJyAQA2ZlKM7uiGD7xcYWnM+XJERFS56DwgJqpSctKBixuBUz8ASdGqMkMToKU/0O4j1epyVVRUfBp+PXYXWy88RM7zjBHuNqYY19kd/Vs4c1llIiKqtBgQE5WF9ATg7K/A2V/yZYywAbwmAK3HACbVi97/DXYx+hl+PhKFfddfZIxoUdMKE7p4oEcDe4j1PGMEERFVfgyIiV7H07uqjBEXN7zIGFGt1vOMEUMBw6o5T1YQBBy+FY9VRyJx5u6LjBHdG9hhfBcPtHKtxowRRET0xmBATPQqHl0ETnyvmieclzHCqQXQYTLQwBcQV83pATm5LzJG3IpTZYwwlIjQ/3nGiDr2zBhBRERvHgbERCUlCEDkQVXGiLv5Hsys3UOVMcKtY5XPGLH6+F08fp4xwkxqgA+8amJUh1pwsJTpuIVERESvjgExUXEUuarcwSe+A+KeZ4wQGwCN31VNjXBorNv2laMnqVlYd+Ie1p++j9TnGSPszKUY3bEWhnrVhIWMGSOIiOjNx4CYqDA56arV5E6tAJLzMkaYAp7+QNuPACsX3bavHEXGp+G3Y1HYej4GOQrVlBAPW1OM7+yBfi2cIDWomlNCiIhIPzEgJnpZWrwqW8S5X4HMZ6oyU1vAazzQqmpnjLgQ/Qw/H4nE/utx6owRnq7VMKGLB96ub8eMEUREVCUxICbK8zQKOPkjEL4RyFXNk0V1d9W0iGZ+VTZjhFIp4NCtJ/j5SBTO3nuRMaJHQ3uM7+yOVm5V9z8AREREAANiIiDmvCpjxI1/8mWMaAl0nAzU71ulM0bsCI/BL0ejcOdJGgBVxoiBLWogoHMt1LZjxggiItIPDIhJPwkCEBGmWlr53rEX5XV6qjJGuHaoshkjUrPk+PNsNNYcv4fYFNVIuLnUAEPb1sToDrVgb8GMEUREpF8YEJN+UciBq9tUGSOeXFOViQ2AJu+ppkbYN9Jt+8rRk5QsrDlxDxtP30dqtipjhL2FFKM71IIfM0YQEZEeY0BM+iE7DbjwhypjRMpDVZmRGeA5Emj7IWBZQ6fNK08RT9Lw69EobL/4ImNEbTszjOvsjn7NmTGCiIio1AGxm5sbRo8ejZEjR6JmzZrl0SaispP2BDjzM3DuNyArSVVmage0nQC0Gg0YV9Np88rT+ftPsepIFEKvx6nLWrtVw/jOHniLGSOIiIjUSh0QT548GevWrcPChQvRrVs3jBkzBgMGDIBUKi2P9hG9msRI4OQPQHgwoMhWlVX3ADp8DDQdAhhWzXmySqWAsJtP8PORSPx3X5UyTiQCejSwx/gu7vB0ZcYIIiKil71SQDx58mRcuHAB69atw6RJk/DRRx9h6NChGD16NFq2bFke7SQqmYfnVQ/K3dgJ4HkiXedWqowR9XyqbMaI7FwFdoQ/wi9HoxDxPGOEkUSMgS2dMbaTO2rbmem4hURERJXXK88hbtmyJVq2bIklS5Zg5cqVmD59On766Sc0adIEH3/8MUaNGgVRFX1KnyoZQQAiDgDHlwP3j78or9tLlTGiZrsqmzEiJUuOP89EY82Ju4hLUY2Em8sMMKytK0a1d4MdM0YQEREV65UDYrlcju3bt2Pt2rUIDQ1F27ZtMWbMGDx8+BCfffYZDhw4gODg4LJsK5Gm3Bzg6lbg5PfAk+uqMrEh0PR9VcYIuwa6bV85ikvJwpoTdxF8OlqdMcLBQoYxHWthSBsXmDNjBBERUYmVOiC+cOEC1q5diz///BNisRgjRozAsmXLUL9+fXWdAQMGoHXr1mXaUCK17FTg/O/A6ZVASoyqzMgcaDUS8PoQsHTWafPKU8STVPzyPGOEXKGaElLHzgzju3jgnWZOMDIQ67iFREREb55SB8StW7dGjx498NNPP6F///4wNNQeiapVqxaGDBlSJg0kUkuNA87mZYxIVpWZ2avSpnmOAoytdNq88vTfPVXGiAM3XmSMaFOrOiZ0cUfXuswYQURE9DpKHRBHRUXB1dW1yDqmpqZYu3btKzeKSENCBHDqByD8zxcZI6zrPM8YMRgwqJoZTpRKAVeeivD7r2dxIToJgGoqtHdDB4zr4o6WNatuyjgiIqKKVOqA+MmTJ4iNjYWXl5dG+ZkzZyCRSNCqVasyaxzpucwkIGwh8N8aqDNG1GijyhhRtzcgrrrTAy49SMJn2y/j2iMJgCQYGYgxqGUNBHSqBXdbZowgIiIqS6UOiCdOnIhp06ZpBcQxMTH43//+hzNnzpRZ40hPCQJweTOwfxaQHq8qq9sL6DAZcG2n06aVt+RMOb7ZdxMbz0RDEABjiYCRHdwxqpM77MyZMYKIiKg8lDogvn79eoG5hlu0aIHr16+XSaNIj8XfBnYFAfeOqd7b1AX6LAVqddJtu8qZIAjYEf4IX+y6joS0HADAgOaO8DR4gME96hQ4V5+IiIjKRqkDYqlUiri4OLi7u2uUP378GAYGr5zFjfSdPBM4tkSVS1gpBwxkQJdpQLtJgIGRrltXriLj0zAn5CpORiYCAGrbmeHzfo3RqqYFdu9+oOPWERERVX2ljmB79uyJmTNnYseOHbC0tAQAJCUl4bPPPkOPHj3KvIGkB+6EArunAs/uqd7X6Qn4fANUc9Nlq8pdllyBFYci8PORKOQolJAaiPHx23UQ0MkdRgZiyOVyXTeRiIhIL5Q6IP7222/RuXNnuLq6okWLFgCA8PBw2NvbY/369WXeQKrCUh4Be2cA13eo3ls4A72+Ahr4VtmV5fIcvvUEc3dcQ/TTDADAW/XtsOCdRnCpbqLjlhEREemfUgfEzs7OuHz5MjZu3IhLly7B2NgYo0aNgp+fH+c5UskoclX5hA8tAnLSAJFElUu460xAWrUzKMQmZ2Hhv9ew+0osAMDRUoZ5vo3g3cieS50TERHpyCtN+jU1NcW4cePKui2kDx6cA/6dAsRdUb2v0QbouwxwaKzbdpWzXIUSv5+6j6X7byE9RwGJWITRHdwwuXtdmEo5956IiEiXXvk38fXr1xEdHY2cnByN8nfeeee1G0VVUMZTIGyBasllCIDMCuixAGgxokrnEwaAC9HPMHv7VVx/nAIAaFnTCl8OaIIGjhY6bhkREREBr7hS3YABA3DlyhWIRCIIgmrBhLw/9yoUirJtIb3ZBAG49BewfzaQkaAqa/4B0GMhYGqj27aVs+QMOf637yb+PKvKKWxpbIiZvevj/VYuXGqZiIioEil1QPzJJ5+gVq1aCAsLQ61atXD27FkkJibi008/xbffflsebaQ3VfwtYNenL3IK29ZX5RR266DbdpUzQRCw7UIMFu2+gcR01V9Q3vWsgZm968ParGouM01ERPQmK3VAfOrUKRw8eBA2NjYQi8UQi8Xo2LEjFi9ejI8//hgXL14sj3bSmyQnAzj6DXDyh+c5hY2BrtOBthOrfE7hiCepmB1yFaejngIA6tiZ4Yv+jeHlbq3jlhEREVFhSh0QKxQKmJubAwBsbGzw6NEj1KtXD66urrh161aZN5DeMLf3qXIKJ0Wr3tftBfT+Gqjmqtt2lbPMHAV+PHQHvxyNglwhQGYoxidv18WYjrVgZFC150gTERG96UodEDdu3BiXLl1CrVq14OXlha+//hpGRkb45ZdftFavIz2S/FCVU/jGTtV7ixpA7/8B9ftU+ZzCB2/GYe6Oa3j4LBMA0L2BHeb5MqcwERHRm6LUAfHs2bORnp4OAFi4cCH69u2LTp06wdraGps2bSrzBlIlp5ADZ1YBhxYD8nRVTuF2E4Eu06t8TuHHyZlY8M917L2myinsZCnD/HcaoWcjBx23jIiIiEqj1AGxt7e3+uvatWvj5s2bePr0KapVq8aFBfRN9BlgVxAQd1X13qUt0HcpYN9It+0qZ7kKJdadvIelobeRkaOAgViEMR1r4eO36zCnMBER0RuoVJMb5XI5DAwMcPXqVY3y6tWrv3IwvGLFCri5uUEmk8HLywtnz54t8vwLFy6Eh4cHZDIZmjVrhr1795b6mFlZWZg4cSKsra1hZmaGQYMGIS4u7pXar5cyngL/TALW9FQFw8bVgHd+BEbtqfLB8Pn7z9D3h+P4YtcNZOQo0Mq1Gv79uCNm+jRgMExERPSGKlVAbGhoiJo1a5ZZruFNmzYhKCgI8+bNw4ULF9CsWTN4e3vjyZMnBdafPXs2fv75Z/zwww+4fv06JkyYgAEDBmhktijJMadMmYKdO3diy5YtOHLkCB49eoSBAweWyTVVaYIAXNwI/NgKuPCHqqzFMCDwPNByeJVeYCMpIwczt13GoJ9O4mZsKqxMDPH1oKbYPL4d6jtwgQ0iIqI3WakjmFmzZuGzzz7D06dPX/vkS5cuRUBAAEaNGoWGDRti1apVMDExwZo1awqsv379enz22Wfw8fGBu7s7PvzwQ/j4+GDJkiUlPmZycjJWr16NpUuX4q233oKnpyfWrl2LkydP4vTp0699TVXWkxvAWh9gx0dARiJg2wAYtRfotwIwrbopxQRBwN/nH+KtJUfw59kHAID3W9XAwU+74v3WXGCDiIioKij133h//PFHREREwMnJCa6urjA1NdXYfuHChRIdJycnB+fPn8fMmTPVZWKxGN27d8epU6cK3Cc7OxsymUyjzNjYGMePHy/xMc+fPw+5XI7u3bur69SvXx81a9bEqVOn0LZt20LPnZ2drX6fkqJahlcul0Mul5foml9H3jkq4lyaJ86A+PgSiE+vgEiZC8HQBMpO/wdlmwmAxBCo6PZUoDtxaZj37w2cu/cMAFDHzhQL32mIVq7VAJR/X+isz0ln2Of6if2uf9jnFaek97jUAXH//v1Lu0uBEhISoFAoYG9vr1Fub2+PmzdvFriPt7c3li5dis6dO8PDwwNhYWHYtm2begpHSY4ZGxsLIyMjWFlZadWJjY0ttL2LFy/GggULtMr3798PE5OKS68VGhpaYeeyT76Ipg/XwyRHteTyY8uWuFJjGDKf2QD7Kq4dFS1HAex7KMbBxyIoBRGMxAJ61VCiq2Mynlw7hd3XKrY9FdnnVDmwz/UT+13/sM/LX0ZGRonqlTognjdvXqkbU1a+++47BAQEoH79+hCJRPDw8MCoUaMKnWJRlmbOnImgoCD1+5SUFLi4uKBnz56wsCj/OaRyuRyhoaHo0aMHDA0Ny/dkyQ8h2f8ZxFG7AQCCRQ0ovBfDpm5vdCvfM+vcwVvx+PrfG4hJygIAdK9vi9l96sPZyrjC21KhfU6VAvtcP7Hf9Q/7vOLk/UW/ODp7LN7GxgYSiUQru0NcXBwcHArO42pra4uQkBBkZWUhMTERTk5OmDFjhnpBkJIc08HBATk5OUhKStIYJS7qvAAglUohlUq1yg0NDSv0w1yu51PIgdMrgcNfAfIMQGwAtAuEqMs0GBiZFr//GywmKRML/rmG/ddVnx1nK2PMf6cRejS0L2bP8lfRnzHSPfa5fmK/6x/2efkr6f0t9UN1YrEYEomk0FdJGRkZwdPTE2FhYeoypVKJsLAwtGvXrsh9ZTIZnJ2dkZubi61bt6Jfv34lPqanpycMDQ016ty6dQvR0dHFnrdKiz4N/NwZCJ2rCoZrtgfGHwN6LACqcDAsVyjxy9FIdF9yBPuvx8FALMKELh4IDepcKYJhIiIiKn+lHiHevn27xnu5XI6LFy/i999/L3CObVGCgoLg7++PVq1aoU2bNli+fDnS09MxatQoAMCIESPg7OyMxYsXAwDOnDmDmJgYNG/eHDExMZg/fz6USiWmTZtW4mNaWlpizJgxCAoKQvXq1WFhYYFJkyahXbt2hT5QV6WlJwIH5gIXN6jeG1cHen4BNB9a5Zdc/u/eU8zafhW34lIBAG3cquOLAY1R195cxy0jIiKiilTqgDhvNDa/d999F40aNcKmTZswZsyYEh9r8ODBiI+Px9y5cxEbG4vmzZtj79696ofioqOjIc6X2zYrKwuzZ89GVFQUzMzM4OPjg/Xr12tMfSjumACwbNkyiMViDBo0CNnZ2fD29sbKlStLeyvebEolEL5RNSKc+TyFXssRQPcFgEl13batnD1Lz8FXe25i03+qNGrVTAzxmU8DvOtZg6stEhER6aEym0Pctm1bjBs3rtT7BQYGIjAwsMBthw8f1njfpUsXXL9+/bWOCaimXKxYsQIrVqwoVVurjLhrwL9BwIPneZftGqmWXK5ZtUfIlUpVTuHFe27gWYYqDcuQ1i6Y3qs+qpka6bh1REREpCtlEhBnZmbi+++/h7Ozc1kcjspLTrrqgbnTKwFlLmBoCnSbCXg9zylchd2KTcXskCvqnML1HczxRf/GaOVWtUfDiYiIqHilDoirVaum8WdlQRCQmpoKExMTbNiwoUwbR2Xo5i5gz3QgWTVNAPX7Ar3/B1jW0G27yllGTi6+O3AHq4/fRa5SgImRBFO618XIDm4wlFTdpaaJiIio5EodEC9btkwjIBaLxbC1tYWXlxeqVatWpo2jMpAUDeyeBtzeo3pvWRPw+Qao10u37aoA+6/FYsHO64hJygQAeDeyxzzfRnDSQU5hIiIiqrxKHRCPHDmyHJpBZU4hB079CBz5+kVO4fYfA53/DzCquJX1dOHhswzM/+c6Dtx4kVN4Yb9GeLsB06gRERGRtlIHxGvXroWZmRnee+89jfItW7YgIyMD/v7+ZdY4ekX3TgC7goD450tgu3YA+iwF7Orrtl3lTK5Q4rdjd/F92B1kyhUwEIswrrM7Jr1VB8ZGJc+RTURERPql1AHx4sWL8fPPP2uV29nZYdy4cQyIdSk9QZVGLXyj6r2JtSqncDO/Kp9T+Ozdp5gdcgW349IAAG1qVceX/RujDnMKExERUTFKHRBHR0ejVq1aWuWurq6Ijo4uk0ZRKSmVwMX1wIF5QKYqiwI8RwJvz6vyOYUT07KxeM9N/H3+IQCguqkRZvk0wMCWzswpTERERCVS6oDYzs4Oly9fhpubm0b5pUuXYG1tXVbtopKKvQr8OwV4eFb13r4x0HcZ4NJGt+0qZ0qlgM3/PcBXe28i6XlOYb82NTG9Vz1YmTCnMBEREZVcqQNiPz8/fPzxxzA3N0fnzp0BAEeOHMEnn3yCIUOGlHkDqRDZacDhxcDpnwBBARiZAd0+A9qMByRltt5KpXTjcQpmh1zF+fsvcgp/OaAJPF2Z5YSIiIhKr9SR0+eff4579+7h7bffhoGBanelUokRI0Zg0aJFZd5AeokgADd2qnIKp8Soyhq8A/T6CrCs2gujpGfnYvmB21hz4h4USgGmRhJM6VEXI9u7wYA5hYmIiOgVlTogNjIywqZNm/DFF18gPDwcxsbGaNKkCVxdXcujfZSPSXY8JJuHAhGhqgIrV8DnW6BuT902rJwJgoB91+KwYOc1PE7OAgD0buyAub4N4WjJnMJERET0el75b+t16tRBnTp1yrItVJjcHIhPfIduN76GWMgBxIZAh4+BTlOrfE7hB08zMP+fawi7+QQA4FLdGAvfaYxu9e103DIiIiKqKkodEA8aNAht2rTB9OnTNcq//vprnDt3Dlu2bCmzxtFzjy5AcvgLAIDStQPEfZcBtvV026ZylpOrxK/HovDDwTvIkithKFHlFA7sxpzCREREVLZKHRAfPXoU8+fP1yrv3bs3lixZUhZtopfVbAtFmwkIjxPQ9IMvIDaq2lkUTkclYnbIVUQ8UeUUbuteHV/0b4zadswpTERERGWv1AFxWloajAoIyAwNDZGSklImjSJtyh5f4OHu3WhahXPrJqRlY9HuG9h2QfWwoLWpEWb1aYABLZhTmIiIiMpPqR/Nb9KkCTZt2qRV/tdff6Fhw4Zl0ijSL0qlgOAz0Xh7yRFsuxADkQj4wKsmDn7aFQNb1mAwTEREROWq1CPEc+bMwcCBAxEZGYm33noLABAWFobg4GD8/fffZd5AqtquP0rBrJAruBidBABo6GiBLwc0RouazClMREREFaPUAbGvry9CQkKwaNEi/P333zA2NkazZs1w8OBBVK9etZcJprKTlp2LZaG3se7ki5zCn/ashxHtXJlTmIiIiCrUK6Vd69OnD/r06QMASElJwZ9//ompU6fi/PnzUCgUZdpAqloEQcDeq7FYsPM6YlNUOYX7NHHEnL4N4WAp03HriIiISB+9ch7io0ePYvXq1di6dSucnJwwcOBArFixoizbRlVMdGIG5v5zFYdvxQMAalY3wcJ+jdC1HnMKExERke6UKiCOjY3FunXrsHr1aqSkpOD9999HdnY2QkJC+EAdFSo7V4Ffj0bhh4MRyM5V5RT+sIsHPupWGzJD5hQmIiIi3SpxQOzr64ujR4+iT58+WL58OXr16gWJRIJVq1aVZ/voDXcyMgGzQ64iKj4dANDewxqf928MD1szHbeMiIiISKXEAfGePXvw8ccf48MPP+SSzVSs+FRVTuHtF1U5hW3MjDCnb0O808yJadSIiIioUinx4/zHjx9HamoqPD094eXlhR9//BEJCQnl2TZ6AymVAjacvo+3lxzG9ouqnMLD27oi7NOu6NecC2wQERFR5VPigLht27b49ddf8fjxY4wfPx5//fUXnJycoFQqERoaitTU1PJsJ70BrsYkY8BPJzE75CpSsnLR2NkC2z/qgM/7N4alsaGum0dERERUoFInfDU1NcXo0aNx/PhxXLlyBZ9++im++uor2NnZ4Z133imPNlIll5olx4Kd1/DOj8dx6UESzKQGmO/bEDsmdkRzFytdN4+IiIioSK+1AkK9evXw9ddf4+HDh/jzzz/Lqk30hhAEAf9efoTuS49g7Yl7UApA36aOCPu0C0Z2qAWJmNMjiIiIqPJ75TzE+UkkEvTv3x/9+/cvi8PRG+B+Yjrm7LiGo7dVOYVdrU3web/G6FzXVsctIyIiIiqdMgmISX9k5yrw85Eo/HgoAjm5ShhJxPiwqwc+7OrBnMJERET0RmJATCV2IiIBc0KuIipBlVO4Y20bLOzXCO7MKUxERERvMAbEVKwnqVn4ctcN7Ah/BACwNZdiTt+G8G3qyDRqRERE9MZjQEyFUigFbDxzH9/su4XUrFyIRMCItq741LseLGRMo0ZERERVAwNiKtCVh8mYFXIFlx8mAwCaOFviywGN0bSGlW4bRkRERFTGGBCThpQsOZbuv40/TqnSqJlLDfB/verhAy9XplEjIiKiKokBMQHIyyn8GAv/vY741GwAwDvNnDC7TwPYWch03DoiIiKi8sOAmHA3IR1zd1zFsTsJAIBaNqb4vF9jdKxjo+OWEREREZU/BsR6LEuuwKojkVh5OFKVU9hAjIlda2N8F3fmFCYiIiK98VpLN5eFFStWwM3NDTKZDF5eXjh79myR9ZcvX4569erB2NgYLi4umDJlCrKystTb3dzcIBKJtF4TJ05U1+natavW9gkTJpTbNVZGx+7Eo9fyo1h+4A5ycpXoVMcG+yd3xifd6zAYJiIiIr2i0xHiTZs2ISgoCKtWrYKXlxeWL18Ob29v3Lp1C3Z2dlr1g4ODMWPGDKxZswbt27fH7du3MXLkSIhEIixduhQAcO7cOSgUCvU+V69eRY8ePfDee+9pHCsgIAALFy5UvzcxMSmnq6xcnqRk4fNdN7DzkiqnsJ25FHN9G6JPE+YUJiIiIv2k04B46dKlCAgIwKhRowAAq1atwq5du7BmzRrMmDFDq/7JkyfRoUMHDB06FIBqNNjPzw9nzpxR17G1tdXY56uvvoKHhwe6dOmiUW5iYgIHB4eyvqRKS6EUsOH0fXy77xZSs3MhFgEj2rnh0551Yc6cwkRERKTHdBYQ5+Tk4Pz585g5c6a6TCwWo3v37jh16lSB+7Rv3x4bNmzA2bNn0aZNG0RFRWH37t0YPnx4oefYsGEDgoKCtEY/N27ciA0bNsDBwQG+vr6YM2dOkaPE2dnZyM7OVr9PSUkBAMjlcsjl8hJf96vKO8ernOtKTDLm/nMDVx+p2tzU2QIL32mIRk4Wr3xMKn+v0+f0ZmKf6yf2u/5hn1eckt5jnQXECQkJUCgUsLe31yi3t7fHzZs3C9xn6NChSEhIQMeOHSEIAnJzczFhwgR89tlnBdYPCQlBUlISRo4cqXUcV1dXODk54fLly5g+fTpu3bqFbdu2FdrexYsXY8GCBVrl+/fvr9DpFqGhoSWum5EL7I4W43icCAJEMJYI6FtTifb2T3E//Djuh5dfO6nslKbPqWpgn+sn9rv+YZ+Xv4yMjBLVEwmCIJRzWwr06NEjODs74+TJk2jXrp26fNq0aThy5IjGNIg8hw8fxpAhQ/DFF1/Ay8sLERER+OSTTxAQEIA5c+Zo1ff29oaRkRF27txZZFsOHjyIt99+GxEREfDw8CiwTkEjxC4uLkhISICFhUVJL/uVyeVyhIaGokePHjA0LHqKgyAI2Hk5Fov33kJCWg4A4J2mjpjRqy5szaXl3lYqG6Xpc6oa2Of6if2uf9jnFSclJQU2NjZITk4uMl7T2QixjY0NJBIJ4uLiNMrj4uIKnds7Z84cDB8+HGPHjgUANGnSBOnp6Rg3bhxmzZoFsfhF0oz79+/jwIEDRY765vHy8gKAIgNiqVQKqVQ7mDQ0NKzQD3Nx54uKT8OcHVdxIiIRAOBuY4ov+jdG+9rMKfymqujPGOke+1w/sd/1D/u8/JX0/uos7ZqRkRE8PT0RFhamLlMqlQgLC9MYMc4vIyNDI+gFAIlElSLs5YHutWvXws7ODn369Cm2LeHh4QAAR0fH0lxCpZIlV2Bp6G30Wn4MJyISYWQgxqc96mLP5E4MhomIiIiKoNMsE0FBQfD390erVq3Qpk0bLF++HOnp6eqsEyNGjICzszMWL14MAPD19cXSpUvRokUL9ZSJOXPmwNfXVx0YA6rAeu3atfD394eBgeYlRkZGIjg4GD4+PrC2tsbly5cxZcoUdO7cGU2bNq24iy9DR27HY+6Oq7ifqJon06WuLRb2awRXa1Mdt4yIiIio8tNpQDx48GDEx8dj7ty5iI2NRfPmzbF37171g3bR0dEaI8KzZ8+GSCTC7NmzERMTA1tbW/j6+uLLL7/UOO6BAwcQHR2N0aNHa53TyMgIBw4cUAffLi4uGDRoEGbPnl2+F1sO4lKysPDf69h1+TEAwN5Cinm+jdC7sQNzChMRERGVkM6Xbg4MDERgYGCB2w4fPqzx3sDAAPPmzcO8efOKPGbPnj21plDkcXFxwZEjR16prZVFrkKJP07dx9LQ20h7nlN4ZPtamNKjDnMKExEREZWSzgNiKp1LD5Mxb+cNXHueU7i5ixW+6N8YjZ0tddwyIiIiojcTA+I3RHKmHJujxDh5+gwEAbCQGWB67/rwa10TYjGnRxARERG9KgbEb4DLD5Mwau05JKar5lMPbOGMmT4NmFOYiIiIqAwwIH4DuNuawUAigr2xgG+HtEanevbF70REREREJcKA+A1gJjXAWn9P3Dh7FG3dq+u6OURERERVis4W5qDSqWNnBgP2FhEREVGZY4hFRERERHqNATERERER6TUGxERERESk1xgQExEREZFeY0BMRERERHqNATERERER6TUGxERERESk1xgQExEREZFeY0BMRERERHqNATERERER6TUGxERERESk1xgQExEREZFeY0BMRERERHqNATERERER6TUGxERERESk1xgQExEREZFeY0BMRERERHqNATERERER6TUGxERERESk1xgQExEREZFeY0BMRERERHqNATERERER6TUGxERERESk1xgQExEREZFeY0BMRERERHqNATERERER6TUGxERERESk1xgQExEREZFeY0BMRERERHqNATERERER6TUGxERERESk1xgQExEREZFe03lAvGLFCri5uUEmk8HLywtnz54tsv7y5ctRr149GBsbw8XFBVOmTEFWVpZ6+/z58yESiTRe9evX1zhGVlYWJk6cCGtra5iZmWHQoEGIi4srl+sjIiIiospNpwHxpk2bEBQUhHnz5uHChQto1qwZvL298eTJkwLrBwcHY8aMGZg3bx5u3LiB1atXY9OmTfjss8806jVq1AiPHz9Wv44fP66xfcqUKdi5cye2bNmCI0eO4NGjRxg4cGC5XScRERERVV4Gujz50qVLERAQgFGjRgEAVq1ahV27dmHNmjWYMWOGVv2TJ0+iQ4cOGDp0KADAzc0Nfn5+OHPmjEY9AwMDODg4FHjO5ORkrF69GsHBwXjrrbcAAGvXrkWDBg1w+vRptG3btsD9srOzkZ2drX6fkpICAJDL5ZDL5aW88tLLO0dFnIsqB/a5/mGf6yf2u/5hn1eckt5jnQXEOTk5OH/+PGbOnKkuE4vF6N69O06dOlXgPu3bt8eGDRtw9uxZtGnTBlFRUdi9ezeGDx+uUe/OnTtwcnKCTCZDu3btsHjxYtSsWRMAcP78ecjlcnTv3l1dv379+qhZsyZOnTpVaEC8ePFiLFiwQKt8//79MDExKfX1v6rQ0NAKOxdVDuxz/cM+10/sd/3DPi9/GRkZJaqns4A4ISEBCoUC9vb2GuX29va4efNmgfsMHToUCQkJ6NixIwRBQG5uLiZMmKAxZcLLywvr1q1DvXr18PjxYyxYsACdOnXC1atXYW5ujtjYWBgZGcHKykrrvLGxsYW2d+bMmQgKClK/T0lJgYuLC3r27AkLC4tXuAOlI5fLERoaih49esDQ0LDcz0e6xz7XP+xz/cR+1z/s84qT9xf94uh0ykRpHT58GIsWLcLKlSvh5eWFiIgIfPLJJ/j8888xZ84cAEDv3r3V9Zs2bQovLy+4urpi8+bNGDNmzCufWyqVQiqVapUbGhpW6Ie5os9Husc+1z/sc/3Eftc/7PPyV9L7q7OA2MbGBhKJRCu7Q1xcXKHzf+fMmYPhw4dj7NixAIAmTZogPT0d48aNw6xZsyAWaz8jaGVlhbp16yIiIgIA4ODggJycHCQlJWmMEhd1XiIiIiKqunSWZcLIyAienp4ICwtTlymVSoSFhaFdu3YF7pORkaEV9EokEgCAIAgF7pOWlobIyEg4OjoCADw9PWFoaKhx3lu3biE6OrrQ8xIRERFR1aXTKRNBQUHw9/dHq1at0KZNGyxfvhzp6enqrBMjRoyAs7MzFi9eDADw9fXF0qVL0aJFC/WUiTlz5sDX11cdGE+dOhW+vr5wdXXFo0ePMG/ePEgkEvj5+QEALC0tMWbMGAQFBaF69eqwsLDApEmT0K5du0IfqCMiIiKiqkunAfHgwYMRHx+PuXPnIjY2Fs2bN8fevXvVD9pFR0drjAjPnj0bIpEIs2fPRkxMDGxtbeHr64svv/xSXefhw4fw8/NDYmIibG1t0bFjR5w+fRq2trbqOsuWLYNYLMagQYOQnZ0Nb29vrFy5suIunIiIiIgqDZ0/VBcYGIjAwMACtx0+fFjjvYGBAebNm4d58+YVery//vqr2HPKZDKsWLECK1asKFVbiYiIiKjq0fnSzUREREREusSAmIiIiIj0GgNiIiIiItJrDIiJiIiISK8xICYiIiIivcaAmIiIiIj0GgNiIiIiItJrDIiJiIiISK8xICYiIiIivcaAmIiIiIj0GgNiIiIiItJrDIiJiIiISK8xICYiIiIivcaAmIiIiIj0GgNiIiIiItJrDIiJiIiISK8xICYiIiIivcaAmIiIiIj0GgNiIiIiItJrDIiJiIiISK8xICYiIiIivcaAmIiIiIj0GgNiIiIiItJrDIiJiIiISK8xICYiIiIivcaAmIiIiIj0GgNiIiIiItJrDIiJiIiISK8xICYiIiIivcaAmIiIiIj0GgNiIiIiItJrDIiJiIiISK8xICYiIiIivcaAmIiIiIj0GgNiIiIiItJrDIiJiIiISK8xICYiIiIivabzgHjFihVwc3ODTCaDl5cXzp49W2T95cuXo169ejA2NoaLiwumTJmCrKws9fbFixejdevWMDc3h52dHfr3749bt25pHKNr164QiUQarwkTJpTL9RERERFR5abTgHjTpk0ICgrCvHnzcOHCBTRr1gze3t548uRJgfWDg4MxY8YMzJs3Dzdu3MDq1auxadMmfPbZZ+o6R44cwcSJE3H69GmEhoZCLpejZ8+eSE9P1zhWQEAAHj9+rH59/fXX5XqtRERERFQ5Gejy5EuXLkVAQABGjRoFAFi1ahV27dqFNWvWYMaMGVr1T548iQ4dOmDo0KEAADc3N/j5+eHMmTPqOnv37tXYZ926dbCzs8P58+fRuXNndbmJiQkcHBzK47KIiIiI6A2is4A4JycH58+fx8yZM9VlYrEY3bt3x6lTpwrcp3379tiwYQPOnj2LNm3aICoqCrt378bw4cMLPU9ycjIAoHr16hrlGzduxIYNG+Dg4ABfX1/MmTMHJiYmhR4nOzsb2dnZ6vcpKSkAALlcDrlcXvwFv6a8c1TEuahyYJ/rH/a5fmK/6x/2ecUp6T3WWUCckJAAhUIBe3t7jXJ7e3vcvHmzwH2GDh2KhIQEdOzYEYIgIDc3FxMmTNCYMpGfUqnE5MmT0aFDBzRu3FjjOK6urnBycsLly5cxffp03Lp1C9u2bSu0vYsXL8aCBQu0yvfv319kIF3WQkNDK+xcVDmwz/UP+1w/sd/1D/u8/GVkZJSonk6nTJTW4cOHsWjRIqxcuRJeXl6IiIjAJ598gs8//xxz5szRqj9x4kRcvXoVx48f1ygfN26c+usmTZrA0dERb7/9NiIjI+Hh4VHguWfOnImgoCD1+5SUFLi4uKBnz56wsLAooyssnFwuR2hoKHr06AFDQ8NyPx/pHvtc/7DP9RP7Xf+wzytO3l/0i6OzgNjGxgYSiQRxcXEa5XFxcYXO7Z0zZw6GDx+OsWPHAlAFs+np6Rg3bhxmzZoFsfjFM4KBgYH4999/cfToUdSoUaPItnh5eQEAIiIiCg2IpVIppFKpVrmhoWGFfpgr+nyke+xz/cM+10/sd/3DPi9/Jb2/OssyYWRkBE9PT4SFhanLlEolwsLC0K5duwL3ycjI0Ah6AUAikQAABEFQ/xsYGIjt27fj4MGDqFWrVrFtCQ8PBwA4Ojq+yqUQERER0RtMp1MmgoKC4O/vj1atWqFNmzZYvnw50tPT1VknRowYAWdnZyxevBgA4Ovri6VLl6JFixbqKRNz5syBr6+vOjCeOHEigoODsWPHDpibmyM2NhYAYGlpCWNjY0RGRiI4OBg+Pj6wtrbG5cuXMWXKFHTu3BlNmzbVzY0gIiIiIp3RaUA8ePBgxMfHY+7cuYiNjUXz5s2xd+9e9YN20dHRGiPCs2fPhkgkwuzZsxETEwNbW1v4+vriyy+/VNf56aefAKgW38hv7dq1GDlyJIyMjHDgwAF18O3i4oJBgwZh9uzZ5X/BRERERFTp6PyhusDAQAQGBha47fDhwxrvDQwMMG/ePMybN6/Q4+VNnSiMi4sLjhw5Uup2EhEREVHVpPOlm4mIiIiIdIkBMRERERHpNQbERERERKTXGBATERERkV5jQExEREREeo0BMRERERHpNQbERERERKTXGBATERERkV5jQExEREREeo0BMRERERHpNQbERERERKTXGBATERERkV5jQExEREREeo0BMRERERHpNQbERERERKTXGBATERERkV5jQExEREREeo0BMRERERHpNQbERERERKTXGBATERERkV5jQExEREREeo0BMRERERHpNQbERERERKTXGBATERERkV5jQExEREREeo0BMRERERHpNQbERERERKTXGBATERERkV5jQExEREREeo0BMRERERHpNQbERERERKTXGBATERERkV5jQExERP/f3t3HVFU/cBx/X4iHC4IpyIOmQeV8IB9BEbBWykQqmkWZSoZUOgtJvasFJKLzgewBWSGYDv0HTbNmmVOb0dJ8GgRhOlFrLnU6QNIUcSJx+f3Rfne7P820n5eDnM9ruxv3e88953P4ju3D2feeKyJiairEIiIiImJqKsQiIiIiYmoqxCIiIiJiairEIiIiImJqhhfiFStWEBYWhre3N9HR0ZSXl990+4KCAvr164fVaqV3797MnTuXq1ev3tY+r169Snp6OgEBAXTp0oXk5GTq6uru+LmJiIiISMdnaCHeuHEjNpuN3NxcqqqqGDJkCAkJCdTX199w+/Xr15OZmUlubi41NTWUlJSwceNGsrOzb2ufc+fO5euvv2bTpk3s2rWLs2fP8uyzz7r8fEVERESk4zG0EOfn5zN9+nTS0tIYOHAgK1euxMfHhzVr1txw+3379hEXF8eUKVMICwtj3LhxTJ482ekK8D/t8+LFi5SUlJCfn8+YMWOIjIxk7dq17Nu3jwMHDrTLeYuIiIhIx3GPUQe+du0alZWVZGVlOcbc3NyIj49n//79N3xPbGwspaWllJeXM3LkSE6cOMG2bduYOnXqLe+zsrKSlpYW4uPjHdv079+fPn36sH//fkaNGnXDYzc3N9Pc3Ox4fvHiRQDOnz9PS0vLv/wt3LqWlhauXLnC77//joeHh8uPJ8bTnJuP5tycNO/mozlvP42NjQC0tbXddDvDCnFDQwOtra0EBwc7jQcHB3P06NEbvmfKlCk0NDQwevRo2tra+PPPP5k5c6ZjycSt7LO2thZPT0/uvffe67apra3927x5eXksXLjwuvHw8PB/PFcRERERMU5jYyNdu3b929cNK8T/xvfff8/SpUspKioiOjqaX3/9ldmzZ7No0SJycnJceuysrCxsNpvjud1u5/z58wQEBGCxWFx6bIBLly7Ru3dvTp8+jb+/v8uPJ8bTnJuP5tycNO/mozlvP21tbTQ2NtKzZ8+bbmdYIQ4MDMTd3f26uzvU1dUREhJyw/fk5OQwdepUXn31VQAGDRpEU1MTM2bM4J133rmlfYaEhHDt2jX++OMPp6vENzsugJeXF15eXk5j/3uVuT34+/vrj8dkNOfmozk3J827+WjO28fNrgz/l2EfqvP09CQyMpKysjLHmN1up6ysjJiYmBu+58qVK7i5OUd2d3cH/voP4Fb2GRkZiYeHh9M2x44d49SpU397XBERERHpvAxdMmGz2UhNTSUqKoqRI0dSUFBAU1MTaWlpALz00kv06tWLvLw8AJKSksjPz2fYsGGOJRM5OTkkJSU5ivE/7bNr16688sor2Gw2unfvjr+/PxkZGcTExPztB+pEREREpPMytBC/8MILnDt3jvnz51NbW8vQoUPZsWOH40Nxp06dcroiPG/ePCwWC/PmzePMmTP06NGDpKQklixZcsv7BFi+fDlubm4kJyfT3NxMQkICRUVF7Xfi/4KXlxe5ubnXLduQzktzbj6ac3PSvJuP5rzjsbT9030oREREREQ6McO/ullERERExEgqxCIiIiJiairEIiIiImJqKsQiIiIiYmoqxHeBFStWEBYWhre3N9HR0ZSXlxsdSVwoLy+PESNG4OfnR1BQEBMmTODYsWNGx5J29O6772KxWJgzZ47RUcSFzpw5w4svvkhAQABWq5VBgwbx448/Gh1LXKi1tZWcnBzCw8OxWq08+OCDLFq0CN3fwHgqxB3cxo0bsdls5ObmUlVVxZAhQ0hISKC+vt7oaOIiu3btIj09nQMHDrBz505aWloYN24cTU1NRkeTdlBRUcEnn3zC4MGDjY4iLnThwgXi4uLw8PBg+/btHDlyhA8//JBu3boZHU1caNmyZRQXF1NYWEhNTQ3Lli3jvffe4+OPPzY6munptmsdXHR0NCNGjKCwsBD465v3evfuTUZGBpmZmQank/Zw7tw5goKC2LVrF48++qjRccSFLl++zPDhwykqKmLx4sUMHTqUgoICo2OJC2RmZrJ3715++OEHo6NIO3rqqacIDg6mpKTEMZacnIzVaqW0tNTAZKIrxB3YtWvXqKysJD4+3jHm5uZGfHw8+/fvNzCZtKeLFy8C0L17d4OTiKulp6fz5JNPOv3NS+e0ZcsWoqKieP755wkKCmLYsGGsXr3a6FjiYrGxsZSVlXH8+HEADh48yJ49e0hMTDQ4mRj6TXVycw0NDbS2tjp9yx5AcHAwR48eNSiVtCe73c6cOXOIi4vj4YcfNjqOuNCGDRuoqqqioqLC6CjSDk6cOEFxcTE2m43s7GwqKip444038PT0JDU11eh44iKZmZlcunSJ/v374+7uTmtrK0uWLCElJcXoaKanQizSgaWnp3P48GH27NljdBRxodOnTzN79mx27tyJt7e30XGkHdjtdqKioli6dCkAw4YN4/Dhw6xcuVKFuBP77LPPWLduHevXryciIoLq6mrmzJlDz549Ne8GUyHuwAIDA3F3d6eurs5pvK6ujpCQEINSSXuZNWsWW7duZffu3dx3331GxxEXqqyspL6+nuHDhzvGWltb2b17N4WFhTQ3N+Pu7m5gQrnTQkNDGThwoNPYgAED+OKLLwxKJO3hrbfeIjMzk0mTJgEwaNAgTp48SV5engqxwbSGuAPz9PQkMjKSsrIyx5jdbqesrIyYmBgDk4krtbW1MWvWLDZv3sx3331HeHi40ZHExcaOHcuhQ4eorq52PKKiokhJSaG6ulpluBOKi4u77naKx48f5/777zcokbSHK1eu4ObmXL3c3d2x2+0GJZL/0hXiDs5ms5GamkpUVBQjR46koKCApqYm0tLSjI4mLpKens769ev56quv8PPzo7a2FoCuXbtitVoNTieu4Ofnd90acV9fXwICArR2vJOaO3cusbGxLF26lIkTJ1JeXs6qVatYtWqV0dHEhZKSkliyZAl9+vQhIiKCn376ifz8fF5++WWjo5mebrt2FygsLOT999+ntraWoUOH8tFHHxEdHW10LHERi8Vyw/G1a9cybdq09g0jhnnsscd027VObuvWrWRlZfHLL78QHh6OzWZj+vTpRscSF2psbCQnJ4fNmzdTX19Pz549mTx5MvPnz8fT09PoeKamQiwiIiIipqY1xCIiIiJiairEIiIiImJqKsQiIiIiYmoqxCIiIiJiairEIiIiImJqKsQiIiIiYmoqxCIiIiJiairEIiIiImJqKsQiInJbLBYLX375pdExRETuGBViEZG7yLRp07BYLNc9xo8fb3Q0EZG71j1GBxARkdszfvx41q5d6zTm5eVlUBoRkbufrhCLiNxlvLy8CAkJcXp069YN+Gs5Q3FxMYmJiVitVh544AE+//xzp/cfOnSIMWPGYLVaCQgIYMaMGVy+fNlpmzVr1hAREYGXlxehoaHMmjXL6fWGhgaeeeYZfHx86Nu3L1u2bHG8duHCBVJSUujRowdWq5W+ffteV+BFRDoSFWIRkU4mJyeH5ORkDh48SEpKCpMmTaKmpgaApqYmEhIS6NatGxUVFWzatIlvv/3WqfAWFxeTnp7OjBkzOHToEFu2bOGhhx5yOsbChQuZOHEiP//8M0888QQpKSmcP3/ecfwjR46wfft2ampqKC4uJjAwsP1+ASIit8nS1tbWZnQIERG5NdOmTaO0tBRvb2+n8ezsbLKzs7FYLMycOZPi4mLHa6NGjWL48OEUFRWxevVq3n77bU6fPo2vry8A27ZtIykpibNnzxIcHEyvXr1IS0tj8eLFN8xgsViYN28eixYtAv4q2V26dGH79u2MHz+ep59+msDAQNasWeOi34KIyJ2lNcQiIneZxx9/3KnwAnTv3t3xc0xMjNNrMTExVFdXA1BTU8OQIUMcZRggLi4Ou93OsWPHsFgsnD17lrFjx940w+DBgx0/+/r64u/vT319PQCvvfYaycnJVFVVMW7cOCZMmEBsbOy/OlcRkfagQiwicpfx9fW9bgnDnWK1Wm9pOw8PD6fnFosFu90OQGJiIidPnmTbtm3s3LmTsWPHkp6ezgcffHDH84qI3AlaQywi0skcOHDguucDBgwAYMCAARw8eJCmpibH63v37sXNzY1+/frh5+dHWFgYZWVl/1eGHj16kJqaSmlpKQUFBaxater/2p+IiCvpCrGIyF2mubmZ2tpap7F77rnH8cG1TZs2ERUVxejRo1m3bh3l5eWUlJQAkJKSQm5uLqmpqSxYsIBz586RkZHB1KlTCQ4OBmDBggXMnDmToKAgEhMTaWxsZO/evWRkZNxSvvnz5xMZGUlERATNzc1s3brVUchFRDoiFWIRkbvMjh07CA0NdRrr168fR48eBf66A8SGDRt4/fXXCQ0N5dNPP2XgwIEA+Pj48M033zB79mxGjBiBj48PycnJ5OfnO/aVmprK1atXWb58OW+++SaBgYE899xzt5zP09OTrKwsfvvtN6xWK4888ggbNmy4A2cuIuIausuEiEgnYrFY2Lx5MxMmTDA6iojIXUNriEVERETE1FSIRURERMTUtIZYRKQT0So4EZHbpyvEIiIiImJqKsQiIiIiYmoqxCIiIiJiairEIiIiImJqKsQiIiIiYmoqxCIiIiJiairEIiIiImJqKsQiIiIiYmr/AQ3HjYBJhL/r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data:image/png;base64,iVBORw0KGgoAAAANSUhEUgAAAsQAAAHWCAYAAABwo5+OAAAAOnRFWHRTb2Z0d2FyZQBNYXRwbG90bGliIHZlcnNpb24zLjEwLjAsIGh0dHBzOi8vbWF0cGxvdGxpYi5vcmcvlHJYcgAAAAlwSFlzAAAPYQAAD2EBqD+naQAAlPFJREFUeJzs3XdYU9f/B/B3EiBho2wQQXBvRcU9WhVFqautYlVcqK3YKvXnqNu22m9bR4fWDker0qpVsdaJuLdVcS9ARVEQUPYKyf39EYnEMBUIkvfrefJIzj333nPvCfDxcO7niARBEEBEREREpKfEum4AEREREZEuMSAmIiIiIr3GgJiIiIiI9BoDYiIiIiLSawyIiYiIiEivMSAmIiIiIr3GgJiIiIiI9BoDYiIiIiLSawyIiYiIiEivMSAmKiMjR46Em5vbK+07f/58iESism1QJXPv3j2IRCKsW7euws8tEokwf/589ft169ZBJBLh3r17xe7r5uaGkSNHlml7XuezQpXDgwcPIJPJcOLEiVfa/86dO+jZsycsLS0hEokQEhICADh37hzat28PU1NTiEQihIeHv/LPh65du6Jr166v1D7SNGTIELz//vu6bgaVIwbEVOWJRKISvQ4fPqzrpuq9jz/+GCKRCBEREYXWmTVrFkQiES5fvlyBLSu9R48eYf78+QgPD9d1Uwp048YNiEQiyGQyJCUl6bo5b5yFCxfCy8sLHTp0UJeNHDmy0J8vMplMY39/f39cuXIFX375JdavX49WrVpBLpfjvffew9OnT7Fs2TKsX78erq6uFX1ppXLy5EnMnz+/wM+Qm5sbRCIRJk2apLXt8OHDEIlE+Pvvv0t9zoK+t+RyOWxsbNCxY8dC9xMEAS4uLmjZsiUA4ObNm5g2bRqaN28Oc3NzODo6ok+fPvjvv/+09p0+fTq2bt2KS5culbq99IYQiKq49evXa7x69OghANAqj42Nfa3z5OTkCFlZWa+0r1wuFzIzM1/r/JXd3bt3BQDC2rVrC61z+vRpAYCwYMGCQuvUqlVLaNKkSanODUCYN2+e+n1ubq6QmZkpKJXKYvd1dXUV/P39S3U+QRCEc+fOFXq9r/NZKSufffaZ4ODgIEilUuHXX3/VaVveNE+ePBEMDQ2F4OBgjXJ/f39BKpVq/WxZv369Rt2MjAwBgDBr1iyN/W/cuCEA0OqPV/35kJ2dLWRnZ5d6v9L45ptvBADC3bt3tba5uroKAASpVCrExMRobDt06JAAQNiyZUupz1nY99aECRMEkUgk3Lt3r8D9Dh8+LAAQlixZIgiCIHz66aeClZWVMGbMGOHnn38Wvv76a8HDw0OQSCRCaGio1v5t2rQRhg8fXur20pvBQDdhOFHFGTZsmMb706dPIzQ0VKv8ZRkZGTAxMSnxeQwNDV+pfQBgYGAAAwN+O3p5eaF27dr4888/MXfuXK3tp06dwt27d/HVV1+91nkkEgkkEslrHeN1vM5npSwIgoDg4GAMHToUd+/excaNGzF27Fidtqkw6enpMDU11XUzNGzYsAEGBgbw9fXV2mZgYFDsz5b4+HgAgJWVlUb5kydPCix/1Z8PRkZGpd6nrDVq1Ai3bt3CV199he+//75cz/XBBx9g1apV+PPPPzFjxgyt7cHBwRCLxRgyZAgAwM/PD/Pnz4eZmZm6zujRo9GgQQPMnz8f3bt319j//fffx7x587By5UqNfahq4JQJIqjm2jVu3Bjnz59H586dYWJigs8++wwAsGPHDvTp0wdOTk6QSqXw8PDA559/DoVCoXGMl+eF5s2Z/fbbb/HLL7/Aw8MDUqkUrVu3xrlz5zT2LWiOoEgkQmBgIEJCQtC4cWNIpVI0atQIe/fu1Wr/4cOH0apVK8hkMnh4eODnn38u8bzDY8eO4b333kPNmjUhlUrh4uKCKVOmIDMzU+v6zMzMEBMTg/79+8PMzAy2traYOnWq1r1ISkrCyJEjYWlpCSsrK/j7+5f4z/IffPABbt68iQsXLmhtCw4Ohkgkgp+fH3JycjB37lx4enrC0tISpqam6NSpEw4dOlTsOQqaQywIAr744gvUqFEDJiYm6NatG65du6a179OnTzF16lQ0adIEZmZmsLCwQO/evTX+lHr48GG0bt0aADBq1Cj1n83z5k8XNIc4PT0dn376KVxcXCCVSlGvXj18++23EARBo15pPheFOXHiBO7du4chQ4ZgyJAhOHr0KB4+fKhVT6lU4rvvvkOTJk0gk8lga2uLXr16af1JecOGDWjTpg1MTExQrVo1dO7cGfv379doc/453Hlenp+d1y9HjhzBRx99BDs7O9SoUQMAcP/+fXz00UeoV68ejI2NYW1tjffee6/AeeBJSUmYMmUK3NzcIJVKUaNGDYwYMQIJCQlIS0uDqakpPvnkE639Hj58CIlEgsWLFxd5/0JCQuDl5fVKQdH8+fPV0yD+7//+DyKRSH0funTpAgB47733IBKJ1PN/C/teLu6+FzSHODs7G/PmzUPt2rXV3+/Tpk1Ddna2Rr2SfM7mz5+P//u//wMA1KpVS/05z98nbm5uGDFiBH799Vc8evSo2PsTExOD0aNHw97eXn3ONWvWqLcX9b3VoUMHuLm5ITg4WOu4crkcf//9N7p16wYnJycAgKenp1YfWltbo1OnTrhx44bWMXr06IH09HSEhoYWex305uGQFNFziYmJ6N27N4YMGYJhw4bB3t4egOqXtJmZGYKCgmBmZoaDBw9i7ty5SElJwTfffFPscYODg5Gamorx48dDJBLh66+/xsCBAxEVFVXsSOHx48exbds2fPTRRzA3N8f333+PQYMGITo6GtbW1gCAixcvolevXnB0dMSCBQugUCiwcOFC2Nralui6t2zZgoyMDHz44YewtrbG2bNn8cMPP+Dhw4fYsmWLRl2FQgFvb294eXnh22+/xYEDB7BkyRJ4eHjgww8/BKAKLPv164fjx49jwoQJaNCgAbZv3w5/f/8SteeDDz7AggULEBwcrJ7rl3fuzZs3o1OnTqhZsyYSEhLw22+/wc/PDwEBAUhNTcXq1avh7e2Ns2fPonnz5iU6X565c+fiiy++gI+PD3x8fHDhwgX07NkTOTk5GvWioqIQEhKC9957D7Vq1UJcXBx+/vlndOnSBdevX4eTkxMaNGiAhQsXYu7cuRg3bhw6deoEAGjfvn2B5xYEAe+88w4OHTqEMWPGoHnz5ti3bx/+7//+DzExMVi2bJlG/ZJ8LoqyceNGeHh4oHXr1mjcuDFMTEzw559/qoObPGPGjMG6devQu3dvjB07Frm5uTh27BhOnz6NVq1aAQAWLFiA+fPno3379li4cCGMjIxw5swZHDx4ED179izx/c/vo48+gq2tLebOnYv09HQAqofNTp48iSFDhqBGjRq4d+8efvrpJ3Tt2hXXr19X/zUnLS1NHdCMHj0aLVu2REJCAv755x88fPgQzZs3x4ABA7Bp0yYsXbpU4y8Ff/75JwRBwAcffFBo2+RyOc6dO6f+vBckISFBq8zIyAgWFhYYOHAgrKysMGXKFPj5+cHHxwdmZmawt7eHs7MzFi1ahI8//hitW7dW/wwqyKvcd6VSiXfeeQfHjx/HuHHj0KBBA1y5cgXLli3D7du31Q/25SnuczZw4EDcvn0bf/75J5YtWwYbGxsA0PrZM2vWLPzxxx/FjhLHxcWhbdu26mDc1tYWe/bswZgxY5CSkoLJkycX+b0lEokwdOhQLFq0CNeuXUOjRo3Ux967dy+ePn1aZN/miY2NVV9Lfg0bNoSxsTFOnDiBAQMGFHscesPocr4GkS5MnDhRePmj36VLFwGAsGrVKq36GRkZWmXjx48XTExMNOaB+vv7C66urur3eXNmra2thadPn6rLd+zYIQAQdu7cqS6bN2+eVpsACEZGRkJERIS67NKlSwIA4YcfflCX+fr6CiYmJhpz9O7cuSMYGBhoHbMgBV3f4sWLBZFIJNy/f1/j+gAICxcu1KjbokULwdPTU/0+JCREACB8/fXX6rLc3FyhU6dOxc4hztO6dWuhRo0agkKhUJft3btXACD8/PPP6mO+PD/y2bNngr29vTB69GiNcrw0h3jt2rUa8x6fPHkiGBkZCX369NGYV/zZZ58JADTmEGdlZWm0SxBUfS2VSjXuTVFziF/+rOTdsy+++EKj3rvvviuIRCKNz0BJPxeFycnJEaytrTXmrw4dOlRo1qyZRr2DBw8KAISPP/5Y6xh59+jOnTuCWCwWBgwYoHVP8t/Hl+9/npfnZ+f1S8eOHYXc3FyNugV9Tk+dOiUAEP744w912dy5cwUAwrZt2wpt9759+wQAwp49ezS2N23aVOjSpYvWfvlFREQUeq/zvkcKenl7e6vr5f1s+OabbzT2L2xe7cs/H0p637t06aJxPevXrxfEYrFw7NgxjX1WrVolABBOnDihLivp56y4OcR9+vQRBEEQRo0aJchkMuHRo0eFXuuYMWMER0dHISEhQeM4Q4YMESwtLdWfgaK+t65duyYAEGbOnKl1DJlMJiQnJ2vtk9/Ro0cFkUgkzJkzp8DtdevWFXr37l3kMejNxCkTRM9JpVKMGjVKq9zY2Fj9dWpqKhISEtCpUydkZGTg5s2bxR538ODBqFatmvp93ohGVFRUsft2794dHh4e6vdNmzaFhYWFel+FQoEDBw6gf//+6j8DAkDt2rXRu3fvYo8PaF5feno6EhIS0L59ewiCgIsXL2rVnzBhgsb7Tp06aVzL7t27YWBgoDGCJpFICnzSvDDDhg3Dw4cPcfToUXVZcHAwjIyM8N5776mPmTdHUqlU4unTp8jNzUWrVq0KnG5RlAMHDiAnJweTJk3S+NP05MmTtepKpVKIxaofnQqFAomJiTAzM0O9evVKfd48u3fvhkQiwccff6xR/umnn0IQBOzZs0ejvLjPRVH27NmDxMRE+Pn5qcv8/Pxw6dIljSkiW7duhUgkwrx587SOkXePQkJCoFQqMXfuXPU9ebnOqwgICNCa453/cyqXy5GYmIjatWvDyspK475v3boVzZo1K3AEL69N3bt3h5OTEzZu3KjedvXqVVy+fLnY+b+JiYkAoPE9nZ9MJkNoaKjW63Xnvef3qvd9y5YtaNCgAerXr4+EhAT166233gIArelGr/M5e9ns2bORm5tb6H0QBAFbt26Fr68vBEHQaJ+3tzeSk5NL9P3VsGFDtGjRAn/99Ze6LD09Hf/88w/69u0LCwuLQvd98uQJhg4dilq1amHatGkF1qlWrVqBfwGgNx8DYqLnnJ2dC3wI5dq1axgwYAAsLS1hYWEBW1tb9S/N5OTkYo9bs2ZNjfd5v0ifPXtW6n3z9s/b98mTJ8jMzETt2rW16hVUVpDo6GiMHDkS1atXV88LzpvL+PL15c0jLaw9gGqup6Ojo9bcvHr16pWoPYAq56dEIlHPBczKysL27dvRu3dvjUDk999/R9OmTSGTyWBtbQ1bW1vs2rWrRP2S3/379wEAderU0Si3tbXVCnyUSiWWLVuGOnXqQCqVwsbGBra2trh8+XKpz5v//E5OTjA3N9cob9CggUb78hT3uSjKhg0bUKtWLUilUkRERCAiIgIeHh4wMTHRCBAjIyPh5OSE6tWrF3qsyMhIiMViNGzYsNjzlkatWrW0yjIzMzF37lz1HOu8+56UlKRx3yMjI9G4ceMijy8Wi/HBBx8gJCQEGRkZAFTTSGQymfo/XMURXprbnUcikaB79+5ar9JO4SnKq973O3fu4Nq1a7C1tdV41a1bF8CLh/ryvM7n7GXu7u4YPnw4fvnlFzx+/Fhre3x8PJKSkvDLL79otS9voOLl9hXmgw8+wN27d3Hy5EkAUPdzUdMl0tPT0bdvX6SmpmLHjh2Fzg8XBKHK54zXV5xDTPRc/hGoPElJSejSpQssLCywcOFCeHh4QCaT4cKFC5g+fTqUSmWxxy0sm0Fhv1DLat+SUCgU6NGjB54+fYrp06ejfv36MDU1RUxMDEaOHKl1fRWVmcHOzg49evTA1q1bsWLFCuzcuROpqakav9A2bNiAkSNHon///vi///s/2NnZqR+IioyMLLe2LVq0CHPmzMHo0aPx+eefo3r16hCLxZg8eXKJPg9l4VU/FykpKdi5cyeysrK0gn9ANQr/5ZdfVtgv/JcfxsxT0PfipEmTsHbtWkyePBnt2rVTL2gxZMiQV7rvI0aMwDfffIOQkBD4+fkhODgYffv2haWlZZH75c3RfpWgUNeUSiWaNGmCpUuXFrjdxcVF431Z//yZNWsW1q9fj//973/o37+/VtsA1V+HCnveoGnTpiU6j5+fH6ZNm4bg4GC0b98ewcHBqFatGnx8fAqsn5OTg4EDB+Ly5cvYt29fkf+hevbsWYHfO/TmY0BMVITDhw8jMTER27ZtQ+fOndXld+/e1WGrXrCzs4NMJitwIYuiFrfIc+XKFdy+fRu///47RowYoS5/naeoXV1dERYWhrS0NI1Rllu3bpXqOB988AH27t2LPXv2IDg4GBYWFhpprv7++2+4u7tj27ZtGgFcQX/iL0mbAdUImru7u7o8Pj5eK/DJe1J99erVGuVJSUkaD+KUJqh0dXXFgQMHkJqaqjFKnDclp6wWZ9i2bRuysrLw008/aT00dOvWLcyePRsnTpxAx44d4eHhgX379uHp06eFjhJ7eHhAqVTi+vXrRY6AVqtWTSvLSE5OToEjhYX5+++/4e/vjyVLlqjLsrKytI7r4eGBq1evFnu8xo0bo0WLFti4cSNq1KiB6Oho/PDDD8XuV7NmTRgbG+v0Z0BJ73tB+126dAlvv/12mf2npzTH8fDwwLBhw/Dzzz/Dy8tLY5utrS3Mzc2hUCi00p2V9pxOTk7o1q0btmzZgjlz5iA0NBQjR44s8C+ASqUSI0aMQFhYGDZv3qz+61hBcnNz8eDBA7zzzjtFnp/eTJwyQVSEvBGS/CMiOTk5WLlypa6apCHvz7MhISEaKY0iIiK05p0Wtj+geX2CIOC777575Tb5+PggNzcXP/30k7pMoVCUKNjIr3///jAxMcHKlSuxZ88eDBw4UGO1r4LafubMGZw6darUbe7evTsMDQ3xww8/aBxv+fLlWnUlEonWCNmWLVsQExOjUZaXO7ck6eZ8fHygUCjw448/apQvW7YMIpGoxPPBi7Nhwwa4u7tjwoQJePfddzVeU6dOhZmZmXraxKBBgyAIAhYsWKB1nLzr79+/P8RiMRYuXKg1Spv/Hnl4eGjMBweAX375pdAR4oIUdN9/+OEHrWMMGjQIly5dwvbt2wttd57hw4dj//79WL58OaytrUt0nw0NDdGqVasCVzOrKCW97y97//33ERMTg19//VVrW2ZmpjqjR2mU5nMOqOYSy+VyfP311xrlEokEgwYNwtatWwv8D01e7uaSnvODDz7AkydPMH78eMjl8kKnS0yaNAmbNm3CypUrMXDgwCLbfv36dWRlZRWaLYbebBwhJipC+/btUa1aNfj7+6uXFV6/fn2ZTVkoC/Pnz8f+/fvRoUMHfPjhh+rAqnHjxsUuG1y/fn14eHhg6tSpiImJgYWFBbZu3fpafw729fVFhw4dMGPGDNy7dw8NGzbEtm3bSj2/1szMDP3791fPI375F1rfvn2xbds2DBgwAH369MHdu3exatUqNGzYEGlpaaU6V14+5cWLF6Nv377w8fHBxYsXsWfPHq2R1L59+2LhwoUYNWoU2rdvjytXrmDjxo0aI8uAKgi0srLCqlWrYG5uDlNTU3h5eRU4P9bX1xfdunXDrFmzcO/ePTRr1gz79+/Hjh07MHnyZI0Hm17Vo0ePcOjQIa0H9/JIpVJ4e3tjy5Yt+P7779GtWzcMHz4c33//Pe7cuYNevXpBqVTi2LFj6NatGwIDA1G7dm3MmjULn3/+OTp16oSBAwdCKpXi3LlzcHJyUufzHTt2LCZMmIBBgwahR48euHTpEvbt21dgaqvC9O3bF+vXr4elpSUaNmyIU6dO4cCBA1pp5v7v//4Pf//9N9577z2MHj0anp6eePr0Kf755x+sWrUKzZo1U9cdOnQopk2bhu3bt+PDDz8s8YIp/fr1w6xZs5CSkqL1kFZubi42bNhQ4H4DBgwok0VGSnrfXzZ8+HBs3rwZEyZMwKFDh9ChQwcoFArcvHkTmzdvxr59+9Tp9ErK09MTgGo6xJAhQ2BoaAhfX99CrzNvlPj333/X2vbVV1/h0KFD8PLyQkBAABo2bIinT5/iwoULOHDgAJ4+fao+RnHfW4MGDcJHH32EHTt2wMXFReMvfHmWL1+OlStXol27djAxMdHqt5f7KzQ0FCYmJujRo0ep7hG9ISowowVRpVBY2rVGjRoVWP/EiRNC27ZtBWNjY8HJyUmYNm2aOm3ToUOH1PUKS7v2cmolQdBOQ1VY2rWJEydq7VvQUsJhYWFCixYtBCMjI8HDw0P47bffhE8//VSQyWSF3IUXrl+/LnTv3l0wMzMTbGxshICAAHV6pfxpjfz9/QVTU1Ot/Qtqe2JiojB8+HDBwsJCsLS0FIYPHy5cvHixxGnX8uzatUsAIDg6OhaYXmrRokWCq6urIJVKhRYtWgj//vuvVj8IQvFp1wRBEBQKhbBgwQLB0dFRMDY2Frp27SpcvXpV635nZWUJn376qbpehw4dhFOnTmmluBIEVYq9hg0bqlPg5V17QW1MTU0VpkyZIjg5OQmGhoZCnTp1hG+++UZreenSfC7yW7JkiQBACAsLK7TOunXrBADCjh07BEFQpbb75ptvhPr16wtGRkaCra2t0Lt3b+H8+fMa+61Zs0Zo0aKFIJVKhWrVqgldunTRWPpWoVAI06dPF2xsbAQTExPB29tbiIiIKDTt2rlz57Ta9uzZM2HUqFGCjY2NYGZmJnh7ews3b94s8LoTExOFwMBAwdnZWTAyMhJq1Kgh+Pv7a6XzEgRB8PHxEQAIJ0+eLPS+vCwuLk4wMDAQ1q9fr1FeVNq1/J+31027lqe4+17QZzInJ0f43//+JzRq1Ei9n6enp7BgwQKNlGSl+Zx9/vnngrOzsyAWizWuM3/atfzu3LkjSCSSAq81Li5OmDhxouDi4iIYGhoKDg4Owttvvy388ssvGvUK+97K77333hMACNOmTdPaJggl7688Xl5ewrBhwwo8Fr35RIJQiYa6iKjM9O/fH9euXcOdO3d03RSiSmvAgAG4cuVKiebc5zdmzBjcvn0bx44dK6eWUWUSHh6Oli1b4sKFC2WaMYQqD84hJqoCXl5m+c6dO9i9e7fWsq1E9MLjx4+xa9cuDB8+vNT7zps3D+fOncOJEyfKoWVU2Xz11Vd49913GQxXYRwhJqoCHB0dMXLkSLi7u+P+/fv46aefkJ2djYsXLzJFENFL7t69ixMnTuC3337DuXPnEBkZCQcHB103i4h0iA/VEVUBvXr1wp9//onY2FhIpVK0a9cOixYtYjBMVIAjR45g1KhRqFmzJn7//XcGw0Sk2ykTR48eha+vL5ycnCASiRASElLsPocPH0bLli0hlUpRu3ZtrFu3TqvOihUr4ObmBplMBi8vL5w9e1Zje1ZWFiZOnAhra2uYmZlh0KBBiIuLK6OrIqp4a9euxb1795CVlYXk5GTs3bsXLVu21HWziCqlkSNHQhAE3L9/H++++66um0NElYBOA+L09HQ0a9YMK1asKFH9u3fvok+fPujWrRvCw8MxefJkjB07Fvv27VPX2bRpE4KCgjBv3jxcuHABzZo1g7e3t8aSj1OmTMHOnTuxZcsWHDlyBI8ePSo2/yARERERVU2VZg6xSCTC9u3btZZzzG/69OnYtWuXRtLuIUOGICkpCXv37gUAeHl5oXXr1uoE90qlEi4uLpg0aRJmzJiB5ORk2NraIjg4WD0ycPPmTTRo0ACnTp1C27Zty+8iiYiIiKjSeaPmEJ86dUprSUdvb29MnjwZgGoFsfPnz2PmzJnq7WKxGN27d1evXnX+/HnI5XKN49SvXx81a9YsMiDOzs5Gdna2+r1SqcTTp09hbW1dZktgEhEREVHZEQQBqampcHJyglhc+MSINyogjo2Nhb29vUaZvb09UlJSkJmZiWfPnkGhUBRY5+bNm+pjGBkZwcrKSqtObGxsoedevHhxgUuYEhEREVHl9uDBA9SoUaPQ7W9UQKxLM2fORFBQkPp9cnIyatasibt378Lc3Lzczy+Xy3Ho0CF069atxMuL0puNfa5/2Of6if2uf9jnFSc1NRW1atUqNlZ7owJiBwcHrWwQcXFxsLCwgLGxMSQSCSQSSYF18tLqODg4ICcnB0lJSRqjxPnrFEQqlUIqlWqVV69eXWst+/Igl8thYmICa2trfvPoCfa5/mGf6yf2u/5hn1ecvPtb3PTWN2qlunbt2iEsLEyjLDQ0FO3atQMAGBkZwdPTU6OOUqlEWFiYuo6npycMDQ016ty6dQvR0dHqOkRERESkP3Q6QpyWlqaxfvzdu3cRHh6O6tWro2bNmpg5cyZiYmLwxx9/AAAmTJiAH3/8EdOmTcPo0aNx8OBBbN68Gbt27VIfIygoCP7+/mjVqhXatGmD5cuXIz09HaNGjQIAWFpaYsyYMQgKClKP7k6aNAnt2rVjhgkiIiIiPaTTgPi///5Dt27d1O/z5uj6+/tj3bp1ePz4MaKjo9Xba9WqhV27dmHKlCn47rvvUKNGDfz222/w9vZW1xk8eDDi4+Mxd+5cxMbGonnz5ti7d6/Gg3bLli2DWCzGoEGDkJ2dDW9vb6xcubICrpiIiIiIKhudBsRdu3ZFUWmQC1qFrmvXrrh48WKRxw0MDERgYGCh22UyGVasWFHiBUGIiIjeVIIgIDc3FwqFQtdNoefkcjkMDAyQlZXFfnlNEokEBgYGr50C9416qI6IiIhKLicnB48fP0ZGRoaum0L5CIIABwcHPHjwgGsZlAETExM4OjrCyMjolY/BgJiIiKgKUiqVuHv3LiQSCZycnGBkZMTgq5JQKpVIS0uDmZlZkYtFUNEEQUBOTg7i4+Nx9+5d1KlT55XvJwNiIiKiKignJwdKpRIuLi4wMTHRdXMoH6VSiZycHMhkMgbEr8nY2BiGhoa4f/+++p6+CvYCERFRFcaAi6q6sviM87uEiIiIiPQaA2IiIiIi0msMiImIiKjKc3Nzw/Lly0tc//DhwxCJREhKSiq3NlHlwYCYiIiIKg2RSFTka/78+a903HPnzmHcuHElrt++fXs8fvwYlpaWr3S+V1G/fn1IpVLExsZW2DlJhQExERERVRqPHz9Wv5YvXw4LCwuNsqlTp6rr5i06UhK2tralyrZhZGQEBweHCktVd/z4cWRmZuLdd9/F77//XiHnLIpcLtd1EyoUA2IiIiI9IQgCMnJyK/xV1Kq0L3NwcFC/LC0tIRKJ1O9v3rwJc3Nz7NmzB56enpBKpTh+/DgiIyPRr18/2Nvbw8zMDK1bt8aBAwc0jvvylAmRSITffvsNAwYMgImJCerUqYN//vlHvf3lKRPr1q2DlZUV9u3bhwYNGsDMzAy9evXC48eP1fvk5ubi448/hpWVFaytrTF9+nT4+/ujf//+xV736tWrMXToUAwfPhxr1qzR2v7w4UP4+fmhevXqMDU1RatWrXDmzBn19p07d6J169aQyWSwsbHBgAEDNK41JCRE43hWVlbqFYHv3bsHkUiETZs2oUuXLpDJZNi4cSMSExPh5+cHZ2dnmJiYoEmTJvjzzz81jqNUKvH111+jdu3akEqlqFmzJr788ksAwFtvvaW1cnB8fDyMjIwQFhZW7D2pSMxDTEREpCcy5Qo0nLuvws97faE3TIzKLuSYMWMGvv32W7i7u6NatWp48OABfHx88OWXX0IqleKPP/6Ar68vbt26hZo1axZ6nAULFuDrr7/GN998gx9++AEffPAB7t+/j+rVqxdYPyMjA99++y3Wr18PsViMYcOGYerUqdi4cSMA4H//+x82btyItWvXokGDBvjuu+8QEhKCbt26FXk9qamp2LJlC86cOYP69esjOTkZx44dQ6dOnQAAaWlp6NKlC5ydnfHPP//AwcEBFy5cgFKpBADs2rULAwYMwKxZs/DHH38gJycHu3fvfqX7umTJErRo0QIymQxZWVnw9PTE9OnTYWFhgV27dmH48OHw8PBAmzZtAAAzZ87Er7/+imXLlqFjx454/Pgxbt68CQAYO3YsAgMDsWTJEkilUgDAhg0b4OzsjLfeeqvU7StPDIiJiIjojbJw4UL06NFD/b569epo1qyZ+v3nn3+O7du3459//tEaocxv5MiR8PPzAwAsWrQI33//Pc6ePYtevXoVWF8ul2PVqlXw8PAAAAQGBmLhwoXq7T/88ANmzpypHp398ccfSxSY/vXXX6hTpw4aNWoEABgyZAhWr16tDoiDg4MRHx+Pc+fOqYP12rVrq/f/8ssvMWTIECxYsEBdlv9+lNTkyZMxcOBAjbL8U1QmTZqEffv2YfPmzWjTpg1SU1Px3Xff4ccff4S/vz8AwMPDAx07dgQADBw4EIGBgdixYwfef/99AKqR9pEjR1a6VRMZEBMREekJY0MJri/01sl5y1KrVq003qelpWH+/PnYtWsXHj9+jNzcXGRmZiI6OrrI4zRt2lT9tampKSwsLPDkyZNC65uYmKiDYQBwdHRU109OTkZcXJx65BQAJBIJPD091SO5hVmzZg2GDRumfj9s2DB06dIFP/zwA8zNzREeHo4WLVoUOnIdHh6OgICAIs9REi/fV4VCgUWLFmHz5s2IiYlBTk4OsrOz1XOxb9y4gezsbLz99tsFHk8mk6mngLz//vu4cOECrl69qjE1pbJgQExERKQnRCJRmU5d0BVTU1ON91OnTkVoaCi+/fZb1K5dG8bGxnj33XeRk5NT5HEMDQ013otEoiKD14Lql2Z+dEGuX7+O06dP4+zZs5g+fbq6XKFQ4K+//kJAQACMjY2LPEZx2wtqZ0EPzb18X7/55ht89913WL58OZo0aQJTU1NMnjxZfV+LOy+gmjbRvHlzPHz4EGvXrsVbb70FV1fXYveraHyojoiIiN5oJ06cwMiRIzFgwAA0adIEDg4OuHfvXoW2wdLSEvb29jh37py6TKFQ4MKFC0Xut3r1anTu3BmXLl1CeHi4+hUUFITVq1cDUI1kh4eH4+nTpwUeo2nTpkU+pGZra6vx8N+dO3eQkZFR7DWdOHEC/fr1w7Bhw9CsWTO4u7vj9u3b6u116tSBsbFxkedu0qQJWrVqhV9//RXBwcEYPXp0sefVBQbERERE9EarU6cOtm3bhvDwcFy6dAlDhw4tdppCeZg0aRIWL16MHTt24NatW/jkk0/w7NmzQufLyuVyrF+/Hn5+fmjcuLHGa+zYsThz5gyuXbsGPz8/ODg4oH///jhx4gSioqKwdetWnDp1CgAwb948/Pnnn5g3bx5u3LiBK1eu4H//+5/6PG+99RZ+/PFHXLx4Ef/99x8mTJigNdpdkDp16iA0NBQnT57EjRs3MH78eMTFxam3y2QyTJ8+HdOmTcMff/yByMhInD59Wh3I5xk7diy++uorCIKgkf2iMmFATERERG+0pUuXolq1amjfvj18fX3h7e2Nli1bVng7pk+fDj8/P4wYMQLt2rWDmZkZvL29IZPJCqz/zz//IDExscAgsUGDBmjQoAFWr14NIyMj7N+/H3Z2dvDx8UGTJk3w1VdfQSJRzc3u2rUrtmzZgn/++QfNmzfHW2+9hbNnz6qPtWTJEri4uKBTp04YOnQopk6dWqKczLNnz0bLli3h7e2Nrl27qoPy/ObMmYNPP/0Uc+fORYMGDTB48GCtedh+fn4wMDCAn59fofdC10TC605+0VMpKSmwtLREcnIyLCwsyv18crkcu3fvho+PT4n+V0dvPva5/mGf66fy6vesrCzcvXsXtWrVqrRBSFWnVCrRoEEDvP/++/j88881ylNSUmBhYQGxuOqPTd67dw8eHh44d+5cufxHpajPeknjtTd/Zj0RERFRJXD//n3s378fXbp0QXZ2Nn788UfcvXsXQ4cO1XXTdEIulyMxMRGzZ89G27ZtdTJqX1JV/78lRERERBVALBZj3bp1aN26NTp06IArV67gwIEDaNCgga6bphMnTpyAo6Mjzp07h1WrVum6OUXiCDERERFRGXBxccGJEyd03YxKo2vXrq+dlq6icISYiIiIiPQaA2IiIiIi0msMiImIiIhIrzEgJiIiIiK9xoCYiIiIiPQaA2IiIiIi0msMiImIiKjK6dq1KyZPnqx+7+bmhuXLlxe5j0gkQkhIyGufu6yOQxWHATERERFVGr6+vujVq1eB244dOwaRSITLly+X+rjnzp3DuHHjXrd5GubPn4/mzZtrlT9+/Bi9e/cu03MVJjMzE9WrV4eNjQ2ys7Mr5JxVEQNiIiIiqjTGjBmD0NBQPHz4UGvb2rVr0apVKzRt2rTUx7W1tYWJiUlZNLFYDg4OkEqlFXKurVu3olGjRqhfv77OR6UFQUBubq5O2/CqGBATERHpC0EActIr/lWK1cr69u0LW1tbrFu3TqM8LS0NW7ZswZgxY5CYmAg/Pz84OzvDxMQETZo0wZ9//lnkcV+eMnHnzh107twZMpkMDRs2RGhoqNY+06dPR926dWFiYgJ3d3fMmTMHcrkcALBu3TosWLAAly5dgkgkgkgkUrf55SkTV65cwVtvvQVjY2NYW1tj/PjxSEtLU28fOXIk+vfvj2+//RaOjo6wtrbGxIkT1ecqyurVqzFs2DAMGzYMq1ev1tp+7do19O3bFxYWFjA3N0enTp0QGRmp3r5mzRo0atQIUqkUjo6OCAwMBADcu3cPIpEI4eHh6rpJSUkQiUQ4fPgwAODw4cMQiUTYs2cPPD09IZVKcfz4cURGRqJfv36wt7eHmZkZWrdujQMHDmi0Kzs7G9OnT4eLiwukUilq166N1atXQxAE1K5dG99++61G/fDwcIhEIkRERBR7T14Fl24mIiLSF/IMYJFTxZ/3s0eAkWmJqhoYGGDEiBFYt24dZs2aBZFIBADYsmULFAoF/Pz8kJaWBk9PT0yfPh0WFhbYtWsXhg8fDg8PD7Rp06bYcyiVSgwcOBD29vY4c+YMkpOTNeYb5zE3N8e6devg5OSEK1euICAgAObm5pg2bRoGDx6Mq1evYu/evepgz9LSUusY6enp8Pb2Rrt27XDu3Dk8efIEY8eORXp6OjZs2KCud+jQITg6OuLQoUOIiIjA4MGD0bx5cwQEBBR6HZGRkTh16hS2bdsGQRAwZcoU3L9/H66urgCAmJgYdO7cGV27dsXBgwdhYWGBEydOqEdxf/rpJwQFBeGrr75C7969kZyc/EpLT8+YMQPffvst3N3dUa1aNTx48AA+Pj748ssvIZVK8ccff8DX1xe3bt1CzZo1AQAjRozAqVOn8P3336NZs2a4e/cuEhISIBKJMHr0aKxduxZTp05Vn2Pt2rXo3LkzateuXer2lQQDYiIiIqpURo8ejW+++QZHjhxB165dAagCokGDBsHS0hKWlpYawdKkSZOwb98+bN68uUQB8YEDB3Dz5k3s27cPTk6q/yAsWrRIa97v7Nmz1V+7ublh6tSp+OuvvzBt2jQYGxvDzMwMBgYGcHBwKPRcwcHByMrKwh9//AFTU9V/Cr7//nv069cPS5YsgaOjIwCgWrVq+PHHHyGRSFC/fn306dMHYWFhRQbEa9asQe/evVGtWjUAgLe3N9auXYv58+cDAFasWAFLS0v89ddfMDQ0BADUrVtXvf8XX3yBTz/9FJ988om6rHXr1sXev5ctXLgQPXr0UL+vXr06mjVrpn7/+eefY/v27fjnn38QGBiI27dvY/PmzQgNDUX37t0BAO7u7ur6I0eOxNy5c3H27Fm0adMGcrkcwcHBWqPGZYkBMRERkb4wNFGN1urivKVQv359tG/fHmvWrEHXrl0RERGBY8eOYeHChQAAhUKBRYsWYfPmzYiJiUFOTg6ys7NLPEf4xo0bcHFxUQfDANCuXTuteps2bcL333+PyMhIpKWlITc3FxYWFqW6lhs3bqBZs2bqYBgAOnToAKVSiVu3bqkD4kaNGkEikajrODo64sqVK4UeV6FQ4Pfff8d3332nLhs2bBimTp2KuXPnQiwWIzw8HJ06dVIHw/k9efIEjx49wttvv12q6ylIq1atNN6npaVh/vz52LVrFx4/fozc3FxkZmYiOjoagGr6g0QiQZcuXQo8npOTE/r06YM1a9agTZs22LlzJ7Kzs/Hee++9dlsLwznERERE+kIkUk1dqOjX82kPpTFmzBhs3boVqampWLt2LTw8PNQB1DfffIPvvvsO06dPx6FDhxAeHg5vb2/k5OSU2a06deoUPvjgA/j4+ODff//FxYsXMWvWrDI9R34vB60ikQhKpbLQ+vv27UNMTAwGDx4MAwMDGBgYYMiQIbh//z7CwsIAAMbGxoXuX9Q2ABCLVSGikG/+d2FzmvMH+wAwdepUbN++HYsWLcKxY8cQHh6OJk2aqO9dcecGgLFjx+Kvv/5CZmYm1q5di8GDB5frQ5EMiImIiKjSef/99yEWixEcHIw//vgDo0ePVs8nPnHiBPr164dhw4ahWbNmcHd3x+3bt0t87AYNGuDBgwd4/Pixuuz06dMadU6ePAlXV1fMmjULrVq1Qp06dXD//n2NOkZGRlAoFMWe69KlS0hPT1eXnThxAmKxGPXq1Stxm1+2evVqDBkyBOHh4RqvIUOGqB+ua9q0KY4dO1ZgIGtubg43Nzd18PwyW1tbANC4R/kfsCvKiRMnMHLkSAwYMABNmjSBg4MD7t27p97epEkTKJVKHDlypNBj+Pj4wNTUFD/99BP27t2L0aNHl+jcr4oBMREREVU6ZmZmGDx4MGbOnInHjx9j5MiR6m116tRBaGgoTp48iRs3bmD8+PGIi4sr8bG7d++OunXrwt/fH5cuXcKxY8cwa9YsjTp16tRBdHQ0/vrrL0RGRuL777/H9u3bNeq4ubnh7t27CA8PR0JCQoF5gD/44APIZDL4+/vj6tWrOHToED755BMMHjwY9vb2pbspz8XHx2Pnzp3w9/dH48aNNV4jRoxASEgInj59isDAQKSkpGDIkCH477//cOfOHaxfvx63bt0CoMqjvGTJEnz//fe4c+cOLly4gB9++AGAahS3bdu2+Oqrr3Djxg0cOXJEY051UerUqYNt27YhPDwcly5dwtChQzVGu93c3ODv74/Ro0cjJCQEd+/exeHDh7F582Z1HYlEgpEjR2LmzJmoU6dOgVNaypLOA+IVK1bAzc0NMpkMXl5eOHv2bKF15XI5Fi5cCA8PD8hkMjRr1gx79+7VqOPm5qZOf5L/NXHiRHWdrl27am2fMGFCuV0jERERld6YMWPw7NkzeHt7a8z3nT17Nlq2bAlvb2907doVDg4O6N+/f4mPKxaLsX37dmRmZqJNmzYYO3YsvvzyS40677zzDqZMmYLAwEA0b94cJ0+exJw5czTqDBo0CL169UK3bt1ga2tbYOo3ExMT7Nu3D0+fPkXr1q3x7rvv4q233sLXX39dupuRT94DegXN/3377bdhbGyMDRs2wNraGgcPHkRaWhq6dOkCT09P/Prrr+rpGf7+/li+fDlWrlyJRo0aoW/fvrhz5476WGvWrEFubi48PT0xefJkfPHFFyVq39KlS1GtWjW0b98evr6+8Pb2RsuWLTXq/PTTT3j33Xfx0UcfoX79+ggICNAYRQdU/Z+Tk4NRo0aV9haVnqBDf/31l2BkZCSsWbNGuHbtmhAQECBYWVkJcXFxBdafNm2a4OTkJOzatUuIjIwUVq5cKchkMuHChQvqOk+ePBEeP36sfoWGhgoAhEOHDqnrdOnSRQgICNCol5ycXKq2JycnCwBKvd+rysnJEUJCQoScnJwKOR/pHvtc/7DP9VN59XtmZqZw/fp1ITMzs0yPS69PoVAIz549ExQKha6bUqkdPXpUMDQ0FGJjY4usV9RnvaTxmk5HiJcuXYqAgACMGjUKDRs2xKpVq2BiYoI1a9YUWH/9+vX47LPP4OPjA3d3d3z44Yfw8fHBkiVL1HVsbW3h4OCgfv37778aE/HzmJiYaNQr7VOjRERERFT2srOz8fDhQ8yfPx/vvffeK08tKQ2dpV3LycnB+fPnMXPmTHWZWCxG9+7dcerUqQL3yc7Ohkwm0ygzNjbG8ePHCz3Hhg0bEBQUpJ6In2fjxo3YsGEDHBwc4Ovrizlz5hT59GJ2drbG3KCUlBQAqmkcJVlJ5nXlnaMizkWVA/tc/7DP9VN59btcLocgCFAqlUVmK6CKJzzP3JDXP6Rp48aNCAgIQPPmzbFu3bpi75FSqYQgCJDL5Rqp64CSf1/pLCBOSEiAQqHQivrt7e1x8+bNAvfx9vbG0qVL0blzZ3h4eCAsLAzbtm0r9AnPkJAQJCUlaUzEB4ChQ4fC1dUVTk5OuHz5MqZPn45bt25h27ZthbZ38eLFWLBggVb5/v37K2xtdAAFLi1JVRv7XP+wz/VTWfd73oIRaWlp5ZYqjF5PamqqrptQKQ0cOBADBw5Uv88bhCxMTk4OMjMzcfToUfUqfHkyMjJKdE6RIJRigfEy9OjRIzg7O+PkyZMaTw5OmzYNR44cwZkzZ7T2iY+PR0BAAHbu3AmRSAQPDw90794da9asQWZmplZ9b29vGBkZYefOnUW25eDBg3j77bcREREBDw+PAusUNELs4uKChISECpluIZfLERoaih49ehSYYJuqHva5/mGf66fy6vesrCw8ePBA/eA6VR6CICA1NRXm5uZaf8Gm0svKysK9e/fg4uKi9VlPSUmBjY0NkpOTi4zXdDZCbGNjA4lEopUmJS4urtAlEG1tbRESEoKsrCwkJibCyckJM2bM0FjuL8/9+/dx4MCBIkd983h5eQFAkQGxVCqFVCrVKjc0NKzQX1wVfT7SPfa5/mGf66ey7neFQqHOpJS3yAJVDnlTANg3ZSPvc17Q91BJv6d01gtGRkbw9PTUSAitVCoRFhZWbK45mUwGZ2dn5ObmYuvWrejXr59WnbVr18LOzg59+vQpti15iabzlk8kIiJ60+UFAiX9kzHRmyrvM/46/6HU2QgxAAQFBcHf3x+tWrVCmzZtsHz5cqSnp6vzzY0YMQLOzs5YvHgxAODMmTOIiYlB8+bNERMTg/nz50OpVGLatGkax1UqlVi7di38/f1hYKB5iZGRkQgODoaPjw+sra1x+fJlTJkyBZ07d0bTpk0r5sKJiIjKmUQigZWVFZ48eQJAlV2Jf56vHJRKJXJycpCVlcUR4tcgCAIyMjLw5MkTWFlZaT1QVxo6DYgHDx6M+Ph4zJ07F7GxsWjevDn27t2rftAuOjpa44OSlZWF2bNnIyoqCmZmZvDx8cH69ethZWWlcdwDBw4gOjq6wGX+jIyMcODAAXXw7eLigkGDBpV49RUiIqI3Rd4UxLygmCoHQRCQmZkJY2Nj/ielDFhZWRU63bakdBoQA0BgYCACAwML3Hb48GGN9126dMH169eLPWbPnj1R2LOCLi4uRa6dTUREVFWIRCI4OjrCzs6O6fwqEblcjqNHj6Jz5858XuA1GRoavtbIcB6dB8RERERUviQSSZkEDVQ2JBIJcnNzIZPJGBBXEpy4QkRERER6jQExEREREek1BsREREREpNcYEBMRERGRXmNATERERER6jQExEREREek1BsREREREpNcYEBMRERGRXmNATERERER6jQExEREREek1BsREREREpNcYEBMRERGRXmNATERERER6jQExEREREek1BsREREREpNcYEBMRERFVhNwcIC0eeBoJ0+w4ID0BUMh13SoCYKDrBhARERFVeoIAyDOBrGQgO0X1b2Evre3P3+dmAgAMAXQHgOv/pzq2oQkgswSkFqp/1a+X3kstAJmV9nYDGSAS6ejGVA0MiImIiKjqUyqBnLSiA9aspKK3K8tmNFcwMkNubi4MlVmqAnmG6pX6+NUOKDEqQTBtWfh2IzO9D6gZEBMREVHlp8jVDFQLDWrzb0t6sS07BRCUr98OkbiAUVvLfCO3BY3q5n9vjlyFErt374ZPr54wVGS+dC0vXVdRo9F516TIATISVK9XvSatgLqIayjoGsWS17+3OsSAmIiIiMpfbvZLQevLAV4xgWBOWtm0Q2JUgmDPqvDtRqavP5qqeB6Yiw0AaXXApPqrHUcQXox6F3ofi9iWN+otKJ//5yHp1a/JyFwrYFZKLZBjYI5siRkyJGZIhylSRSYwtquN+i07vfq5ygEDYiIiIiqaIKj+pF9g0JpUsoA2N6ts2mJoWvwobP7tL08VMJSVTTsqA5EIkJqrXpY1Sr+/IKj6pZCpI7mZychJewZ5+jMoM5MhZKoCbEl2CgzkKTDMTYNR3rSPnFTVK+Wh+vBiALLnL8t8p71o8TbAgJiIiIgqlFKpClZK8+f4l7crc8umLdJ8AavUAjC2KsXDZBaAxLBs2lHFCYKATLkCKZm5SMmSIzVLrv46JVOOlKy8r/O25z4vN0BKphVSs0yRnetQ7HkMkQtzZMBclAELZMBClA6Ll95XF2eiukEWqokzYSnKQFa1OhVwB0qHATEREVFlp54/m1SCoLagaQkpAITXb4dI8moPbeUFvFLzN36uaUVRKgWk5TwPUjNzVQGtOmjNH8A+356tGfCmZuUiV1kGfQ7AXGYAC5mh6l9jQ1jIDGGh/lr1b16dgr42lFT+LL8MiImIiCqKUgFkPAXS4oD0J0DaE4hTHqPBo/MQ7z1c+Chumc2flZZgJLaIB8QMTfQ+G0FpCYKAlKxcxKdmIyEtG/Gp2YhLzsC5B2Kc33UTaTmKfMHtiyA3LTsXQhnEsxKxKF/wmj9YNYC5zFD9tVbA+3y7mdQAEnHV73MGxERERK9DEIDMZ0Dak+eBbrzq37Qn+cqef52eAAgKjd0lAOoCQFwJzmVkVsCc2aLm01ppTk+oSvNndUgQBKTnKJCQmo34tGz1v/mD3vi0HHV5Tm5B2S3EwMPoYs8lNRCrAlfjgkZgDV4ardUOao0NJRDxPzHFYkBMRET0MkFQjcxqBLV5gW6carUxddmTUuanFQEm1oCZPWBmB6WJDe7GJcOtXlNITKsX8pDY8zIJf22Xpyy54nkw+1Jwm+/rhLQcxKdmI1OuKP6A+ZjLDGBrLoWtmRTWpoZIiX+MJvU8YGUq1ZpmYCFTjc6aywwgM+QUk4rA7ywiItIfOekFjN6+PKL7RDWiW9qsCMbVAFM7wMxOHezCzO55Wb73JjYaga1CLsfV3btRs4sPJIZ8YKys5eQq8wWzL4/iZiMhNUc9ypuaXboHB02NJLB5HuTamkth89K/qq+NYGMm1Qhs5XI5du+OgU+POjBkn1cKDIiJiOjNJs96MSUhf2Cb/kQ70JWnl+7YUot8QW3+l71mmaktYCAtn+sjLbkKJZ6m5+DJS1MW8oLb+NQs9UhucmbpVpeTGogLDW5tzYzUZTZmUphKGUZVFexJIiKqfHJzVCO3hQa6T15MXchOLt2xDU1eCnKLGM01NC6f6yMtSqWApxk5RU5TyCt7mpFTqgfODMQizeDWTAobc6Pn/+Yb4TWXwlxqwDm3eogBMRERVbzcHODZXSDhDpB4R/Vv8oMXgW7ms9IdT2L0IpA1fWkk9+UyIzNmStABpVLAo+RMRMWnIyo+DZHx6Yh+mqGeuvA0PQeKUqQJE4sAazOpRlCbF+TavjSNwdLYEGI9yJRAr44BMRERlQ9BADISgYTbmoFvwh3g2T2tbAtaRJLCR25fLpNZMsitJNKzc1VBb4Iq6I2MT0NUfDruJqQhS15QtgVN1U2NtILbgqYvVDMx0ot0YFQxGBATEdHrUY/25gW+ES++zkoqfD9DU8CmNmBTF7CuA1RzA8ztXwS6xtUAceVP6K+P8kZ7I5+P9kblC3xjUwp/GNFQIkLN6ibwsDWDu60ZatmYwM5Cpg58q5savRGLOFDVw4CYiIiKJwiqHLqJd7QD32f3ix7ttaypCnyt6wA2ea+6gLkjR3UrubTsXNxVB7tpiExIR+STNNxLTC9ytNfa1AjutqbPA19TuNuYwcPODC7VjGHAgJcqIQbERET0Qm4O8DQqX+Ab8eLrrCIeXjMyA6xrq4Ld/IFvdQ/AyKTi2k+lplQKiEnKRNTzYDcq4cWIb1xKdqH7GUpEcLU2hbuNKTzszOBuYwp3WzN42JrCysSoAq+A6PUxICYi0jd5o70JtzXn9Sbmze0tbORPBFi6vAh2rZ9Pd7Cpw9HeN0Badq7W9IbI+DTcTUhHdoErqanYmBnB3cZMc8TXlqO9VLUwICYiqqpys4Gnd/MFvhEvvi7RaG9dzcDX2oNpyCq5vNHevIA3KiENkU9U/xY12mskEcPV2kQd7OYFvh42ZrA04cIRVPXpPCBesWIFvvnmG8TGxqJZs2b44Ycf0KZNmwLryuVyLF68GL///jtiYmJQr149/O9//0OvXr3UdebPn48FCxZo7FevXj3cvHlT/T4rKwuffvop/vrrL2RnZ8Pb2xsrV66Evb19+VwkEVF5EQRVvt6E59MaEiNefJ10v+jRXisXzekN1nlzex042lvJ5Y32qgPfEo/2Sp+P9GrO763B0V7SczoNiDdt2oSgoCCsWrUKXl5eWL58Oby9vXHr1i3Y2dlp1Z89ezY2bNiAX3/9FfXr18e+ffswYMAAnDx5Ei1atFDXa9SoEQ4cOKB+b2CgeZlTpkzBrl27sGXLFlhaWiIwMBADBw7EiRMnyu9iiYheR262am6vVuB7p+iFKYzMtOf1WtfhaO8bQKEU8Oj5aO/L2RyepBY92utmY1LgNAdLY472EhVEpwHx0qVLERAQgFGjRgEAVq1ahV27dmHNmjWYMWOGVv3169dj1qxZ8PHxAQB8+OGHOHDgAJYsWYINGzao6xkYGMDBwaHAcyYnJ2P16tUIDg7GW2+9BQBYu3YtGjRogNOnT6Nt27ZlfZlERCVmJE+B6P4JIOmlRStKMtqbl74sfyozjvZWeqlZubifBuwIf4R7T7PUD7VFJaQjp0SjvaoH2fK+rlHNhPl5iUpJZwFxTk4Ozp8/j5kzZ6rLxGIxunfvjlOnThW4T3Z2NmQymUaZsbExjh8/rlF2584dODk5QSaToV27dli8eDFq1qwJADh//jzkcjm6d++url+/fn3UrFkTp06dKjQgzs7ORnb2i/+Rp6SkAFBN45DLS7dO+qvIO0dFnIsqB/a5nhCUED0Kh+jOXkhu7UbvhJvA1UKqGplBsFalLxOsaz9/1QGq1Sp8tDc3t/zaTiWmeD63925COqISMhCVkI67Cem4m5DxfLTXALii3fGGEhHcrE1Qy8YUHjamqGVjilo2JnC3MYVFIaO9SkUulMWseUK6xZ/vFaek91hnAXFCQgIUCoXWvF17e3uN+b75eXt7Y+nSpejcuTM8PDwQFhaGbdu2QaF48Z3v5eWFdevWoV69enj8+DEWLFiATp064erVqzA3N0dsbCyMjIxgZWWldd7Y2NhC27t48WKtuckAsH//fpiYVFxKodDQ0Ao7F1UO7POqR6zMgU3qDTgkX4Bj8kXIcpPU2wSIkGFkgzSpI9JkDkiTOSFN6oBUmROyDfKtxpby/HX3HoB7FX4NVLCsXCAuC3iSKXr+AuIyRYjPAnKFwkdtLQwF2BkDdjIBdsaqr+2NBVSXAmJRMoBkQA7gMfDoMfCowq6IyhN/vpe/jIyMEtXT+UN1pfHdd98hICAA9evXh0gkgoeHB0aNGoU1a9ao6/Tu3Vv9ddOmTeHl5QVXV1ds3rwZY8aMeeVzz5w5E0FBQer3KSkpcHFxQc+ePWFhYfHKxy0puVyO0NBQ9OjRA4aGnAOmD9jnVUzGU4giQiG+sxeiyIMQydPVmwQjUwjub0Pu0QNh0RJ07T0A1Q0NUV2HzaXCFTbaGxWfjvi0nEL3M5SIUMv6xQivu61qxNfF0ginjx3i97oe4c/3ipP3F/3i6CwgtrGxgUQiQVxcnEZ5XFxcofN/bW1tERISgqysLCQmJsLJyQkzZsyAu7t7oeexsrJC3bp1ERERAQBwcHBATk4OkpKSNEaJizovAEilUkilUq1yQ0PDCv0wV/T5SPfY52+wp1HAzd3ArT1A9CnN1dzMHYF6vYF6fSCq1QkiAynEcjnkj3azzyuJlCz58wwOmtkc7iYWPbfX1lz6fE6vmXrRCg8bMzhXMy5wbm/en3TZ7/qHfV7+Snp/dRYQGxkZwdPTE2FhYejfvz8AQKlUIiwsDIGBgUXuK5PJ4OzsDLlcjq1bt+L9998vtG5aWhoiIyMxfPhwAICnpycMDQ0RFhaGQYMGAQBu3bqF6OhotGvXrmwujoj0k1IJPLoA3NqtCoTjb2hut2/8PAj2AZxa8GG3SkChFBDzLC+TQ75sDgnpiC8qk4OBGLWsTeFhZ6qRzaGWrSksZAxwiN40Op0yERQUBH9/f7Rq1Qpt2rTB8uXLkZ6ers46MWLECDg7O2Px4sUAgDNnziAmJgbNmzdHTEwM5s+fD6VSiWnTpqmPOXXqVPj6+sLV1RWPHj3CvHnzIJFI4OfnBwCwtLTEmDFjEBQUhOrVq8PCwgKTJk1Cu3btmGGCiEpPngXcPaIKgm/tBdLyPYsgkgCu7YH6fVSBcDU3nTVT3+WN9r68NPG9xIwiR3vtzKX5UpepAt/atmZwsip4tJeI3kw6DYgHDx6M+Ph4zJ07F7GxsWjevDn27t2rftAuOjoaYvGLROFZWVmYPXs2oqKiYGZmBh8fH6xfv15j6sPDhw/h5+eHxMRE2NraomPHjjh9+jRsbW3VdZYtWwaxWIxBgwZpLMxBRFQi6YnAnX2qIDjiIJBvPjCMzIDa3VVBcJ0egHE13bVTzyiUAh4+y1AHu5Hq6Q7pSEgrerQ3b06vu42ZxqivOUd7ifSCzh+qCwwMLHSKxOHDhzXed+nSBdevXy/yeH/99Vex55TJZFixYgVWrFhR4nYSkZ5LjHw+Cpw3HzjfqKK5k2oEuL4P4NYJMNB+3oDKTnKmXGORirwliu8lZCBHUfRob/5FKvJWa+NoLxHpPCAmIqqUlEog5jxwa5cqCI5/KR2kfWPVXOD6PoBjc84HLmO5CiUePsvUmN4Q+fyhtqJGe6UGYlXOXnXg+3xurw1He4mocAyIiYjyyDOBqOfzgW/vBdLyZcERSQC3DkC9vPnArrprZxWSnCFHZN7KbPlGfe8nFj3aa28h1Zre4GFrBmcrY4g52ktEpcSAmIj0W3qiKvi9tRuIPAjI8yVxNzIH6nRXBcF1unM+8CvKG+3NP70h8onq34Qi8va+PNqb9y9He4morDEgJiL9kxgJ3Hw+FeLBac35wBbOL1KjuXUCDIx01843TP7RXlXwq/r6XmI65Aqh0P3sLfLN7bUxg4edKn8vR3uJqKIwICaiqk+pBGL+exEEJ9zS3O7QRBUA1/MBHJtxPnARchVKPHiWWeBDbSUa7bUzg4dN3kNtqry9ZlL+KiIi3eJPISKqmuSZQNRhVRB8ey+QHv9im9gAcO3wIj+wVU2dNbOySs6QIyJvlDchL39vOu4XM9rrYCHTeJgtL5uDkyVHe4mo8mJATERVR3rC8/nAe7TnA0stXuQHrt0dMLbSWTMri7zR3pcXq4iKT0dietGjvXmLVHg8H/V1t+FoLxG9ufiTi4jebAkRL1KjPTjz0nzgGi/yA7t21Nv5wEkZORqLVEQ9X6Y4+mlGsaO9L2dxcOdoLxFVQQyIiejNolQAD/97EQQn3Nbc7tD0RX5gh6Z6Mx84V6FE9NMMrSwOxY32ygzFqJUv4PV4/mAbR3uJSJ/wpx0RVX45Gar5wLd2Abf3ac8Hduv0/KG43oCVi86aWRFUo70vFqnIy+ZQmtFej+crtXG0l4hIhQExEVVOafH58gMfAnIzX2yTWgJ1eqgC4Do9AJml7tpZDuQKJR4kvZjeoA58E9LxtASjvR4vLU1cy8YUphztJSIqFH9CElHloVQCt/cAp1YC908AyDfiaenyYhTYtUOVmw+clJGD30/cRXC4BJ+eCUOusvDRXkdL2Ys5vXkpzOzM4Ggh42gvEdErYEBMRLqXmw1c3gSc+B5IvPOi3LHZi6WSHZpUyfnAMUmZ+O1YFDade4CMHAUAEQABMkOx+mE2jvYSEZUv/lQlIt3JTALOrwVO/wSkxanKpJZA6zFAq9FVej7wjccp+OVoFP659AiK56PB9R3M0cosCQH9usLF2pyjvUREFYQBMRFVvJRHwOmVwH/rgJxUVZm5E9BuIuDpD0jNddq88iIIAk5FJeLnI1E4cvvFg4EdaltjfGcPtHWzxJ49e+DEJYuJiCoUA2IiqjhPbgAnfwAubwaUclWZbQOgwydA40FVbl5wHoVSwN6rsfj5aCQuP0wGAIhFgE8TR4zv7IEmNVQPBcrlcl02k4hIbzEgJqLyJQhA9CngxHeqrBF5XDuqAuE6Park3GAAyJIrsOX8Q/x6NArRT1Wr5skMxXi/lQvGdnRHTWsTHbeQiIgABsREVF6USlXe4BPfAQ/PPS8UAQ36Ah0mAzVa6bJ15epZeg7Wn76P30/eUy+KYWViCP92bhjRzhXWZlIdt5CIiPJjQExEZUueBVz+SzU1IjFCVSaRAs39gHaTAJvaum1fOXrwNAOrj9/FpnMPkClXAABqVDNGQCd3vNeqBkyM+COXiKgy4k9nIiobmUnAf2uAM6teZIyQWQKtxwJtxgPm9jptXnm69igZvxyNwr+XH6szRjR0tMD4Lu7o08QRBhKxjltIRERFYUBMRK8n+aEqbdr5dUBOmqrMwlmVMaLliCqdMeJkZCJWHYnEsTsJ6vKOtW0wvos7Ota2gaiKzo0mIqpqGBAT0auJuw6c/B64sgVQ5qrK7Bq+yBghMdRt+8pJrkKJPc8zRlyNSQGgyhjRp6kTxnd2R2PnqrWMNBGRPmBATEQlJwjA/ZOqB+Xu7HtR7tZJFQjX7l5lM0Zk5iiw5fwD/HosCg+eZgJQZYwY3MoFYzu5w6U6M0YQEb2pGBATUfGUCuDm84wRMf89LxQBDd8B2n8C1PDUafPK07P0HPxx6j5+P3UPT59njKhmYgj/9m4Y0c4N1U2rZu5kIiJ9woCYiAonzwIu/anKGPE0UlUmkQItPgDaBQLWHrptXzl68DQDvx2Lwub/HqozRrhUf54xwtMFxkYSHbeQiIjKCgNiItKW+Qw4t1qVMSL9+RLDMiugTQDQZhxgZqfT5pWnqzHJ+PloFHZdfoTnCSPQ2NkC4zt7oHdjB2aMICKqghgQE9ELSQ9eZIyQp6vKLF1UGSNaDAekZjptXnkRBAEnIhLx81HNjBGd6thgQhcPtPewZsYIIqIqjAExEQFx14AT3wNX/36RMcK+sepBuUYDqnTGiN1XY/HzkUhce6TKGCERi9C3qSPGdXZHIydmjCAi0gcMiIn0lSAA946rHpSLCH1RXquzKhD2eLvKZozIyMnFlv8e4tdjUXj4TJUxwthQgsGtXTCmYy1mjCAi0jMMiIn0jVIB3NipCoQfXVCVicRAw35A+48B55a6bV85SkzLxh+n7uOPU/fwLEMOAKhuaoSR7d0wvK0rqjFjBBGRXmJATKQv5JlAeLAqY8Szu6oyAxnQYphqjnB1d922rxxFJ2bgt+NR2PzfA2TJlQCAmtVNENDZHe+2rMGMEUREeo4BMVFVl/H0RcaIjOcPjBlXU2WLaDMOMLXRbfvK0ZWHyfj5aCR2X3mszhjRxNkSE7p4oFdjB0jEVXNKCBERlQ4DYqKqKukBcGoFcOGPfBkjagLtA1Wjwkamum1fOREEAcfuJODno5E4EZGoLu9S1xbju7ijnTszRhARkSYGxERVTeyV5xkjtgKCakEJ2DcBOk4GGvYHJFXz2z5XocSuK4+x6kgUbjx+kTHinWZOCOjkjoZOFjpuIRERVVZV8zcjkb4RBODuUdWDcpFhL8rdu6oelPN4q0pnjNh07gF+O3YXMUmqjBEmRhIMaV0Tozu6oUY1ZowgIqKiMSAmepMpFcCNf55njLioKhOJVbmD238MODXXafPKU0JaNv44eQ9/nL6PpOcZI6xNjTCqgxuGtXWFlQkzRhARUckwICZ6E8kzgfCNzzNG3FOVGRjnyxhRS6fNK0/3E9Px67EobPnvIbJzVRkj3KxVGSMGtawBmSEzRhARUemIdd2AFStWwM3NDTKZDF5eXjh79myhdeVyORYuXAgPDw/IZDI0a9YMe/fu1aizePFitG7dGubm5rCzs0P//v1x69YtjTpdu3aFSCTSeE2YMKFcro+oTGU8BY58DSxrDOz6VBUMG1cHuswAplwF+nxbZYPhyw+TMDH4Arp9exgbTkcjO1eJZjUs8dMHLRH2aVd84OXKYJiIiF6JTkeIN23ahKCgIKxatQpeXl5Yvnw5vL29cevWLdjZ2WnVnz17NjZs2IBff/0V9evXx759+zBgwACcPHkSLVq0AAAcOXIEEydOROvWrZGbm4vPPvsMPXv2xPXr12Fq+uKp+oCAACxcuFD93sSE8wypEnt2Hzi98nnGiAxVmVVN1bSI5h8ARlXz8ysIAo7eScDPRyJxMvJFxohu9WwxvosHvGpVZ8YIIiJ6bToNiJcuXYqAgACMGjUKALBq1Srs2rULa9aswYwZM7Tqr1+/HrNmzYKPjw8A4MMPP8SBAwewZMkSbNiwAQC0RozXrVsHOzs7nD9/Hp07d1aXm5iYwMHBobwujahMWGTchyRkPHA95EXGCIemqqWVq3DGCLlCiV2XH2PVkUjcjE0FABiIRXinuRPGdXZHfQdmjCAiorKjs9+mOTk5OH/+PGbOnKkuE4vF6N69O06dOlXgPtnZ2ZDJZBplxsbGOH78eKHnSU5OBgBUr15do3zjxo3YsGEDHBwc4Ovrizlz5hQ5SpydnY3s7Gz1+5QUVVonuVwOuVxe6H5lJe8cFXEu0jFBgOjeMYhPfodu946oi5W1ukLZbhIEt86qjBFKAVBWrc9DenYutlyIwdoT9/EoOQuAKmPE4FY1MLJdTThZGQOout8H/D7XT+x3/cM+rzglvcciQRCEcm5LgR49egRnZ2ecPHkS7dq1U5dPmzYNR44cwZkzZ7T2GTp0KC5duoSQkBB4eHggLCwM/fr1g0Kh0AhW8yiVSrzzzjtISkrSCJp/+eUXuLq6wsnJCZcvX8b06dPRpk0bbNu2rdD2zp8/HwsWLNAqDw4O5nQLKhMiQQHHpHOoE7cbVpn3AABKiPGoWhtE2Pkg2cRNp+0rT6ly4OhjMY7HipChUE2BMDcU0NlBiY4OAkyq5kA4ERGVs4yMDAwdOhTJycmwsCj8r4tv1K+Z7777DgEBAahfvz5EIhE8PDwwatQorFmzpsD6EydOxNWrV7VGkMeNG6f+ukmTJnB0dMTbb7+NyMhIeHh4FHismTNnIigoSP0+JSUFLi4u6NmzZ5E3uKzI5XKEhoaiR48eMDQ0LPfzUQWSZ0B86U+Iz6yEKOk+AEAwMEZu06E4nNUQHfoORYcq2uf3EzOw+sQ9bAt/pJExYkwHNwxo7gipnj0kx+9z/cR+1z/s84qT9xf94ugsILaxsYFEIkFcXJxGeVxcXKFze21tbRESEoKsrCwkJibCyckJM2bMgLu7u1bdwMBA/Pvvvzh69Chq1KhRZFu8vLwAABEREYUGxFKpFFKpVKvc0NCwQj/MFX0+KkfpicC5X4EzPwOZT1VlJtZAm/EQtR4LGFkgY/fuKtnnlx4k4eejkdhzNRZ5f6Nq5mKFD7u4o0dDB0jE+v2gXFXscyoe+13/sM/LX0nvr84CYiMjI3h6eiIsLAz9+/cHoJriEBYWhsDAwCL3lclkcHZ2hlwux9atW/H++++rtwmCgEmTJmH79u04fPgwatUqPgVVeHg4AMDR0fGVr4eoxJ7dA06tAC6sB3JVK6vByhVoP0kzY0QVm1smCAIO347Hz0cicTrqqbr8rfp2GN/ZHW2YMYKIiHREp1MmgoKC4O/vj1atWqFNmzZYvnw50tPT1VknRowYAWdnZyxevBgAcObMGcTExKB58+aIiYnB/PnzoVQqMW3aNPUxJ06ciODgYOzYsQPm5uaIjY0FAFhaWsLY2BiRkZEIDg6Gj48PrK2tcfnyZUyZMgWdO3dG06ZNK/4mkP54fEm1oty17YCgmh4Ax+aqjBEN3qnSGSN2XnqEX45GaWSM6NfcGeM6u6Oeg7mOW0hERPpOp7+BBw8ejPj4eMydOxexsbFo3rw59u7dC3t7ewBAdHQ0xOIXa4dkZWVh9uzZiIqKgpmZGXx8fLB+/XpYWVmp6/z0008AVItv5Ld27VqMHDkSRkZGOHDggDr4dnFxwaBBgzB79uxyv17SQ4IARB1SBcJRh1+Ue7ytCoRrPc8YUQWlZefir7PRWHP8rjpjhKmRBEO9amJ0x1pwtDTWcQuJiIhUdD4kFRgYWOgUicOHD2u879KlC65fv17k8YpLmuHi4oIjR44UWYfotSlyVbmDTywHYq+oykQSoPEgoMPHgEMTXbauXMWnZmPdybtYf+o+UrJyAQA2ZlKM7uiGD7xcYWnM+XJERFS56DwgJqpSctKBixuBUz8ASdGqMkMToKU/0O4j1epyVVRUfBp+PXYXWy88RM7zjBHuNqYY19kd/Vs4c1llIiKqtBgQE5WF9ATg7K/A2V/yZYywAbwmAK3HACbVi97/DXYx+hl+PhKFfddfZIxoUdMKE7p4oEcDe4j1PGMEERFVfgyIiV7H07uqjBEXN7zIGFGt1vOMEUMBw6o5T1YQBBy+FY9VRyJx5u6LjBHdG9hhfBcPtHKtxowRRET0xmBATPQqHl0ETnyvmieclzHCqQXQYTLQwBcQV83pATm5LzJG3IpTZYwwlIjQ/3nGiDr2zBhBRERvHgbERCUlCEDkQVXGiLv5Hsys3UOVMcKtY5XPGLH6+F08fp4xwkxqgA+8amJUh1pwsJTpuIVERESvjgExUXEUuarcwSe+A+KeZ4wQGwCN31VNjXBorNv2laMnqVlYd+Ie1p++j9TnGSPszKUY3bEWhnrVhIWMGSOIiOjNx4CYqDA56arV5E6tAJLzMkaYAp7+QNuPACsX3bavHEXGp+G3Y1HYej4GOQrVlBAPW1OM7+yBfi2cIDWomlNCiIhIPzEgJnpZWrwqW8S5X4HMZ6oyU1vAazzQqmpnjLgQ/Qw/H4nE/utx6owRnq7VMKGLB96ub8eMEUREVCUxICbK8zQKOPkjEL4RyFXNk0V1d9W0iGZ+VTZjhFIp4NCtJ/j5SBTO3nuRMaJHQ3uM7+yOVm5V9z8AREREAANiIiDmvCpjxI1/8mWMaAl0nAzU71ulM0bsCI/BL0ejcOdJGgBVxoiBLWogoHMt1LZjxggiItIPDIhJPwkCEBGmWlr53rEX5XV6qjJGuHaoshkjUrPk+PNsNNYcv4fYFNVIuLnUAEPb1sToDrVgb8GMEUREpF8YEJN+UciBq9tUGSOeXFOViQ2AJu+ppkbYN9Jt+8rRk5QsrDlxDxtP30dqtipjhL2FFKM71IIfM0YQEZEeY0BM+iE7DbjwhypjRMpDVZmRGeA5Emj7IWBZQ6fNK08RT9Lw69EobL/4ImNEbTszjOvsjn7NmTGCiIio1AGxm5sbRo8ejZEjR6JmzZrl0SaispP2BDjzM3DuNyArSVVmage0nQC0Gg0YV9Np88rT+ftPsepIFEKvx6nLWrtVw/jOHniLGSOIiIjUSh0QT548GevWrcPChQvRrVs3jBkzBgMGDIBUKi2P9hG9msRI4OQPQHgwoMhWlVX3ADp8DDQdAhhWzXmySqWAsJtP8PORSPx3X5UyTiQCejSwx/gu7vB0ZcYIIiKil71SQDx58mRcuHAB69atw6RJk/DRRx9h6NChGD16NFq2bFke7SQqmYfnVQ/K3dgJ4HkiXedWqowR9XyqbMaI7FwFdoQ/wi9HoxDxPGOEkUSMgS2dMbaTO2rbmem4hURERJXXK88hbtmyJVq2bIklS5Zg5cqVmD59On766Sc0adIEH3/8MUaNGgVRFX1KnyoZQQAiDgDHlwP3j78or9tLlTGiZrsqmzEiJUuOP89EY82Ju4hLUY2Em8sMMKytK0a1d4MdM0YQEREV65UDYrlcju3bt2Pt2rUIDQ1F27ZtMWbMGDx8+BCfffYZDhw4gODg4LJsK5Gm3Bzg6lbg5PfAk+uqMrEh0PR9VcYIuwa6bV85ikvJwpoTdxF8OlqdMcLBQoYxHWthSBsXmDNjBBERUYmVOiC+cOEC1q5diz///BNisRgjRozAsmXLUL9+fXWdAQMGoHXr1mXaUCK17FTg/O/A6ZVASoyqzMgcaDUS8PoQsHTWafPKU8STVPzyPGOEXKGaElLHzgzju3jgnWZOMDIQ67iFREREb55SB8StW7dGjx498NNPP6F///4wNNQeiapVqxaGDBlSJg0kUkuNA87mZYxIVpWZ2avSpnmOAoytdNq88vTfPVXGiAM3XmSMaFOrOiZ0cUfXuswYQURE9DpKHRBHRUXB1dW1yDqmpqZYu3btKzeKSENCBHDqByD8zxcZI6zrPM8YMRgwqJoZTpRKAVeeivD7r2dxIToJgGoqtHdDB4zr4o6WNatuyjgiIqKKVOqA+MmTJ4iNjYWXl5dG+ZkzZyCRSNCqVasyaxzpucwkIGwh8N8aqDNG1GijyhhRtzcgrrrTAy49SMJn2y/j2iMJgCQYGYgxqGUNBHSqBXdbZowgIiIqS6UOiCdOnIhp06ZpBcQxMTH43//+hzNnzpRZ40hPCQJweTOwfxaQHq8qq9sL6DAZcG2n06aVt+RMOb7ZdxMbz0RDEABjiYCRHdwxqpM77MyZMYKIiKg8lDogvn79eoG5hlu0aIHr16+XSaNIj8XfBnYFAfeOqd7b1AX6LAVqddJtu8qZIAjYEf4IX+y6joS0HADAgOaO8DR4gME96hQ4V5+IiIjKRqkDYqlUiri4OLi7u2uUP378GAYGr5zFjfSdPBM4tkSVS1gpBwxkQJdpQLtJgIGRrltXriLj0zAn5CpORiYCAGrbmeHzfo3RqqYFdu9+oOPWERERVX2ljmB79uyJmTNnYseOHbC0tAQAJCUl4bPPPkOPHj3KvIGkB+6EArunAs/uqd7X6Qn4fANUc9Nlq8pdllyBFYci8PORKOQolJAaiPHx23UQ0MkdRgZiyOVyXTeRiIhIL5Q6IP7222/RuXNnuLq6okWLFgCA8PBw2NvbY/369WXeQKrCUh4Be2cA13eo3ls4A72+Ahr4VtmV5fIcvvUEc3dcQ/TTDADAW/XtsOCdRnCpbqLjlhEREemfUgfEzs7OuHz5MjZu3IhLly7B2NgYo0aNgp+fH+c5UskoclX5hA8tAnLSAJFElUu460xAWrUzKMQmZ2Hhv9ew+0osAMDRUoZ5vo3g3cieS50TERHpyCtN+jU1NcW4cePKui2kDx6cA/6dAsRdUb2v0QbouwxwaKzbdpWzXIUSv5+6j6X7byE9RwGJWITRHdwwuXtdmEo5956IiEiXXvk38fXr1xEdHY2cnByN8nfeeee1G0VVUMZTIGyBasllCIDMCuixAGgxokrnEwaAC9HPMHv7VVx/nAIAaFnTCl8OaIIGjhY6bhkREREBr7hS3YABA3DlyhWIRCIIgmrBhLw/9yoUirJtIb3ZBAG49BewfzaQkaAqa/4B0GMhYGqj27aVs+QMOf637yb+PKvKKWxpbIiZvevj/VYuXGqZiIioEil1QPzJJ5+gVq1aCAsLQ61atXD27FkkJibi008/xbffflsebaQ3VfwtYNenL3IK29ZX5RR266DbdpUzQRCw7UIMFu2+gcR01V9Q3vWsgZm968ParGouM01ERPQmK3VAfOrUKRw8eBA2NjYQi8UQi8Xo2LEjFi9ejI8//hgXL14sj3bSmyQnAzj6DXDyh+c5hY2BrtOBthOrfE7hiCepmB1yFaejngIA6tiZ4Yv+jeHlbq3jlhEREVFhSh0QKxQKmJubAwBsbGzw6NEj1KtXD66urrh161aZN5DeMLf3qXIKJ0Wr3tftBfT+Gqjmqtt2lbPMHAV+PHQHvxyNglwhQGYoxidv18WYjrVgZFC150gTERG96UodEDdu3BiXLl1CrVq14OXlha+//hpGRkb45ZdftFavIz2S/FCVU/jGTtV7ixpA7/8B9ftU+ZzCB2/GYe6Oa3j4LBMA0L2BHeb5MqcwERHRm6LUAfHs2bORnp4OAFi4cCH69u2LTp06wdraGps2bSrzBlIlp5ADZ1YBhxYD8nRVTuF2E4Eu06t8TuHHyZlY8M917L2myinsZCnD/HcaoWcjBx23jIiIiEqj1AGxt7e3+uvatWvj5s2bePr0KapVq8aFBfRN9BlgVxAQd1X13qUt0HcpYN9It+0qZ7kKJdadvIelobeRkaOAgViEMR1r4eO36zCnMBER0RuoVJMb5XI5DAwMcPXqVY3y6tWrv3IwvGLFCri5uUEmk8HLywtnz54t8vwLFy6Eh4cHZDIZmjVrhr1795b6mFlZWZg4cSKsra1hZmaGQYMGIS4u7pXar5cyngL/TALW9FQFw8bVgHd+BEbtqfLB8Pn7z9D3h+P4YtcNZOQo0Mq1Gv79uCNm+jRgMExERPSGKlVAbGhoiJo1a5ZZruFNmzYhKCgI8+bNw4ULF9CsWTN4e3vjyZMnBdafPXs2fv75Z/zwww+4fv06JkyYgAEDBmhktijJMadMmYKdO3diy5YtOHLkCB49eoSBAweWyTVVaYIAXNwI/NgKuPCHqqzFMCDwPNByeJVeYCMpIwczt13GoJ9O4mZsKqxMDPH1oKbYPL4d6jtwgQ0iIqI3WakjmFmzZuGzzz7D06dPX/vkS5cuRUBAAEaNGoWGDRti1apVMDExwZo1awqsv379enz22Wfw8fGBu7s7PvzwQ/j4+GDJkiUlPmZycjJWr16NpUuX4q233oKnpyfWrl2LkydP4vTp0699TVXWkxvAWh9gx0dARiJg2wAYtRfotwIwrbopxQRBwN/nH+KtJUfw59kHAID3W9XAwU+74v3WXGCDiIioKij133h//PFHREREwMnJCa6urjA1NdXYfuHChRIdJycnB+fPn8fMmTPVZWKxGN27d8epU6cK3Cc7OxsymUyjzNjYGMePHy/xMc+fPw+5XI7u3bur69SvXx81a9bEqVOn0LZt20LPnZ2drX6fkqJahlcul0Mul5foml9H3jkq4lyaJ86A+PgSiE+vgEiZC8HQBMpO/wdlmwmAxBCo6PZUoDtxaZj37w2cu/cMAFDHzhQL32mIVq7VAJR/X+isz0ln2Of6if2uf9jnFaek97jUAXH//v1Lu0uBEhISoFAoYG9vr1Fub2+PmzdvFriPt7c3li5dis6dO8PDwwNhYWHYtm2begpHSY4ZGxsLIyMjWFlZadWJjY0ttL2LFy/GggULtMr3798PE5OKS68VGhpaYeeyT76Ipg/XwyRHteTyY8uWuFJjGDKf2QD7Kq4dFS1HAex7KMbBxyIoBRGMxAJ61VCiq2Mynlw7hd3XKrY9FdnnVDmwz/UT+13/sM/LX0ZGRonqlTognjdvXqkbU1a+++47BAQEoH79+hCJRPDw8MCoUaMKnWJRlmbOnImgoCD1+5SUFLi4uKBnz56wsCj/OaRyuRyhoaHo0aMHDA0Ny/dkyQ8h2f8ZxFG7AQCCRQ0ovBfDpm5vdCvfM+vcwVvx+PrfG4hJygIAdK9vi9l96sPZyrjC21KhfU6VAvtcP7Hf9Q/7vOLk/UW/ODp7LN7GxgYSiUQru0NcXBwcHArO42pra4uQkBBkZWUhMTERTk5OmDFjhnpBkJIc08HBATk5OUhKStIYJS7qvAAglUohlUq1yg0NDSv0w1yu51PIgdMrgcNfAfIMQGwAtAuEqMs0GBiZFr//GywmKRML/rmG/ddVnx1nK2PMf6cRejS0L2bP8lfRnzHSPfa5fmK/6x/2efkr6f0t9UN1YrEYEomk0FdJGRkZwdPTE2FhYeoypVKJsLAwtGvXrsh9ZTIZnJ2dkZubi61bt6Jfv34lPqanpycMDQ016ty6dQvR0dHFnrdKiz4N/NwZCJ2rCoZrtgfGHwN6LACqcDAsVyjxy9FIdF9yBPuvx8FALMKELh4IDepcKYJhIiIiKn+lHiHevn27xnu5XI6LFy/i999/L3CObVGCgoLg7++PVq1aoU2bNli+fDnS09MxatQoAMCIESPg7OyMxYsXAwDOnDmDmJgYNG/eHDExMZg/fz6USiWmTZtW4mNaWlpizJgxCAoKQvXq1WFhYYFJkyahXbt2hT5QV6WlJwIH5gIXN6jeG1cHen4BNB9a5Zdc/u/eU8zafhW34lIBAG3cquOLAY1R195cxy0jIiKiilTqgDhvNDa/d999F40aNcKmTZswZsyYEh9r8ODBiI+Px9y5cxEbG4vmzZtj79696ofioqOjIc6X2zYrKwuzZ89GVFQUzMzM4OPjg/Xr12tMfSjumACwbNkyiMViDBo0CNnZ2fD29sbKlStLeyvebEolEL5RNSKc+TyFXssRQPcFgEl13batnD1Lz8FXe25i03+qNGrVTAzxmU8DvOtZg6stEhER6aEym0Pctm1bjBs3rtT7BQYGIjAwsMBthw8f1njfpUsXXL9+/bWOCaimXKxYsQIrVqwoVVurjLhrwL9BwIPneZftGqmWXK5ZtUfIlUpVTuHFe27gWYYqDcuQ1i6Y3qs+qpka6bh1REREpCtlEhBnZmbi+++/h7Ozc1kcjspLTrrqgbnTKwFlLmBoCnSbCXg9zylchd2KTcXskCvqnML1HczxRf/GaOVWtUfDiYiIqHilDoirVaum8WdlQRCQmpoKExMTbNiwoUwbR2Xo5i5gz3QgWTVNAPX7Ar3/B1jW0G27yllGTi6+O3AHq4/fRa5SgImRBFO618XIDm4wlFTdpaaJiIio5EodEC9btkwjIBaLxbC1tYWXlxeqVatWpo2jMpAUDeyeBtzeo3pvWRPw+Qao10u37aoA+6/FYsHO64hJygQAeDeyxzzfRnDSQU5hIiIiqrxKHRCPHDmyHJpBZU4hB079CBz5+kVO4fYfA53/DzCquJX1dOHhswzM/+c6Dtx4kVN4Yb9GeLsB06gRERGRtlIHxGvXroWZmRnee+89jfItW7YgIyMD/v7+ZdY4ekX3TgC7goD450tgu3YA+iwF7Orrtl3lTK5Q4rdjd/F92B1kyhUwEIswrrM7Jr1VB8ZGJc+RTURERPql1AHx4sWL8fPPP2uV29nZYdy4cQyIdSk9QZVGLXyj6r2JtSqncDO/Kp9T+Ozdp5gdcgW349IAAG1qVceX/RujDnMKExERUTFKHRBHR0ejVq1aWuWurq6Ijo4uk0ZRKSmVwMX1wIF5QKYqiwI8RwJvz6vyOYUT07KxeM9N/H3+IQCguqkRZvk0wMCWzswpTERERCVS6oDYzs4Oly9fhpubm0b5pUuXYG1tXVbtopKKvQr8OwV4eFb13r4x0HcZ4NJGt+0qZ0qlgM3/PcBXe28i6XlOYb82NTG9Vz1YmTCnMBEREZVcqQNiPz8/fPzxxzA3N0fnzp0BAEeOHMEnn3yCIUOGlHkDqRDZacDhxcDpnwBBARiZAd0+A9qMByRltt5KpXTjcQpmh1zF+fsvcgp/OaAJPF2Z5YSIiIhKr9SR0+eff4579+7h7bffhoGBanelUokRI0Zg0aJFZd5AeokgADd2qnIKp8Soyhq8A/T6CrCs2gujpGfnYvmB21hz4h4USgGmRhJM6VEXI9u7wYA5hYmIiOgVlTogNjIywqZNm/DFF18gPDwcxsbGaNKkCVxdXcujfZSPSXY8JJuHAhGhqgIrV8DnW6BuT902rJwJgoB91+KwYOc1PE7OAgD0buyAub4N4WjJnMJERET0el75b+t16tRBnTp1yrItVJjcHIhPfIduN76GWMgBxIZAh4+BTlOrfE7hB08zMP+fawi7+QQA4FLdGAvfaYxu9e103DIiIiKqKkodEA8aNAht2rTB9OnTNcq//vprnDt3Dlu2bCmzxtFzjy5AcvgLAIDStQPEfZcBtvV026ZylpOrxK/HovDDwTvIkithKFHlFA7sxpzCREREVLZKHRAfPXoU8+fP1yrv3bs3lixZUhZtopfVbAtFmwkIjxPQ9IMvIDaq2lkUTkclYnbIVUQ8UeUUbuteHV/0b4zadswpTERERGWv1AFxWloajAoIyAwNDZGSklImjSJtyh5f4OHu3WhahXPrJqRlY9HuG9h2QfWwoLWpEWb1aYABLZhTmIiIiMpPqR/Nb9KkCTZt2qRV/tdff6Fhw4Zl0ijSL0qlgOAz0Xh7yRFsuxADkQj4wKsmDn7aFQNb1mAwTEREROWq1CPEc+bMwcCBAxEZGYm33noLABAWFobg4GD8/fffZd5AqtquP0rBrJAruBidBABo6GiBLwc0RouazClMREREFaPUAbGvry9CQkKwaNEi/P333zA2NkazZs1w8OBBVK9etZcJprKTlp2LZaG3se7ki5zCn/ashxHtXJlTmIiIiCrUK6Vd69OnD/r06QMASElJwZ9//ompU6fi/PnzUCgUZdpAqloEQcDeq7FYsPM6YlNUOYX7NHHEnL4N4WAp03HriIiISB+9ch7io0ePYvXq1di6dSucnJwwcOBArFixoizbRlVMdGIG5v5zFYdvxQMAalY3wcJ+jdC1HnMKExERke6UKiCOjY3FunXrsHr1aqSkpOD9999HdnY2QkJC+EAdFSo7V4Ffj0bhh4MRyM5V5RT+sIsHPupWGzJD5hQmIiIi3SpxQOzr64ujR4+iT58+WL58OXr16gWJRIJVq1aVZ/voDXcyMgGzQ64iKj4dANDewxqf928MD1szHbeMiIiISKXEAfGePXvw8ccf48MPP+SSzVSs+FRVTuHtF1U5hW3MjDCnb0O808yJadSIiIioUinx4/zHjx9HamoqPD094eXlhR9//BEJCQnl2TZ6AymVAjacvo+3lxzG9ouqnMLD27oi7NOu6NecC2wQERFR5VPigLht27b49ddf8fjxY4wfPx5//fUXnJycoFQqERoaitTU1PJsJ70BrsYkY8BPJzE75CpSsnLR2NkC2z/qgM/7N4alsaGum0dERERUoFInfDU1NcXo0aNx/PhxXLlyBZ9++im++uor2NnZ4Z133imPNlIll5olx4Kd1/DOj8dx6UESzKQGmO/bEDsmdkRzFytdN4+IiIioSK+1AkK9evXw9ddf4+HDh/jzzz/Lqk30hhAEAf9efoTuS49g7Yl7UApA36aOCPu0C0Z2qAWJmNMjiIiIqPJ75TzE+UkkEvTv3x/9+/cvi8PRG+B+Yjrm7LiGo7dVOYVdrU3web/G6FzXVsctIyIiIiqdMgmISX9k5yrw85Eo/HgoAjm5ShhJxPiwqwc+7OrBnMJERET0RmJATCV2IiIBc0KuIipBlVO4Y20bLOzXCO7MKUxERERvMAbEVKwnqVn4ctcN7Ah/BACwNZdiTt+G8G3qyDRqRERE9MZjQEyFUigFbDxzH9/su4XUrFyIRMCItq741LseLGRMo0ZERERVAwNiKtCVh8mYFXIFlx8mAwCaOFviywGN0bSGlW4bRkRERFTGGBCThpQsOZbuv40/TqnSqJlLDfB/verhAy9XplEjIiKiKokBMQHIyyn8GAv/vY741GwAwDvNnDC7TwPYWch03DoiIiKi8sOAmHA3IR1zd1zFsTsJAIBaNqb4vF9jdKxjo+OWEREREZU/BsR6LEuuwKojkVh5OFKVU9hAjIlda2N8F3fmFCYiIiK98VpLN5eFFStWwM3NDTKZDF5eXjh79myR9ZcvX4569erB2NgYLi4umDJlCrKystTb3dzcIBKJtF4TJ05U1+natavW9gkTJpTbNVZGx+7Eo9fyo1h+4A5ycpXoVMcG+yd3xifd6zAYJiIiIr2i0xHiTZs2ISgoCKtWrYKXlxeWL18Ob29v3Lp1C3Z2dlr1g4ODMWPGDKxZswbt27fH7du3MXLkSIhEIixduhQAcO7cOSgUCvU+V69eRY8ePfDee+9pHCsgIAALFy5UvzcxMSmnq6xcnqRk4fNdN7DzkiqnsJ25FHN9G6JPE+YUJiIiIv2k04B46dKlCAgIwKhRowAAq1atwq5du7BmzRrMmDFDq/7JkyfRoUMHDB06FIBqNNjPzw9nzpxR17G1tdXY56uvvoKHhwe6dOmiUW5iYgIHB4eyvqRKS6EUsOH0fXy77xZSs3MhFgEj2rnh0551Yc6cwkRERKTHdBYQ5+Tk4Pz585g5c6a6TCwWo3v37jh16lSB+7Rv3x4bNmzA2bNn0aZNG0RFRWH37t0YPnx4oefYsGEDgoKCtEY/N27ciA0bNsDBwQG+vr6YM2dOkaPE2dnZyM7OVr9PSUkBAMjlcsjl8hJf96vKO8ernOtKTDLm/nMDVx+p2tzU2QIL32mIRk4Wr3xMKn+v0+f0ZmKf6yf2u/5hn1eckt5jnQXECQkJUCgUsLe31yi3t7fHzZs3C9xn6NChSEhIQMeOHSEIAnJzczFhwgR89tlnBdYPCQlBUlISRo4cqXUcV1dXODk54fLly5g+fTpu3bqFbdu2FdrexYsXY8GCBVrl+/fvr9DpFqGhoSWum5EL7I4W43icCAJEMJYI6FtTifb2T3E//Djuh5dfO6nslKbPqWpgn+sn9rv+YZ+Xv4yMjBLVEwmCIJRzWwr06NEjODs74+TJk2jXrp26fNq0aThy5IjGNIg8hw8fxpAhQ/DFF1/Ay8sLERER+OSTTxAQEIA5c+Zo1ff29oaRkRF27txZZFsOHjyIt99+GxEREfDw8CiwTkEjxC4uLkhISICFhUVJL/uVyeVyhIaGokePHjA0LHqKgyAI2Hk5Fov33kJCWg4A4J2mjpjRqy5szaXl3lYqG6Xpc6oa2Of6if2uf9jnFSclJQU2NjZITk4uMl7T2QixjY0NJBIJ4uLiNMrj4uIKnds7Z84cDB8+HGPHjgUANGnSBOnp6Rg3bhxmzZoFsfhF0oz79+/jwIEDRY765vHy8gKAIgNiqVQKqVQ7mDQ0NKzQD3Nx54uKT8OcHVdxIiIRAOBuY4ov+jdG+9rMKfymqujPGOke+1w/sd/1D/u8/JX0/uos7ZqRkRE8PT0RFhamLlMqlQgLC9MYMc4vIyNDI+gFAIlElSLs5YHutWvXws7ODn369Cm2LeHh4QAAR0fH0lxCpZIlV2Bp6G30Wn4MJyISYWQgxqc96mLP5E4MhomIiIiKoNMsE0FBQfD390erVq3Qpk0bLF++HOnp6eqsEyNGjICzszMWL14MAPD19cXSpUvRokUL9ZSJOXPmwNfXVx0YA6rAeu3atfD394eBgeYlRkZGIjg4GD4+PrC2tsbly5cxZcoUdO7cGU2bNq24iy9DR27HY+6Oq7ifqJon06WuLRb2awRXa1Mdt4yIiIio8tNpQDx48GDEx8dj7ty5iI2NRfPmzbF37171g3bR0dEaI8KzZ8+GSCTC7NmzERMTA1tbW/j6+uLLL7/UOO6BAwcQHR2N0aNHa53TyMgIBw4cUAffLi4uGDRoEGbPnl2+F1sO4lKysPDf69h1+TEAwN5Cinm+jdC7sQNzChMRERGVkM6Xbg4MDERgYGCB2w4fPqzx3sDAAPPmzcO8efOKPGbPnj21plDkcXFxwZEjR16prZVFrkKJP07dx9LQ20h7nlN4ZPtamNKjDnMKExEREZWSzgNiKp1LD5Mxb+cNXHueU7i5ixW+6N8YjZ0tddwyIiIiojcTA+I3RHKmHJujxDh5+gwEAbCQGWB67/rwa10TYjGnRxARERG9KgbEb4DLD5Mwau05JKar5lMPbOGMmT4NmFOYiIiIqAwwIH4DuNuawUAigr2xgG+HtEanevbF70REREREJcKA+A1gJjXAWn9P3Dh7FG3dq+u6OURERERVis4W5qDSqWNnBgP2FhEREVGZY4hFRERERHqNATERERER6TUGxERERESk1xgQExEREZFeY0BMRERERHqNATERERER6TUGxERERESk1xgQExEREZFeY0BMRERERHqNATERERER6TUGxERERESk1xgQExEREZFeY0BMRERERHqNATERERER6TUGxERERESk1xgQExEREZFeY0BMRERERHqNATERERER6TUGxERERESk1xgQExEREZFeY0BMRERERHqNATERERER6TUGxERERESk1xgQExEREZFeY0BMRERERHqNATERERER6TUGxERERESk1xgQExEREZFeY0BMRERERHqNATERERER6TUGxERERESk1xgQExEREZFe03lAvGLFCri5uUEmk8HLywtnz54tsv7y5ctRr149GBsbw8XFBVOmTEFWVpZ6+/z58yESiTRe9evX1zhGVlYWJk6cCGtra5iZmWHQoEGIi4srl+sjIiIiospNpwHxpk2bEBQUhHnz5uHChQto1qwZvL298eTJkwLrBwcHY8aMGZg3bx5u3LiB1atXY9OmTfjss8806jVq1AiPHz9Wv44fP66xfcqUKdi5cye2bNmCI0eO4NGjRxg4cGC5XScRERERVV4Gujz50qVLERAQgFGjRgEAVq1ahV27dmHNmjWYMWOGVv2TJ0+iQ4cOGDp0KADAzc0Nfn5+OHPmjEY9AwMDODg4FHjO5ORkrF69GsHBwXjrrbcAAGvXrkWDBg1w+vRptG3btsD9srOzkZ2drX6fkpICAJDL5ZDL5aW88tLLO0dFnIsqB/a5/mGf6yf2u/5hn1eckt5jnQXEOTk5OH/+PGbOnKkuE4vF6N69O06dOlXgPu3bt8eGDRtw9uxZtGnTBlFRUdi9ezeGDx+uUe/OnTtwcnKCTCZDu3btsHjxYtSsWRMAcP78ecjlcnTv3l1dv379+qhZsyZOnTpVaEC8ePFiLFiwQKt8//79MDExKfX1v6rQ0NAKOxdVDuxz/cM+10/sd/3DPi9/GRkZJaqns4A4ISEBCoUC9vb2GuX29va4efNmgfsMHToUCQkJ6NixIwRBQG5uLiZMmKAxZcLLywvr1q1DvXr18PjxYyxYsACdOnXC1atXYW5ujtjYWBgZGcHKykrrvLGxsYW2d+bMmQgKClK/T0lJgYuLC3r27AkLC4tXuAOlI5fLERoaih49esDQ0LDcz0e6xz7XP+xz/cR+1z/s84qT9xf94uh0ykRpHT58GIsWLcLKlSvh5eWFiIgIfPLJJ/j8888xZ84cAEDv3r3V9Zs2bQovLy+4urpi8+bNGDNmzCufWyqVQiqVapUbGhpW6Ie5os9Husc+1z/sc/3Eftc/7PPyV9L7q7OA2MbGBhKJRCu7Q1xcXKHzf+fMmYPhw4dj7NixAIAmTZogPT0d48aNw6xZsyAWaz8jaGVlhbp16yIiIgIA4ODggJycHCQlJWmMEhd1XiIiIiKqunSWZcLIyAienp4ICwtTlymVSoSFhaFdu3YF7pORkaEV9EokEgCAIAgF7pOWlobIyEg4OjoCADw9PWFoaKhx3lu3biE6OrrQ8xIRERFR1aXTKRNBQUHw9/dHq1at0KZNGyxfvhzp6enqrBMjRoyAs7MzFi9eDADw9fXF0qVL0aJFC/WUiTlz5sDX11cdGE+dOhW+vr5wdXXFo0ePMG/ePEgkEvj5+QEALC0tMWbMGAQFBaF69eqwsLDApEmT0K5du0IfqCMiIiKiqkunAfHgwYMRHx+PuXPnIjY2Fs2bN8fevXvVD9pFR0drjAjPnj0bIpEIs2fPRkxMDGxtbeHr64svv/xSXefhw4fw8/NDYmIibG1t0bFjR5w+fRq2trbqOsuWLYNYLMagQYOQnZ0Nb29vrFy5suIunIiIiIgqDZ0/VBcYGIjAwMACtx0+fFjjvYGBAebNm4d58+YVery//vqr2HPKZDKsWLECK1asKFVbiYiIiKjq0fnSzUREREREusSAmIiIiIj0GgNiIiIiItJrDIiJiIiISK8xICYiIiIivcaAmIiIiIj0GgNiIiIiItJrDIiJiIiISK8xICYiIiIivcaAmIiIiIj0GgNiIiIiItJrDIiJiIiISK8xICYiIiIivcaAmIiIiIj0GgNiIiIiItJrDIiJiIiISK8xICYiIiIivcaAmIiIiIj0GgNiIiIiItJrDIiJiIiISK8xICYiIiIivcaAmIiIiIj0GgNiIiIiItJrDIiJiIiISK8xICYiIiIivcaAmIiIiIj0GgNiIiIiItJrDIiJiIiISK8xICYiIiIivcaAmIiIiIj0GgNiIiIiItJrDIiJiIiISK8xICYiIiIivcaAmIiIiIj0GgNiIiIiItJrDIiJiIiISK8xICYiIiIivabzgHjFihVwc3ODTCaDl5cXzp49W2T95cuXo169ejA2NoaLiwumTJmCrKws9fbFixejdevWMDc3h52dHfr3749bt25pHKNr164QiUQarwkTJpTL9RERERFR5abTgHjTpk0ICgrCvHnzcOHCBTRr1gze3t548uRJgfWDg4MxY8YMzJs3Dzdu3MDq1auxadMmfPbZZ+o6R44cwcSJE3H69GmEhoZCLpejZ8+eSE9P1zhWQEAAHj9+rH59/fXX5XqtRERERFQ5Gejy5EuXLkVAQABGjRoFAFi1ahV27dqFNWvWYMaMGVr1T548iQ4dOmDo0KEAADc3N/j5+eHMmTPqOnv37tXYZ926dbCzs8P58+fRuXNndbmJiQkcHBzK47KIiIiI6A2is4A4JycH58+fx8yZM9VlYrEY3bt3x6lTpwrcp3379tiwYQPOnj2LNm3aICoqCrt378bw4cMLPU9ycjIAoHr16hrlGzduxIYNG+Dg4ABfX1/MmTMHJiYmhR4nOzsb2dnZ6vcpKSkAALlcDrlcXvwFv6a8c1TEuahyYJ/rH/a5fmK/6x/2ecUp6T3WWUCckJAAhUIBe3t7jXJ7e3vcvHmzwH2GDh2KhIQEdOzYEYIgIDc3FxMmTNCYMpGfUqnE5MmT0aFDBzRu3FjjOK6urnBycsLly5cxffp03Lp1C9u2bSu0vYsXL8aCBQu0yvfv319kIF3WQkNDK+xcVDmwz/UP+1w/sd/1D/u8/GVkZJSonk6nTJTW4cOHsWjRIqxcuRJeXl6IiIjAJ598gs8//xxz5szRqj9x4kRcvXoVx48f1ygfN26c+usmTZrA0dERb7/9NiIjI+Hh4VHguWfOnImgoCD1+5SUFLi4uKBnz56wsLAooyssnFwuR2hoKHr06AFDQ8NyPx/pHvtc/7DP9RP7Xf+wzytO3l/0i6OzgNjGxgYSiQRxcXEa5XFxcYXO7Z0zZw6GDx+OsWPHAlAFs+np6Rg3bhxmzZoFsfjFM4KBgYH4999/cfToUdSoUaPItnh5eQEAIiIiCg2IpVIppFKpVrmhoWGFfpgr+nyke+xz/cM+10/sd/3DPi9/Jb2/OssyYWRkBE9PT4SFhanLlEolwsLC0K5duwL3ycjI0Ah6AUAikQAABEFQ/xsYGIjt27fj4MGDqFWrVrFtCQ8PBwA4Ojq+yqUQERER0RtMp1MmgoKC4O/vj1atWqFNmzZYvnw50tPT1VknRowYAWdnZyxevBgA4Ovri6VLl6JFixbqKRNz5syBr6+vOjCeOHEigoODsWPHDpibmyM2NhYAYGlpCWNjY0RGRiI4OBg+Pj6wtrbG5cuXMWXKFHTu3BlNmzbVzY0gIiIiIp3RaUA8ePBgxMfHY+7cuYiNjUXz5s2xd+9e9YN20dHRGiPCs2fPhkgkwuzZsxETEwNbW1v4+vriyy+/VNf56aefAKgW38hv7dq1GDlyJIyMjHDgwAF18O3i4oJBgwZh9uzZ5X/BRERERFTp6PyhusDAQAQGBha47fDhwxrvDQwMMG/ePMybN6/Q4+VNnSiMi4sLjhw5Uup2EhEREVHVpPOlm4mIiIiIdIkBMRERERHpNQbERERERKTXGBATERERkV5jQExEREREeo0BMRERERHpNQbERERERKTXGBATERERkV5jQExEREREeo0BMRERERHpNQbERERERKTXGBATERERkV5jQExEREREeo0BMRERERHpNQbERERERKTXGBATERERkV5jQExEREREeo0BMRERERHpNQbERERERKTXGBATERERkV5jQExEREREeo0BMRERERHpNQbERERERKTXGBATERERkV5jQExEREREeo0BMRERERHpNQbERERERKTXGBATERERkV5jQExEREREeo0BMRERERHpNQbERERERKTXGBATERERkV5jQExERP/f3t3HVFU/cBx/X4iHC4IpyIOmQeV8IB9BEbBWykQqmkWZSoZUOgtJvasFJKLzgewBWSGYDv0HTbNmmVOb0dJ8GgRhOlFrLnU6QNIUcSJx+f3Rfne7P820n5eDnM9ruxv3e88953P4ju3D2feeKyJiairEIiIiImJqKsQiIiIiYmoqxCIiIiJiairEIiIiImJqhhfiFStWEBYWhre3N9HR0ZSXl990+4KCAvr164fVaqV3797MnTuXq1ev3tY+r169Snp6OgEBAXTp0oXk5GTq6uru+LmJiIiISMdnaCHeuHEjNpuN3NxcqqqqGDJkCAkJCdTX199w+/Xr15OZmUlubi41NTWUlJSwceNGsrOzb2ufc+fO5euvv2bTpk3s2rWLs2fP8uyzz7r8fEVERESk4zG0EOfn5zN9+nTS0tIYOHAgK1euxMfHhzVr1txw+3379hEXF8eUKVMICwtj3LhxTJ482ekK8D/t8+LFi5SUlJCfn8+YMWOIjIxk7dq17Nu3jwMHDrTLeYuIiIhIx3GPUQe+du0alZWVZGVlOcbc3NyIj49n//79N3xPbGwspaWllJeXM3LkSE6cOMG2bduYOnXqLe+zsrKSlpYW4uPjHdv079+fPn36sH//fkaNGnXDYzc3N9Pc3Ox4fvHiRQDOnz9PS0vLv/wt3LqWlhauXLnC77//joeHh8uPJ8bTnJuP5tycNO/mozlvP42NjQC0tbXddDvDCnFDQwOtra0EBwc7jQcHB3P06NEbvmfKlCk0NDQwevRo2tra+PPPP5k5c6ZjycSt7LO2thZPT0/uvffe67apra3927x5eXksXLjwuvHw8PB/PFcRERERMU5jYyNdu3b929cNK8T/xvfff8/SpUspKioiOjqaX3/9ldmzZ7No0SJycnJceuysrCxsNpvjud1u5/z58wQEBGCxWFx6bIBLly7Ru3dvTp8+jb+/v8uPJ8bTnJuP5tycNO/mozlvP21tbTQ2NtKzZ8+bbmdYIQ4MDMTd3f26uzvU1dUREhJyw/fk5OQwdepUXn31VQAGDRpEU1MTM2bM4J133rmlfYaEhHDt2jX++OMPp6vENzsugJeXF15eXk5j/3uVuT34+/vrj8dkNOfmozk3J827+WjO28fNrgz/l2EfqvP09CQyMpKysjLHmN1up6ysjJiYmBu+58qVK7i5OUd2d3cH/voP4Fb2GRkZiYeHh9M2x44d49SpU397XBERERHpvAxdMmGz2UhNTSUqKoqRI0dSUFBAU1MTaWlpALz00kv06tWLvLw8AJKSksjPz2fYsGGOJRM5OTkkJSU5ivE/7bNr16688sor2Gw2unfvjr+/PxkZGcTExPztB+pEREREpPMytBC/8MILnDt3jvnz51NbW8vQoUPZsWOH40Nxp06dcroiPG/ePCwWC/PmzePMmTP06NGDpKQklixZcsv7BFi+fDlubm4kJyfT3NxMQkICRUVF7Xfi/4KXlxe5ubnXLduQzktzbj6ac3PSvJuP5rzjsbT9030oREREREQ6McO/ullERERExEgqxCIiIiJiairEIiIiImJqKsQiIiIiYmoqxHeBFStWEBYWhre3N9HR0ZSXlxsdSVwoLy+PESNG4OfnR1BQEBMmTODYsWNGx5J29O6772KxWJgzZ47RUcSFzpw5w4svvkhAQABWq5VBgwbx448/Gh1LXKi1tZWcnBzCw8OxWq08+OCDLFq0CN3fwHgqxB3cxo0bsdls5ObmUlVVxZAhQ0hISKC+vt7oaOIiu3btIj09nQMHDrBz505aWloYN24cTU1NRkeTdlBRUcEnn3zC4MGDjY4iLnThwgXi4uLw8PBg+/btHDlyhA8//JBu3boZHU1caNmyZRQXF1NYWEhNTQ3Lli3jvffe4+OPPzY6munptmsdXHR0NCNGjKCwsBD465v3evfuTUZGBpmZmQank/Zw7tw5goKC2LVrF48++qjRccSFLl++zPDhwykqKmLx4sUMHTqUgoICo2OJC2RmZrJ3715++OEHo6NIO3rqqacIDg6mpKTEMZacnIzVaqW0tNTAZKIrxB3YtWvXqKysJD4+3jHm5uZGfHw8+/fvNzCZtKeLFy8C0L17d4OTiKulp6fz5JNPOv3NS+e0ZcsWoqKieP755wkKCmLYsGGsXr3a6FjiYrGxsZSVlXH8+HEADh48yJ49e0hMTDQ4mRj6TXVycw0NDbS2tjp9yx5AcHAwR48eNSiVtCe73c6cOXOIi4vj4YcfNjqOuNCGDRuoqqqioqLC6CjSDk6cOEFxcTE2m43s7GwqKip444038PT0JDU11eh44iKZmZlcunSJ/v374+7uTmtrK0uWLCElJcXoaKanQizSgaWnp3P48GH27NljdBRxodOnTzN79mx27tyJt7e30XGkHdjtdqKioli6dCkAw4YN4/Dhw6xcuVKFuBP77LPPWLduHevXryciIoLq6mrmzJlDz549Ne8GUyHuwAIDA3F3d6eurs5pvK6ujpCQEINSSXuZNWsWW7duZffu3dx3331GxxEXqqyspL6+nuHDhzvGWltb2b17N4WFhTQ3N+Pu7m5gQrnTQkNDGThwoNPYgAED+OKLLwxKJO3hrbfeIjMzk0mTJgEwaNAgTp48SV5engqxwbSGuAPz9PQkMjKSsrIyx5jdbqesrIyYmBgDk4krtbW1MWvWLDZv3sx3331HeHi40ZHExcaOHcuhQ4eorq52PKKiokhJSaG6ulpluBOKi4u77naKx48f5/777zcokbSHK1eu4ObmXL3c3d2x2+0GJZL/0hXiDs5ms5GamkpUVBQjR46koKCApqYm0tLSjI4mLpKens769ev56quv8PPzo7a2FoCuXbtitVoNTieu4Ofnd90acV9fXwICArR2vJOaO3cusbGxLF26lIkTJ1JeXs6qVatYtWqV0dHEhZKSkliyZAl9+vQhIiKCn376ifz8fF5++WWjo5mebrt2FygsLOT999+ntraWoUOH8tFHHxEdHW10LHERi8Vyw/G1a9cybdq09g0jhnnsscd027VObuvWrWRlZfHLL78QHh6OzWZj+vTpRscSF2psbCQnJ4fNmzdTX19Pz549mTx5MvPnz8fT09PoeKamQiwiIiIipqY1xCIiIiJiairEIiIiImJqKsQiIiIiYmoqxCIiIiJiairEIiIiImJqKsQiIiIiYmoqxCIiIiJiairEIiIiImJqKsQiInJbLBYLX375pdExRETuGBViEZG7yLRp07BYLNc9xo8fb3Q0EZG71j1GBxARkdszfvx41q5d6zTm5eVlUBoRkbufrhCLiNxlvLy8CAkJcXp069YN+Gs5Q3FxMYmJiVitVh544AE+//xzp/cfOnSIMWPGYLVaCQgIYMaMGVy+fNlpmzVr1hAREYGXlxehoaHMmjXL6fWGhgaeeeYZfHx86Nu3L1u2bHG8duHCBVJSUujRowdWq5W+ffteV+BFRDoSFWIRkU4mJyeH5ORkDh48SEpKCpMmTaKmpgaApqYmEhIS6NatGxUVFWzatIlvv/3WqfAWFxeTnp7OjBkzOHToEFu2bOGhhx5yOsbChQuZOHEiP//8M0888QQpKSmcP3/ecfwjR46wfft2ampqKC4uJjAwsP1+ASIit8nS1tbWZnQIERG5NdOmTaO0tBRvb2+n8ezsbLKzs7FYLMycOZPi4mLHa6NGjWL48OEUFRWxevVq3n77bU6fPo2vry8A27ZtIykpibNnzxIcHEyvXr1IS0tj8eLFN8xgsViYN28eixYtAv4q2V26dGH79u2MHz+ep59+msDAQNasWeOi34KIyJ2lNcQiIneZxx9/3KnwAnTv3t3xc0xMjNNrMTExVFdXA1BTU8OQIUMcZRggLi4Ou93OsWPHsFgsnD17lrFjx940w+DBgx0/+/r64u/vT319PQCvvfYaycnJVFVVMW7cOCZMmEBsbOy/OlcRkfagQiwicpfx9fW9bgnDnWK1Wm9pOw8PD6fnFosFu90OQGJiIidPnmTbtm3s3LmTsWPHkp6ezgcffHDH84qI3AlaQywi0skcOHDguucDBgwAYMCAARw8eJCmpibH63v37sXNzY1+/frh5+dHWFgYZWVl/1eGHj16kJqaSmlpKQUFBaxater/2p+IiCvpCrGIyF2mubmZ2tpap7F77rnH8cG1TZs2ERUVxejRo1m3bh3l5eWUlJQAkJKSQm5uLqmpqSxYsIBz586RkZHB1KlTCQ4OBmDBggXMnDmToKAgEhMTaWxsZO/evWRkZNxSvvnz5xMZGUlERATNzc1s3brVUchFRDoiFWIRkbvMjh07CA0NdRrr168fR48eBf66A8SGDRt4/fXXCQ0N5dNPP2XgwIEA+Pj48M033zB79mxGjBiBj48PycnJ5OfnO/aVmprK1atXWb58OW+++SaBgYE899xzt5zP09OTrKwsfvvtN6xWK4888ggbNmy4A2cuIuIausuEiEgnYrFY2Lx5MxMmTDA6iojIXUNriEVERETE1FSIRURERMTUtIZYRKQT0So4EZHbpyvEIiIiImJqKsQiIiIiYmoqxCIiIiJiairEIiIiImJqKsQiIiIiYmoqxCIiIiJiairEIiIiImJqKsQiIiIiYmr/AQ3HjYBJhL/rAAAAAElFTkSuQmC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975" y="1177810"/>
            <a:ext cx="5549153" cy="4297689"/>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7926" y="1238722"/>
            <a:ext cx="6318517" cy="429768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RESULT &amp; ANALYSIS</a:t>
            </a:r>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23</a:t>
            </a:fld>
            <a:endParaRPr lang="en-IN"/>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674" y="1540635"/>
            <a:ext cx="4743726" cy="4143362"/>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487" y="2245659"/>
            <a:ext cx="4695825" cy="2944906"/>
          </a:xfrm>
          <a:prstGeom prst="rect">
            <a:avLst/>
          </a:prstGeom>
        </p:spPr>
      </p:pic>
      <p:sp>
        <p:nvSpPr>
          <p:cNvPr id="14" name="TextBox 13"/>
          <p:cNvSpPr txBox="1"/>
          <p:nvPr/>
        </p:nvSpPr>
        <p:spPr>
          <a:xfrm>
            <a:off x="1233486" y="5609126"/>
            <a:ext cx="4562195" cy="369332"/>
          </a:xfrm>
          <a:prstGeom prst="rect">
            <a:avLst/>
          </a:prstGeom>
          <a:noFill/>
        </p:spPr>
        <p:txBody>
          <a:bodyPr wrap="square" rtlCol="0">
            <a:spAutoFit/>
          </a:bodyPr>
          <a:lstStyle/>
          <a:p>
            <a:r>
              <a:rPr lang="en-US" dirty="0"/>
              <a:t>IMAGE AFTER ELA (ERROR LEVEL ANALYSIS)</a:t>
            </a:r>
            <a:endParaRPr lang="en-IN" dirty="0"/>
          </a:p>
        </p:txBody>
      </p:sp>
      <p:sp>
        <p:nvSpPr>
          <p:cNvPr id="17" name="Rectangle 16"/>
          <p:cNvSpPr/>
          <p:nvPr/>
        </p:nvSpPr>
        <p:spPr>
          <a:xfrm>
            <a:off x="7876367" y="5785232"/>
            <a:ext cx="2105833" cy="369332"/>
          </a:xfrm>
          <a:prstGeom prst="rect">
            <a:avLst/>
          </a:prstGeom>
        </p:spPr>
        <p:txBody>
          <a:bodyPr wrap="none">
            <a:spAutoFit/>
          </a:bodyPr>
          <a:lstStyle/>
          <a:p>
            <a:r>
              <a:rPr lang="en-US" dirty="0"/>
              <a:t>CONFUSION MATRIX</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C2C3-06DB-2204-617C-D7F969611C71}"/>
              </a:ext>
            </a:extLst>
          </p:cNvPr>
          <p:cNvSpPr>
            <a:spLocks noGrp="1"/>
          </p:cNvSpPr>
          <p:nvPr>
            <p:ph type="title"/>
          </p:nvPr>
        </p:nvSpPr>
        <p:spPr/>
        <p:txBody>
          <a:bodyPr/>
          <a:lstStyle/>
          <a:p>
            <a:r>
              <a:rPr lang="en-US" dirty="0"/>
              <a:t>                          HOME SCREEN</a:t>
            </a:r>
          </a:p>
        </p:txBody>
      </p:sp>
      <p:pic>
        <p:nvPicPr>
          <p:cNvPr id="8" name="Content Placeholder 7">
            <a:extLst>
              <a:ext uri="{FF2B5EF4-FFF2-40B4-BE49-F238E27FC236}">
                <a16:creationId xmlns:a16="http://schemas.microsoft.com/office/drawing/2014/main" id="{89C98671-2D58-BBB6-82D3-A97960575F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8920" y="1825625"/>
            <a:ext cx="9014160" cy="4351338"/>
          </a:xfrm>
        </p:spPr>
      </p:pic>
      <p:sp>
        <p:nvSpPr>
          <p:cNvPr id="4" name="Date Placeholder 3">
            <a:extLst>
              <a:ext uri="{FF2B5EF4-FFF2-40B4-BE49-F238E27FC236}">
                <a16:creationId xmlns:a16="http://schemas.microsoft.com/office/drawing/2014/main" id="{FD160430-F0C0-FC19-15E6-D213ECF79429}"/>
              </a:ext>
            </a:extLst>
          </p:cNvPr>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a:extLst>
              <a:ext uri="{FF2B5EF4-FFF2-40B4-BE49-F238E27FC236}">
                <a16:creationId xmlns:a16="http://schemas.microsoft.com/office/drawing/2014/main" id="{349AB79C-350B-75D2-1B0C-4B98837E04D2}"/>
              </a:ext>
            </a:extLst>
          </p:cNvPr>
          <p:cNvSpPr>
            <a:spLocks noGrp="1"/>
          </p:cNvSpPr>
          <p:nvPr>
            <p:ph type="ftr" sz="quarter" idx="11"/>
          </p:nvPr>
        </p:nvSpPr>
        <p:spPr/>
        <p:txBody>
          <a:bodyPr/>
          <a:lstStyle/>
          <a:p>
            <a:r>
              <a:rPr lang="en-US"/>
              <a:t>Review No.         Batch No.           Department of CSE</a:t>
            </a:r>
            <a:endParaRPr lang="en-IN"/>
          </a:p>
        </p:txBody>
      </p:sp>
      <p:sp>
        <p:nvSpPr>
          <p:cNvPr id="6" name="Slide Number Placeholder 5">
            <a:extLst>
              <a:ext uri="{FF2B5EF4-FFF2-40B4-BE49-F238E27FC236}">
                <a16:creationId xmlns:a16="http://schemas.microsoft.com/office/drawing/2014/main" id="{D3C6660D-150B-AEE6-3F94-F82FF762149C}"/>
              </a:ext>
            </a:extLst>
          </p:cNvPr>
          <p:cNvSpPr>
            <a:spLocks noGrp="1"/>
          </p:cNvSpPr>
          <p:nvPr>
            <p:ph type="sldNum" sz="quarter" idx="12"/>
          </p:nvPr>
        </p:nvSpPr>
        <p:spPr/>
        <p:txBody>
          <a:bodyPr/>
          <a:lstStyle/>
          <a:p>
            <a:fld id="{65DCBD69-296B-4D7C-AF62-9B588FC78772}" type="slidenum">
              <a:rPr lang="en-IN" smtClean="0"/>
              <a:t>24</a:t>
            </a:fld>
            <a:endParaRPr lang="en-IN"/>
          </a:p>
        </p:txBody>
      </p:sp>
    </p:spTree>
    <p:extLst>
      <p:ext uri="{BB962C8B-B14F-4D97-AF65-F5344CB8AC3E}">
        <p14:creationId xmlns:p14="http://schemas.microsoft.com/office/powerpoint/2010/main" val="3310023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17963-7186-2D14-D239-1C323BBC8793}"/>
              </a:ext>
            </a:extLst>
          </p:cNvPr>
          <p:cNvSpPr>
            <a:spLocks noGrp="1"/>
          </p:cNvSpPr>
          <p:nvPr>
            <p:ph type="title"/>
          </p:nvPr>
        </p:nvSpPr>
        <p:spPr/>
        <p:txBody>
          <a:bodyPr/>
          <a:lstStyle/>
          <a:p>
            <a:r>
              <a:rPr lang="en-US" dirty="0"/>
              <a:t>                  STATUS OF FAKE IMAGE</a:t>
            </a:r>
          </a:p>
        </p:txBody>
      </p:sp>
      <p:pic>
        <p:nvPicPr>
          <p:cNvPr id="8" name="Content Placeholder 7">
            <a:extLst>
              <a:ext uri="{FF2B5EF4-FFF2-40B4-BE49-F238E27FC236}">
                <a16:creationId xmlns:a16="http://schemas.microsoft.com/office/drawing/2014/main" id="{26157386-C450-5196-AC1C-A53C45C152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8920" y="1825625"/>
            <a:ext cx="9014160" cy="4351338"/>
          </a:xfrm>
        </p:spPr>
      </p:pic>
      <p:sp>
        <p:nvSpPr>
          <p:cNvPr id="4" name="Date Placeholder 3">
            <a:extLst>
              <a:ext uri="{FF2B5EF4-FFF2-40B4-BE49-F238E27FC236}">
                <a16:creationId xmlns:a16="http://schemas.microsoft.com/office/drawing/2014/main" id="{F7E35DC4-97EE-43E1-B3BF-4A89484763E4}"/>
              </a:ext>
            </a:extLst>
          </p:cNvPr>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a:extLst>
              <a:ext uri="{FF2B5EF4-FFF2-40B4-BE49-F238E27FC236}">
                <a16:creationId xmlns:a16="http://schemas.microsoft.com/office/drawing/2014/main" id="{98FAA0C5-102F-F888-FCCB-8104829BB294}"/>
              </a:ext>
            </a:extLst>
          </p:cNvPr>
          <p:cNvSpPr>
            <a:spLocks noGrp="1"/>
          </p:cNvSpPr>
          <p:nvPr>
            <p:ph type="ftr" sz="quarter" idx="11"/>
          </p:nvPr>
        </p:nvSpPr>
        <p:spPr/>
        <p:txBody>
          <a:bodyPr/>
          <a:lstStyle/>
          <a:p>
            <a:r>
              <a:rPr lang="en-US"/>
              <a:t>Review No.         Batch No.           Department of CSE</a:t>
            </a:r>
            <a:endParaRPr lang="en-IN"/>
          </a:p>
        </p:txBody>
      </p:sp>
      <p:sp>
        <p:nvSpPr>
          <p:cNvPr id="6" name="Slide Number Placeholder 5">
            <a:extLst>
              <a:ext uri="{FF2B5EF4-FFF2-40B4-BE49-F238E27FC236}">
                <a16:creationId xmlns:a16="http://schemas.microsoft.com/office/drawing/2014/main" id="{380FD091-66BF-0785-6492-EC3BF440DBEF}"/>
              </a:ext>
            </a:extLst>
          </p:cNvPr>
          <p:cNvSpPr>
            <a:spLocks noGrp="1"/>
          </p:cNvSpPr>
          <p:nvPr>
            <p:ph type="sldNum" sz="quarter" idx="12"/>
          </p:nvPr>
        </p:nvSpPr>
        <p:spPr/>
        <p:txBody>
          <a:bodyPr/>
          <a:lstStyle/>
          <a:p>
            <a:fld id="{65DCBD69-296B-4D7C-AF62-9B588FC78772}" type="slidenum">
              <a:rPr lang="en-IN" smtClean="0"/>
              <a:t>25</a:t>
            </a:fld>
            <a:endParaRPr lang="en-IN"/>
          </a:p>
        </p:txBody>
      </p:sp>
    </p:spTree>
    <p:extLst>
      <p:ext uri="{BB962C8B-B14F-4D97-AF65-F5344CB8AC3E}">
        <p14:creationId xmlns:p14="http://schemas.microsoft.com/office/powerpoint/2010/main" val="1441390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04BD-052C-01A0-389D-4C5B0061A1DC}"/>
              </a:ext>
            </a:extLst>
          </p:cNvPr>
          <p:cNvSpPr>
            <a:spLocks noGrp="1"/>
          </p:cNvSpPr>
          <p:nvPr>
            <p:ph type="title"/>
          </p:nvPr>
        </p:nvSpPr>
        <p:spPr/>
        <p:txBody>
          <a:bodyPr/>
          <a:lstStyle/>
          <a:p>
            <a:r>
              <a:rPr lang="en-US" dirty="0"/>
              <a:t>                   STATUS OF REAL IMAGE</a:t>
            </a:r>
          </a:p>
        </p:txBody>
      </p:sp>
      <p:pic>
        <p:nvPicPr>
          <p:cNvPr id="8" name="Content Placeholder 7">
            <a:extLst>
              <a:ext uri="{FF2B5EF4-FFF2-40B4-BE49-F238E27FC236}">
                <a16:creationId xmlns:a16="http://schemas.microsoft.com/office/drawing/2014/main" id="{672EACBF-D9DE-5493-B279-EC9F94A294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8920" y="1825625"/>
            <a:ext cx="9014160" cy="4351338"/>
          </a:xfrm>
        </p:spPr>
      </p:pic>
      <p:sp>
        <p:nvSpPr>
          <p:cNvPr id="4" name="Date Placeholder 3">
            <a:extLst>
              <a:ext uri="{FF2B5EF4-FFF2-40B4-BE49-F238E27FC236}">
                <a16:creationId xmlns:a16="http://schemas.microsoft.com/office/drawing/2014/main" id="{A8DC5DDB-A639-DB0C-55D7-C38D5225ABA5}"/>
              </a:ext>
            </a:extLst>
          </p:cNvPr>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a:extLst>
              <a:ext uri="{FF2B5EF4-FFF2-40B4-BE49-F238E27FC236}">
                <a16:creationId xmlns:a16="http://schemas.microsoft.com/office/drawing/2014/main" id="{170EE040-1A4B-E470-9307-2F49B1F10265}"/>
              </a:ext>
            </a:extLst>
          </p:cNvPr>
          <p:cNvSpPr>
            <a:spLocks noGrp="1"/>
          </p:cNvSpPr>
          <p:nvPr>
            <p:ph type="ftr" sz="quarter" idx="11"/>
          </p:nvPr>
        </p:nvSpPr>
        <p:spPr/>
        <p:txBody>
          <a:bodyPr/>
          <a:lstStyle/>
          <a:p>
            <a:r>
              <a:rPr lang="en-US"/>
              <a:t>Review No.         Batch No.           Department of CSE</a:t>
            </a:r>
            <a:endParaRPr lang="en-IN"/>
          </a:p>
        </p:txBody>
      </p:sp>
      <p:sp>
        <p:nvSpPr>
          <p:cNvPr id="6" name="Slide Number Placeholder 5">
            <a:extLst>
              <a:ext uri="{FF2B5EF4-FFF2-40B4-BE49-F238E27FC236}">
                <a16:creationId xmlns:a16="http://schemas.microsoft.com/office/drawing/2014/main" id="{8AFA1A51-02B4-3026-959F-CBD0E4F8EB52}"/>
              </a:ext>
            </a:extLst>
          </p:cNvPr>
          <p:cNvSpPr>
            <a:spLocks noGrp="1"/>
          </p:cNvSpPr>
          <p:nvPr>
            <p:ph type="sldNum" sz="quarter" idx="12"/>
          </p:nvPr>
        </p:nvSpPr>
        <p:spPr/>
        <p:txBody>
          <a:bodyPr/>
          <a:lstStyle/>
          <a:p>
            <a:fld id="{65DCBD69-296B-4D7C-AF62-9B588FC78772}" type="slidenum">
              <a:rPr lang="en-IN" smtClean="0"/>
              <a:t>26</a:t>
            </a:fld>
            <a:endParaRPr lang="en-IN"/>
          </a:p>
        </p:txBody>
      </p:sp>
    </p:spTree>
    <p:extLst>
      <p:ext uri="{BB962C8B-B14F-4D97-AF65-F5344CB8AC3E}">
        <p14:creationId xmlns:p14="http://schemas.microsoft.com/office/powerpoint/2010/main" val="1998992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9" name="Content Placeholder 8"/>
          <p:cNvSpPr>
            <a:spLocks noGrp="1"/>
          </p:cNvSpPr>
          <p:nvPr>
            <p:ph idx="1"/>
          </p:nvPr>
        </p:nvSpPr>
        <p:spPr/>
        <p:txBody>
          <a:bodyPr>
            <a:noAutofit/>
          </a:bodyPr>
          <a:lstStyle/>
          <a:p>
            <a:pPr marL="0" indent="0">
              <a:buNone/>
            </a:pPr>
            <a:r>
              <a:rPr lang="en-US" altLang="en-US" sz="2000" dirty="0">
                <a:latin typeface="Times New Roman" panose="02020603050405020304" pitchFamily="18" charset="0"/>
                <a:cs typeface="Times New Roman" panose="02020603050405020304" pitchFamily="18" charset="0"/>
              </a:rPr>
              <a:t>Key Findings</a:t>
            </a:r>
          </a:p>
          <a:p>
            <a:r>
              <a:rPr lang="en-US" altLang="en-US" sz="2000" dirty="0">
                <a:latin typeface="Times New Roman" panose="02020603050405020304" pitchFamily="18" charset="0"/>
                <a:cs typeface="Times New Roman" panose="02020603050405020304" pitchFamily="18" charset="0"/>
              </a:rPr>
              <a:t>Efficiency: ELA-CNN model demonstrated computational efficiency with faster training and fewer parameters, making it suitable for limited-resource environments.</a:t>
            </a:r>
          </a:p>
          <a:p>
            <a:r>
              <a:rPr lang="en-US" altLang="en-US" sz="2000" dirty="0">
                <a:latin typeface="Times New Roman" panose="02020603050405020304" pitchFamily="18" charset="0"/>
                <a:cs typeface="Times New Roman" panose="02020603050405020304" pitchFamily="18" charset="0"/>
              </a:rPr>
              <a:t>Robust Preprocessing: The use of Error Level Analysis (ELA) effectively highlighted tampered regions, aiding in precise classification.</a:t>
            </a:r>
          </a:p>
          <a:p>
            <a:pPr marL="0" indent="0">
              <a:buNone/>
            </a:pPr>
            <a:r>
              <a:rPr lang="en-US" altLang="en-US" sz="2000" dirty="0">
                <a:latin typeface="Times New Roman" panose="02020603050405020304" pitchFamily="18" charset="0"/>
                <a:cs typeface="Times New Roman" panose="02020603050405020304" pitchFamily="18" charset="0"/>
              </a:rPr>
              <a:t>Significance of Results</a:t>
            </a:r>
          </a:p>
          <a:p>
            <a:r>
              <a:rPr lang="en-US" altLang="en-US" sz="2000" dirty="0">
                <a:latin typeface="Times New Roman" panose="02020603050405020304" pitchFamily="18" charset="0"/>
                <a:cs typeface="Times New Roman" panose="02020603050405020304" pitchFamily="18" charset="0"/>
              </a:rPr>
              <a:t>Provides a scalable solution for image forgery detection in diverse applications, including social media moderation and digital forensics.</a:t>
            </a:r>
          </a:p>
          <a:p>
            <a:r>
              <a:rPr lang="en-US" altLang="en-US" sz="2000" dirty="0">
                <a:latin typeface="Times New Roman" panose="02020603050405020304" pitchFamily="18" charset="0"/>
                <a:cs typeface="Times New Roman" panose="02020603050405020304" pitchFamily="18" charset="0"/>
              </a:rPr>
              <a:t>Demonstrates how transfer learning and lightweight architectures like EfficientNetV2 can enhance performance in resource-limited scenarios.</a:t>
            </a:r>
          </a:p>
          <a:p>
            <a:r>
              <a:rPr lang="en-US" altLang="en-US" sz="2000" dirty="0">
                <a:latin typeface="Times New Roman" panose="02020603050405020304" pitchFamily="18" charset="0"/>
                <a:cs typeface="Times New Roman" panose="02020603050405020304" pitchFamily="18" charset="0"/>
              </a:rPr>
              <a:t>Offers a foundation for developing real-time and multimodal forgery detection systems.</a:t>
            </a:r>
          </a:p>
          <a:p>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4725E0ED-D2C9-47B9-A533-1F8FDD25A9AB}"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27</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CONCLUSION and FEATURE SCOPE</a:t>
            </a:r>
          </a:p>
        </p:txBody>
      </p:sp>
      <p:sp>
        <p:nvSpPr>
          <p:cNvPr id="3" name="Content Placeholder 2"/>
          <p:cNvSpPr>
            <a:spLocks noGrp="1"/>
          </p:cNvSpPr>
          <p:nvPr>
            <p:ph idx="1"/>
          </p:nvPr>
        </p:nvSpPr>
        <p:spPr/>
        <p:txBody>
          <a:bodyPr>
            <a:normAutofit fontScale="60000" lnSpcReduction="20000"/>
          </a:bodyPr>
          <a:lstStyle/>
          <a:p>
            <a:pPr marL="0" indent="0">
              <a:buNone/>
            </a:pPr>
            <a:r>
              <a:rPr lang="en-US" altLang="en-US" sz="3335">
                <a:latin typeface="Times New Roman" panose="02020603050405020304" pitchFamily="18" charset="0"/>
                <a:cs typeface="Times New Roman" panose="02020603050405020304" pitchFamily="18" charset="0"/>
              </a:rPr>
              <a:t>Future Developments</a:t>
            </a:r>
          </a:p>
          <a:p>
            <a:r>
              <a:rPr lang="en-US" altLang="en-US" sz="3335">
                <a:latin typeface="Times New Roman" panose="02020603050405020304" pitchFamily="18" charset="0"/>
                <a:cs typeface="Times New Roman" panose="02020603050405020304" pitchFamily="18" charset="0"/>
              </a:rPr>
              <a:t>Video Forgery Detection: Extend the model to analyze video sequences for manipulation.</a:t>
            </a:r>
          </a:p>
          <a:p>
            <a:r>
              <a:rPr lang="en-US" altLang="en-US" sz="3335">
                <a:latin typeface="Times New Roman" panose="02020603050405020304" pitchFamily="18" charset="0"/>
                <a:cs typeface="Times New Roman" panose="02020603050405020304" pitchFamily="18" charset="0"/>
              </a:rPr>
              <a:t>Advanced Forgery Techniques: Enhance robustness against adaptive compression and Gaussian smoothing.</a:t>
            </a:r>
          </a:p>
          <a:p>
            <a:r>
              <a:rPr lang="en-US" altLang="en-US" sz="3335">
                <a:latin typeface="Times New Roman" panose="02020603050405020304" pitchFamily="18" charset="0"/>
                <a:cs typeface="Times New Roman" panose="02020603050405020304" pitchFamily="18" charset="0"/>
              </a:rPr>
              <a:t>Real-Time Applications: Optimize the model for deployment on mobile and embedded systems.</a:t>
            </a:r>
          </a:p>
          <a:p>
            <a:r>
              <a:rPr lang="en-US" altLang="en-US" sz="3335">
                <a:latin typeface="Times New Roman" panose="02020603050405020304" pitchFamily="18" charset="0"/>
                <a:cs typeface="Times New Roman" panose="02020603050405020304" pitchFamily="18" charset="0"/>
              </a:rPr>
              <a:t>Dataset Expansion: Incorporate larger, more diverse datasets for improved generalization across domains.</a:t>
            </a:r>
          </a:p>
          <a:p>
            <a:pPr marL="0" indent="0">
              <a:buNone/>
            </a:pPr>
            <a:r>
              <a:rPr lang="en-US" altLang="en-US" sz="3335">
                <a:latin typeface="Times New Roman" panose="02020603050405020304" pitchFamily="18" charset="0"/>
                <a:cs typeface="Times New Roman" panose="02020603050405020304" pitchFamily="18" charset="0"/>
              </a:rPr>
              <a:t>Limitations</a:t>
            </a:r>
          </a:p>
          <a:p>
            <a:r>
              <a:rPr lang="en-US" altLang="en-US" sz="3335">
                <a:latin typeface="Times New Roman" panose="02020603050405020304" pitchFamily="18" charset="0"/>
                <a:cs typeface="Times New Roman" panose="02020603050405020304" pitchFamily="18" charset="0"/>
              </a:rPr>
              <a:t>Dependence on ELA: Limited effectiveness against forgeries involving uniform recompression or advanced smoothing techniques.</a:t>
            </a:r>
          </a:p>
          <a:p>
            <a:r>
              <a:rPr lang="en-US" altLang="en-US" sz="3335">
                <a:latin typeface="Times New Roman" panose="02020603050405020304" pitchFamily="18" charset="0"/>
                <a:cs typeface="Times New Roman" panose="02020603050405020304" pitchFamily="18" charset="0"/>
              </a:rPr>
              <a:t>Dataset Size: Performance is constrained by the relatively small size and scope of the CASIA2 dataset.</a:t>
            </a:r>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28</a:t>
            </a:fld>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9" name="Content Placeholder 8"/>
          <p:cNvSpPr>
            <a:spLocks noGrp="1"/>
          </p:cNvSpPr>
          <p:nvPr>
            <p:ph idx="1"/>
          </p:nvPr>
        </p:nvSpPr>
        <p:spPr/>
        <p:txBody>
          <a:bodyPr>
            <a:normAutofit/>
          </a:bodyPr>
          <a:lstStyle/>
          <a:p>
            <a:pPr marL="0" indent="0">
              <a:buNone/>
            </a:pPr>
            <a:r>
              <a:rPr lang="en-US" altLang="en-US" sz="1600">
                <a:latin typeface="Times New Roman" panose="02020603050405020304" pitchFamily="18" charset="0"/>
                <a:cs typeface="Times New Roman" panose="02020603050405020304" pitchFamily="18" charset="0"/>
              </a:rPr>
              <a:t>[1] Y. 1. Y. Rao, J. Ni, and H. Zhao, ”Significant learning adjacent descriptor for picture joining area and localization,” IEEE Get to, vol. 8, pp. 25611– 25625, 2020.</a:t>
            </a:r>
          </a:p>
          <a:p>
            <a:pPr marL="0" indent="0">
              <a:buNone/>
            </a:pPr>
            <a:r>
              <a:rPr lang="en-US" altLang="en-US" sz="1600">
                <a:latin typeface="Times New Roman" panose="02020603050405020304" pitchFamily="18" charset="0"/>
                <a:cs typeface="Times New Roman" panose="02020603050405020304" pitchFamily="18" charset="0"/>
              </a:rPr>
              <a:t>[2] Abhishek and N. Jindal, ”Duplicate move and joining fraud location utilizing profound convolution neural arrange,</a:t>
            </a:r>
          </a:p>
          <a:p>
            <a:pPr marL="0" indent="0">
              <a:buNone/>
            </a:pPr>
            <a:r>
              <a:rPr lang="en-US" altLang="en-US" sz="1600">
                <a:latin typeface="Times New Roman" panose="02020603050405020304" pitchFamily="18" charset="0"/>
                <a:cs typeface="Times New Roman" panose="02020603050405020304" pitchFamily="18" charset="0"/>
              </a:rPr>
              <a:t>and semantic division,” Mixed media Instruments Appl., vol. 80, no. 3, pp. 3571–3599, Jan. 2021.</a:t>
            </a:r>
          </a:p>
          <a:p>
            <a:pPr marL="0" indent="0">
              <a:buNone/>
            </a:pPr>
            <a:r>
              <a:rPr lang="en-US" altLang="en-US" sz="1600">
                <a:latin typeface="Times New Roman" panose="02020603050405020304" pitchFamily="18" charset="0"/>
                <a:cs typeface="Times New Roman" panose="02020603050405020304" pitchFamily="18" charset="0"/>
              </a:rPr>
              <a:t>[3] S. Gupta, N. Mohan, and P. Kaushal, ”Detached picture forensics utilizing all inclusive strategies: A audit,” Artif.</a:t>
            </a:r>
          </a:p>
          <a:p>
            <a:pPr marL="0" indent="0">
              <a:buNone/>
            </a:pPr>
            <a:r>
              <a:rPr lang="en-US" altLang="en-US" sz="1600">
                <a:latin typeface="Times New Roman" panose="02020603050405020304" pitchFamily="18" charset="0"/>
                <a:cs typeface="Times New Roman" panose="02020603050405020304" pitchFamily="18" charset="0"/>
              </a:rPr>
              <a:t>Intell. Rev., vol. 55, no. 3, pp.1629– 1679, Jul. 2021.</a:t>
            </a:r>
          </a:p>
          <a:p>
            <a:pPr marL="0" indent="0">
              <a:buNone/>
            </a:pPr>
            <a:r>
              <a:rPr lang="en-US" altLang="en-US" sz="1600">
                <a:latin typeface="Times New Roman" panose="02020603050405020304" pitchFamily="18" charset="0"/>
                <a:cs typeface="Times New Roman" panose="02020603050405020304" pitchFamily="18" charset="0"/>
              </a:rPr>
              <a:t>[4] W. H. Khoh, Y. H. Throb, A. B. J. Teoh, and S. Y. Ooi, ”In-air hand motion signature utilizing exchange learning and its imitation assault,” Appl. Delicate Comput., vol. 113, Dec. 2021, Craftsmanship. no. 108033.</a:t>
            </a:r>
          </a:p>
          <a:p>
            <a:pPr marL="0" indent="0">
              <a:buNone/>
            </a:pPr>
            <a:r>
              <a:rPr lang="en-US" altLang="en-US" sz="1600">
                <a:latin typeface="Times New Roman" panose="02020603050405020304" pitchFamily="18" charset="0"/>
                <a:cs typeface="Times New Roman" panose="02020603050405020304" pitchFamily="18" charset="0"/>
              </a:rPr>
              <a:t>[5]. K. B. Meena and V. Tyagi, ”Picture Joining Fraud Location Methods: A Audit,” Cham, Switzerland: Springer,2021.</a:t>
            </a:r>
          </a:p>
          <a:p>
            <a:pPr marL="0" indent="0">
              <a:buNone/>
            </a:pPr>
            <a:r>
              <a:rPr lang="en-US" altLang="en-US" sz="1600">
                <a:latin typeface="Times New Roman" panose="02020603050405020304" pitchFamily="18" charset="0"/>
                <a:cs typeface="Times New Roman" panose="02020603050405020304" pitchFamily="18" charset="0"/>
              </a:rPr>
              <a:t>[6] K. Kadam, S. Ahirrao, K. Kotecha, and S.Sahu, ”Discovery and localization of numerous picture grafting utilizing MobileNet v1,” IEEE Get to, vol. 9, pp.162499–162519, 2021.</a:t>
            </a:r>
          </a:p>
          <a:p>
            <a:pPr marL="0" indent="0">
              <a:buNone/>
            </a:pPr>
            <a:r>
              <a:rPr lang="en-US" altLang="en-US" sz="1600">
                <a:latin typeface="Times New Roman" panose="02020603050405020304" pitchFamily="18" charset="0"/>
                <a:cs typeface="Times New Roman" panose="02020603050405020304" pitchFamily="18" charset="0"/>
              </a:rPr>
              <a:t>[7] Singh, R., Agarwal, A., Khan, M. K. (2021). Picture impersonation revelation utilizing gathering of convolutional neural frameworks. Journal of Visual Communication and Picture Representation, 73, 102893.</a:t>
            </a:r>
          </a:p>
        </p:txBody>
      </p:sp>
      <p:sp>
        <p:nvSpPr>
          <p:cNvPr id="5" name="Date Placeholder 4"/>
          <p:cNvSpPr>
            <a:spLocks noGrp="1"/>
          </p:cNvSpPr>
          <p:nvPr>
            <p:ph type="dt" sz="half" idx="10"/>
          </p:nvPr>
        </p:nvSpPr>
        <p:spPr/>
        <p:txBody>
          <a:bodyPr/>
          <a:lstStyle/>
          <a:p>
            <a:fld id="{F720652E-A996-4640-95C6-A4013E9733D3}"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29</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Autofit/>
          </a:bodyPr>
          <a:lstStyle/>
          <a:p>
            <a:pPr marL="0" indent="0">
              <a:buNone/>
            </a:pPr>
            <a:r>
              <a:rPr lang="en-US" altLang="en-US" sz="1600">
                <a:latin typeface="Times New Roman" panose="02020603050405020304" pitchFamily="18" charset="0"/>
                <a:cs typeface="Times New Roman" panose="02020603050405020304" pitchFamily="18" charset="0"/>
              </a:rPr>
              <a:t>[8] Ribeiro, A., Oliveira, M., Pinto, A. (2020).Fighting Deepfake Picture Control Utilizing MultiClass Area  Convolutional Neural Frameworks. In Methods of the all  inclusive Joint Conference on Neural Frameworks (IJCNN) (pp. 1-8).</a:t>
            </a:r>
          </a:p>
          <a:p>
            <a:pPr marL="0" indent="0">
              <a:buNone/>
            </a:pPr>
            <a:r>
              <a:rPr lang="en-US" altLang="en-US" sz="1600">
                <a:latin typeface="Times New Roman" panose="02020603050405020304" pitchFamily="18" charset="0"/>
                <a:cs typeface="Times New Roman" panose="02020603050405020304" pitchFamily="18" charset="0"/>
              </a:rPr>
              <a:t>[9] S. Jabeen, U. G. Khan, R. Iqbal, M. Mukherjee, and  J. Lloret, ”A profound multimodal framework for provenance sifting with all inclusive imitation discovery and localization,” Interactive media Apparatuses Appl., vol. 80, no. 11, pp. 17025– 17044, May 2021.</a:t>
            </a:r>
          </a:p>
          <a:p>
            <a:pPr marL="0" indent="0">
              <a:buNone/>
            </a:pPr>
            <a:r>
              <a:rPr lang="en-US" altLang="en-US" sz="1600">
                <a:latin typeface="Times New Roman" panose="02020603050405020304" pitchFamily="18" charset="0"/>
                <a:cs typeface="Times New Roman" panose="02020603050405020304" pitchFamily="18" charset="0"/>
              </a:rPr>
              <a:t>[10] D. Mallick, M. Shaikh, A. Gulhane, and T. Maktum presented a strategy for identifying copymove and grafting picture imitation utilizing CNN. Their work was displayed in Proc. ITM Web Conf., vol. 44, 2022, Craftsmanship. no. 03052.</a:t>
            </a:r>
          </a:p>
          <a:p>
            <a:pPr marL="0" indent="0">
              <a:buNone/>
            </a:pPr>
            <a:r>
              <a:rPr lang="en-US" altLang="en-US" sz="1600">
                <a:latin typeface="Times New Roman" panose="02020603050405020304" pitchFamily="18" charset="0"/>
                <a:cs typeface="Times New Roman" panose="02020603050405020304" pitchFamily="18" charset="0"/>
              </a:rPr>
              <a:t>[11] In another think about, M. N. Abbas, M. S. Ansari, M. N. Asghar, N. Kanwal, T. O’Neill, and B. Lee proposed a lightweight profound learning demonstrate for identifying copy-move picture fraud, especially centering on post_x0002_processed assaults. This inquire about was displayed at the IEEE 19th World Symp. Appl. Mach. Intell. Informat. (SAMI) in Jan. 2021, pp. 125–130. </a:t>
            </a:r>
          </a:p>
          <a:p>
            <a:pPr marL="0" indent="0">
              <a:buNone/>
            </a:pPr>
            <a:r>
              <a:rPr lang="en-US" altLang="en-US" sz="1600">
                <a:latin typeface="Times New Roman" panose="02020603050405020304" pitchFamily="18" charset="0"/>
                <a:cs typeface="Times New Roman" panose="02020603050405020304" pitchFamily="18" charset="0"/>
              </a:rPr>
              <a:t>[12] C. D. P. Kumar and S. S. Sundaram created a novel method for copy-move fraud location utilizing metaheuristics combined with ideal profound exchange learning. Their discoveries were distributed in Intell. Autom. Delicate Comput., vol. 35, no. 1, pp. 881–899, 2023.</a:t>
            </a:r>
          </a:p>
          <a:p>
            <a:pPr marL="0" indent="0">
              <a:buNone/>
            </a:pPr>
            <a:r>
              <a:rPr lang="en-US" altLang="en-US" sz="1600">
                <a:latin typeface="Times New Roman" panose="02020603050405020304" pitchFamily="18" charset="0"/>
                <a:cs typeface="Times New Roman" panose="02020603050405020304" pitchFamily="18" charset="0"/>
              </a:rPr>
              <a:t>[13] N. Krishnaraj, B. Sivakumar, R. Kuppusamy, Y. Teekaraman, and A. R. Thelkar planned an computerized profound learning-based combination show for recognizing copy-move picture imitation. Their work was distributed in Comput. Intell. Neurosci., vol. 2022, pp. 1–13, Jan. 2022.</a:t>
            </a:r>
          </a:p>
        </p:txBody>
      </p:sp>
      <p:sp>
        <p:nvSpPr>
          <p:cNvPr id="4" name="Date Placeholder 3"/>
          <p:cNvSpPr>
            <a:spLocks noGrp="1"/>
          </p:cNvSpPr>
          <p:nvPr>
            <p:ph type="dt" sz="half" idx="10"/>
          </p:nvPr>
        </p:nvSpPr>
        <p:spPr/>
        <p:txBody>
          <a:bodyPr/>
          <a:lstStyle/>
          <a:p>
            <a:fld id="{624C803B-62AD-4010-AEFB-D9AF802A6496}" type="datetime1">
              <a:rPr lang="en-US" smtClean="0"/>
              <a:t>12/5/2025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30</a:t>
            </a:fld>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ACKNOWLEGEMENTS</a:t>
            </a:r>
          </a:p>
        </p:txBody>
      </p:sp>
      <p:sp>
        <p:nvSpPr>
          <p:cNvPr id="9" name="Content Placeholder 8"/>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We would like to express our sincere gratitude to the faculty and staff of </a:t>
            </a:r>
            <a:r>
              <a:rPr lang="en-US" dirty="0" err="1">
                <a:latin typeface="Times New Roman" panose="02020603050405020304" pitchFamily="18" charset="0"/>
                <a:cs typeface="Times New Roman" panose="02020603050405020304" pitchFamily="18" charset="0"/>
              </a:rPr>
              <a:t>Narasaraopeta</a:t>
            </a:r>
            <a:r>
              <a:rPr lang="en-US" dirty="0">
                <a:latin typeface="Times New Roman" panose="02020603050405020304" pitchFamily="18" charset="0"/>
                <a:cs typeface="Times New Roman" panose="02020603050405020304" pitchFamily="18" charset="0"/>
              </a:rPr>
              <a:t> Engineering College for their guidance and encouragement throughout the development of this project. Their insights and expertise have been invaluable..</a:t>
            </a:r>
          </a:p>
          <a:p>
            <a:r>
              <a:rPr lang="en-US" dirty="0">
                <a:latin typeface="Times New Roman" panose="02020603050405020304" pitchFamily="18" charset="0"/>
                <a:cs typeface="Times New Roman" panose="02020603050405020304" pitchFamily="18" charset="0"/>
              </a:rPr>
              <a:t>For any questions or further discussions, feel free to reach out:</a:t>
            </a:r>
          </a:p>
          <a:p>
            <a:pPr marL="0" indent="0">
              <a:buNone/>
            </a:pPr>
            <a:r>
              <a:rPr lang="en-US" dirty="0">
                <a:latin typeface="Times New Roman" panose="02020603050405020304" pitchFamily="18" charset="0"/>
                <a:cs typeface="Times New Roman" panose="02020603050405020304" pitchFamily="18" charset="0"/>
              </a:rPr>
              <a:t>1)</a:t>
            </a:r>
            <a:r>
              <a:rPr lang="en-US" dirty="0" err="1">
                <a:latin typeface="Times New Roman" panose="02020603050405020304" pitchFamily="18" charset="0"/>
                <a:cs typeface="Times New Roman" panose="02020603050405020304" pitchFamily="18" charset="0"/>
              </a:rPr>
              <a:t>Mullangi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Pothana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pavan</a:t>
            </a:r>
            <a:r>
              <a:rPr lang="en-US" dirty="0">
                <a:latin typeface="Times New Roman" panose="02020603050405020304" pitchFamily="18" charset="0"/>
                <a:cs typeface="Times New Roman" panose="02020603050405020304" pitchFamily="18" charset="0"/>
              </a:rPr>
              <a:t> Reddy </a:t>
            </a:r>
          </a:p>
          <a:p>
            <a:pPr marL="0" indent="0">
              <a:buNone/>
            </a:pPr>
            <a:r>
              <a:rPr lang="en-US" dirty="0">
                <a:latin typeface="Times New Roman" panose="02020603050405020304" pitchFamily="18" charset="0"/>
                <a:cs typeface="Times New Roman" panose="02020603050405020304" pitchFamily="18" charset="0"/>
              </a:rPr>
              <a:t>Email: </a:t>
            </a:r>
            <a:r>
              <a:rPr lang="en-US" dirty="0" err="1">
                <a:latin typeface="Times New Roman" panose="02020603050405020304" pitchFamily="18" charset="0"/>
                <a:cs typeface="Times New Roman" panose="02020603050405020304" pitchFamily="18" charset="0"/>
              </a:rPr>
              <a:t>pothanapavanreddym</a:t>
            </a:r>
            <a:r>
              <a:rPr lang="en-US" dirty="0">
                <a:latin typeface="Times New Roman" panose="02020603050405020304" pitchFamily="18" charset="0"/>
                <a:cs typeface="Times New Roman" panose="02020603050405020304" pitchFamily="18" charset="0"/>
              </a:rPr>
              <a:t> @gmail.com</a:t>
            </a:r>
          </a:p>
          <a:p>
            <a:pPr marL="0" indent="0">
              <a:buNone/>
            </a:pPr>
            <a:r>
              <a:rPr lang="en-US" dirty="0">
                <a:latin typeface="Times New Roman" panose="02020603050405020304" pitchFamily="18" charset="0"/>
                <a:cs typeface="Times New Roman" panose="02020603050405020304" pitchFamily="18" charset="0"/>
              </a:rPr>
              <a:t>2)</a:t>
            </a:r>
            <a:r>
              <a:rPr lang="en-US" dirty="0" err="1">
                <a:latin typeface="Times New Roman" panose="02020603050405020304" pitchFamily="18" charset="0"/>
                <a:cs typeface="Times New Roman" panose="02020603050405020304" pitchFamily="18" charset="0"/>
              </a:rPr>
              <a:t>Madanu</a:t>
            </a:r>
            <a:r>
              <a:rPr lang="en-US" dirty="0">
                <a:latin typeface="Times New Roman" panose="02020603050405020304" pitchFamily="18" charset="0"/>
                <a:cs typeface="Times New Roman" panose="02020603050405020304" pitchFamily="18" charset="0"/>
              </a:rPr>
              <a:t> joseph </a:t>
            </a:r>
            <a:r>
              <a:rPr lang="en-US" dirty="0" err="1">
                <a:latin typeface="Times New Roman" panose="02020603050405020304" pitchFamily="18" charset="0"/>
                <a:cs typeface="Times New Roman" panose="02020603050405020304" pitchFamily="18" charset="0"/>
              </a:rPr>
              <a:t>kumar</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Email: </a:t>
            </a:r>
            <a:r>
              <a:rPr lang="en-US" dirty="0">
                <a:latin typeface="Times New Roman" panose="02020603050405020304" pitchFamily="18" charset="0"/>
                <a:cs typeface="Times New Roman" panose="02020603050405020304" pitchFamily="18" charset="0"/>
                <a:hlinkClick r:id="rId3"/>
              </a:rPr>
              <a:t>kk7391257@gmail.com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3)</a:t>
            </a:r>
            <a:r>
              <a:rPr lang="en-US" dirty="0" err="1">
                <a:latin typeface="Times New Roman" panose="02020603050405020304" pitchFamily="18" charset="0"/>
                <a:cs typeface="Times New Roman" panose="02020603050405020304" pitchFamily="18" charset="0"/>
              </a:rPr>
              <a:t>Guntreddi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Harshavardhan</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Email : hv639815@gmail.com</a:t>
            </a:r>
          </a:p>
        </p:txBody>
      </p:sp>
      <p:sp>
        <p:nvSpPr>
          <p:cNvPr id="5" name="Date Placeholder 4"/>
          <p:cNvSpPr>
            <a:spLocks noGrp="1"/>
          </p:cNvSpPr>
          <p:nvPr>
            <p:ph type="dt" sz="half" idx="10"/>
          </p:nvPr>
        </p:nvSpPr>
        <p:spPr/>
        <p:txBody>
          <a:bodyPr/>
          <a:lstStyle/>
          <a:p>
            <a:fld id="{614C5AF8-9E51-4FEE-9641-EEFC8EA27F3C}" type="datetime1">
              <a:rPr lang="en-US" smtClean="0">
                <a:latin typeface="Times New Roman" panose="02020603050405020304" pitchFamily="18" charset="0"/>
                <a:cs typeface="Times New Roman" panose="02020603050405020304" pitchFamily="18" charset="0"/>
              </a:rPr>
              <a:t>12/5/2025</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Batch No.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31</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40*256"/>
  <p:tag name="TABLE_ENDDRAG_RECT" val="66*154*840*256"/>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94*236"/>
  <p:tag name="TABLE_ENDDRAG_RECT" val="165*205*694*236"/>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715*205"/>
  <p:tag name="TABLE_ENDDRAG_RECT" val="100*289*715*2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2942</Words>
  <Application>Microsoft Office PowerPoint</Application>
  <PresentationFormat>Widescreen</PresentationFormat>
  <Paragraphs>399</Paragraphs>
  <Slides>31</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Times New Roman</vt:lpstr>
      <vt:lpstr>Wingdings</vt:lpstr>
      <vt:lpstr>Office Theme</vt:lpstr>
      <vt:lpstr>PowerPoint Presentation</vt:lpstr>
      <vt:lpstr>OUTLINE</vt:lpstr>
      <vt:lpstr>ABSTRACT</vt:lpstr>
      <vt:lpstr>INTRODUCTION</vt:lpstr>
      <vt:lpstr>                     INTRODUCTION</vt:lpstr>
      <vt:lpstr>LITERATURE SURVEY</vt:lpstr>
      <vt:lpstr>LITERATURE SURVEY</vt:lpstr>
      <vt:lpstr>LITERATURE SURVEY</vt:lpstr>
      <vt:lpstr>RESEARCH GAPS</vt:lpstr>
      <vt:lpstr>RESEARCH GAPS</vt:lpstr>
      <vt:lpstr>PROBLEM STATEMENT</vt:lpstr>
      <vt:lpstr>PROBLEM STATEMENT</vt:lpstr>
      <vt:lpstr>OBJECTIVES</vt:lpstr>
      <vt:lpstr>BLOCK DIAGRAM OR FLOW DIAGRAM</vt:lpstr>
      <vt:lpstr>METHODOLOGY</vt:lpstr>
      <vt:lpstr>METHODOLOGY</vt:lpstr>
      <vt:lpstr>METHODOLOGY</vt:lpstr>
      <vt:lpstr>METHODOLOGY</vt:lpstr>
      <vt:lpstr>IMPLEMENTATION</vt:lpstr>
      <vt:lpstr>IMPLEMENTATION</vt:lpstr>
      <vt:lpstr>IMPLEMENTATION</vt:lpstr>
      <vt:lpstr>RESULT &amp; ANALYSIS</vt:lpstr>
      <vt:lpstr>RESULT &amp; ANALYSIS</vt:lpstr>
      <vt:lpstr>                          HOME SCREEN</vt:lpstr>
      <vt:lpstr>                  STATUS OF FAKE IMAGE</vt:lpstr>
      <vt:lpstr>                   STATUS OF REAL IMAGE</vt:lpstr>
      <vt:lpstr>CONCLUSION and FUTURE SCOPE</vt:lpstr>
      <vt:lpstr>CONCLUSION and FEATURE SCOPE</vt:lpstr>
      <vt:lpstr>REFERENCES</vt:lpstr>
      <vt:lpstr>REFERENCES</vt:lpstr>
      <vt:lpstr>ACKNOWLEGEMENTS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H MANI</cp:lastModifiedBy>
  <cp:revision>30</cp:revision>
  <dcterms:created xsi:type="dcterms:W3CDTF">2023-12-22T11:34:00Z</dcterms:created>
  <dcterms:modified xsi:type="dcterms:W3CDTF">2025-12-05T05:09:15Z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D33CC2D73E00481D9B68E04780847D0F_13</vt:lpwstr>
  </property>
  <property fmtid="{D5CDD505-2E9C-101B-9397-08002B2CF9AE}" pid="3" name="KSOProductBuildVer">
    <vt:lpwstr>1033-12.2.0.19307</vt:lpwstr>
  </property>
</Properties>
</file>