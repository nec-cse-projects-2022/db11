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617" y="-275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2025 6</a:t>
            </a:r>
            <a:r>
              <a:rPr lang="en-US" sz="4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GLOBAL CONFERENCE FOR ADVANCEMENT IN TECHNOLOGY</a:t>
            </a: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(GCAT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280" y="2458720"/>
            <a:ext cx="11033760" cy="4399280"/>
          </a:xfrm>
        </p:spPr>
        <p:txBody>
          <a:bodyPr>
            <a:normAutofit/>
          </a:bodyPr>
          <a:lstStyle/>
          <a:p>
            <a:r>
              <a:rPr lang="en-GB" sz="5400" b="1" strike="noStrike" spc="-1" dirty="0">
                <a:solidFill>
                  <a:srgbClr val="4C4C4C"/>
                </a:solidFill>
                <a:latin typeface="Arial"/>
              </a:rPr>
              <a:t>Title : </a:t>
            </a:r>
            <a:r>
              <a:rPr lang="en-GB" sz="3200" b="1" strike="noStrike" spc="-1" dirty="0" err="1">
                <a:solidFill>
                  <a:srgbClr val="4C4C4C"/>
                </a:solidFill>
                <a:latin typeface="Arial"/>
              </a:rPr>
              <a:t>DeepFakeshield</a:t>
            </a:r>
            <a:r>
              <a:rPr lang="en-GB" sz="3200" b="1" strike="noStrike" spc="-1" dirty="0">
                <a:solidFill>
                  <a:srgbClr val="4C4C4C"/>
                </a:solidFill>
                <a:latin typeface="Arial"/>
              </a:rPr>
              <a:t> : Advanced image forgery detection with </a:t>
            </a:r>
            <a:r>
              <a:rPr lang="en-GB" sz="3200" b="1" strike="noStrike" spc="-1" dirty="0" err="1">
                <a:solidFill>
                  <a:srgbClr val="4C4C4C"/>
                </a:solidFill>
                <a:latin typeface="Arial"/>
              </a:rPr>
              <a:t>DeepLearning</a:t>
            </a:r>
            <a:br>
              <a:rPr lang="en-GB" dirty="0"/>
            </a:br>
            <a:r>
              <a:rPr lang="en-GB" b="1" spc="-1" dirty="0">
                <a:solidFill>
                  <a:srgbClr val="4C4C4C"/>
                </a:solidFill>
                <a:latin typeface="Arial"/>
              </a:rPr>
              <a:t>Paper ID: 2314 </a:t>
            </a:r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PRESENTER NAME : </a:t>
            </a:r>
            <a:r>
              <a:rPr lang="en-GB" b="1" spc="-1" dirty="0" err="1">
                <a:solidFill>
                  <a:srgbClr val="4C4C4C"/>
                </a:solidFill>
                <a:latin typeface="Arial"/>
              </a:rPr>
              <a:t>Pothana</a:t>
            </a:r>
            <a:r>
              <a:rPr lang="en-GB" b="1" spc="-1" dirty="0">
                <a:solidFill>
                  <a:srgbClr val="4C4C4C"/>
                </a:solidFill>
                <a:latin typeface="Arial"/>
              </a:rPr>
              <a:t> Pavan Reddy</a:t>
            </a:r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Affiliation:  </a:t>
            </a:r>
            <a:r>
              <a:rPr lang="en-GB" b="1" spc="-1" dirty="0" err="1">
                <a:solidFill>
                  <a:srgbClr val="4C4C4C"/>
                </a:solidFill>
                <a:latin typeface="Arial"/>
              </a:rPr>
              <a:t>Narasaraopeta</a:t>
            </a:r>
            <a:r>
              <a:rPr lang="en-GB" b="1" spc="-1" dirty="0">
                <a:solidFill>
                  <a:srgbClr val="4C4C4C"/>
                </a:solidFill>
                <a:latin typeface="Arial"/>
              </a:rPr>
              <a:t> Engineering College JNTUK</a:t>
            </a:r>
          </a:p>
          <a:p>
            <a:endParaRPr lang="en-GB" b="1" spc="-1" dirty="0">
              <a:solidFill>
                <a:srgbClr val="4C4C4C"/>
              </a:solidFill>
              <a:latin typeface="Arial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" y="281258"/>
            <a:ext cx="1637211" cy="868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415" y="5230993"/>
            <a:ext cx="35528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91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79D63-2597-AA34-E4A0-11F395E5B177}"/>
              </a:ext>
            </a:extLst>
          </p:cNvPr>
          <p:cNvSpPr txBox="1"/>
          <p:nvPr/>
        </p:nvSpPr>
        <p:spPr>
          <a:xfrm>
            <a:off x="2722880" y="517815"/>
            <a:ext cx="6096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4C65B-1702-C171-21D4-E9DE3C366EAD}"/>
              </a:ext>
            </a:extLst>
          </p:cNvPr>
          <p:cNvSpPr txBox="1"/>
          <p:nvPr/>
        </p:nvSpPr>
        <p:spPr>
          <a:xfrm>
            <a:off x="1371600" y="1305342"/>
            <a:ext cx="9682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1.Objective : Develop an efficient image forgery detection system using Error Level Analysis (ELA) and Convolutional Neural Networks (CNN) with transfer learning.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2.Proposed Method : Evaluated eight pre-trained models for binary classification.EfficientNetV2 achieved 96% accuracy, excelling in efficiency and lightweight design.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3.Key Findings : Effective in detecting splicing, copy-move, and crack forgeries under conditions like noise, scaling, and rotation.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existing state-of-the-art approaches.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4.Significance : Provides high accuracy with computational efficiency, making it suitable for resource-limited environments.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5.Future Scope : Expand to video forgery detection and address advanced real-world manipulation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98414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9529-FDEE-5730-B6CD-F4310E83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INTRODUCTION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20F64-5A32-0049-9745-421818FEA229}"/>
              </a:ext>
            </a:extLst>
          </p:cNvPr>
          <p:cNvSpPr txBox="1"/>
          <p:nvPr/>
        </p:nvSpPr>
        <p:spPr>
          <a:xfrm>
            <a:off x="1686560" y="1879600"/>
            <a:ext cx="93268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Leverage pre-trained models and transfer learning for efficient and accurate forgery detection. Importance and Relevance of the project 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 to the Project : Focuses on detecting digital image forgery prevalent in social media (e.g., Facebook, Twitter).Proposes the ELA-CNN model combining Error Level Analysis (ELA) and   Convolutional Neural Networks (CNNs).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2.Detects various forgeries: splicing, copy-move, and crack, even under challenging conditions (noise, scaling, rotations).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3.Motivation Behind the Project : Rising challenge in identifying image authenticity due to advanced editing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tools.Widespread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of manipulated images spreading misinformation and deception.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8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EFB626-14EE-6201-0480-D9E6859A2102}"/>
              </a:ext>
            </a:extLst>
          </p:cNvPr>
          <p:cNvSpPr txBox="1"/>
          <p:nvPr/>
        </p:nvSpPr>
        <p:spPr>
          <a:xfrm>
            <a:off x="1127760" y="1483360"/>
            <a:ext cx="9591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4.High Accuracy: Achieves 96% accuracy with lightweight EfficientNetV2.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5.Real-World Use: Handles diverse forgery types, ensuring reliability in various scenarios.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6.Technological Advancement: Sets a benchmark for future developments in image forgery detection</a:t>
            </a:r>
            <a:r>
              <a:rPr lang="en-US" alt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7246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B63DDC-728B-4CA7-0A65-1CB13A868F95}"/>
              </a:ext>
            </a:extLst>
          </p:cNvPr>
          <p:cNvSpPr txBox="1"/>
          <p:nvPr/>
        </p:nvSpPr>
        <p:spPr>
          <a:xfrm>
            <a:off x="2590800" y="1711618"/>
            <a:ext cx="60960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6.Results Summary: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Efficienetv2model achieved: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96.5%.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95%.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performance compared to ResNet50 and DenseNet121.</a:t>
            </a:r>
          </a:p>
          <a:p>
            <a:endParaRPr lang="en-US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64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CEBE7E-6675-4C79-65E8-440D56F15DE7}"/>
              </a:ext>
            </a:extLst>
          </p:cNvPr>
          <p:cNvSpPr txBox="1"/>
          <p:nvPr/>
        </p:nvSpPr>
        <p:spPr>
          <a:xfrm>
            <a:off x="4328160" y="4401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C4E7C-C5AE-E195-8421-3F6C66F682D6}"/>
              </a:ext>
            </a:extLst>
          </p:cNvPr>
          <p:cNvSpPr txBox="1"/>
          <p:nvPr/>
        </p:nvSpPr>
        <p:spPr>
          <a:xfrm>
            <a:off x="629920" y="1615440"/>
            <a:ext cx="109728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1.Limited Generalization : Existing models struggle to generalize well across heterogeneous datasets and real-world scenarios.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2.Advanced Forgery Detection : Challenges in detecting sophisticated forgery techniques, such as Gaussian smoothing and adaptive compression.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3.Handling Low-Quality Images : Performance degrades significantly with highly compressed or low-resolution images.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4.Computational Complexity : High computational demands for models like GANs and Mask R-CNN, making them unsuitable for resource-constrained environments.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5.Multi-Class Detection Challenges : Difficulty in extending binary classification approaches to multi-class scenarios without overfitting.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6.Scalability Issues : Limited scalability of existing models to handle large-scale or high-resolution datasets effectively.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18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19C68-66A2-609C-D9EE-1EC07985FB4E}"/>
              </a:ext>
            </a:extLst>
          </p:cNvPr>
          <p:cNvSpPr txBox="1"/>
          <p:nvPr/>
        </p:nvSpPr>
        <p:spPr>
          <a:xfrm>
            <a:off x="3241040" y="4198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1E97E-A70B-DD56-9C8E-E01C9318E250}"/>
              </a:ext>
            </a:extLst>
          </p:cNvPr>
          <p:cNvSpPr txBox="1"/>
          <p:nvPr/>
        </p:nvSpPr>
        <p:spPr>
          <a:xfrm>
            <a:off x="1249680" y="1351508"/>
            <a:ext cx="9875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*Problem Definition: Digital image manipulation has become widespread due to accessible editing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tools.Forged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are often undetectable to the human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eye.Existing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methods focus narrowly on specific forgery types (e.g., splicing, copy-move).High computational complexity limits their applicability in real-world scenarios.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*Significance of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Problem:Impact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Society : Fake images fuel misinformation, undermining trust in media and institutions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*Applications : Crucial for verifying authenticity in journalism, cybersecurity, and legal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cases.Limitations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Current Methods : Dependence on large datasets for deep learning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models.Inefficiency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resource-constrained environments.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Poor robustness against advanced forgery techniques like re-compression and smoothing.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*Need for Action :Develop a robust, efficient, and scalable image forgery detection system to address these challenges.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33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294F5-3C03-6E76-098F-5DA862B61C8C}"/>
              </a:ext>
            </a:extLst>
          </p:cNvPr>
          <p:cNvSpPr txBox="1"/>
          <p:nvPr/>
        </p:nvSpPr>
        <p:spPr>
          <a:xfrm>
            <a:off x="2895600" y="2268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FDB33-6CFE-69CA-BF79-99E81EE26AE6}"/>
              </a:ext>
            </a:extLst>
          </p:cNvPr>
          <p:cNvSpPr txBox="1"/>
          <p:nvPr/>
        </p:nvSpPr>
        <p:spPr>
          <a:xfrm>
            <a:off x="1615440" y="1131560"/>
            <a:ext cx="9133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1.Develop an Efficient Detection Model : Create a lightweight and scalable system for detecting various types of image forgeries.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2.Leverage Transfer Learning : Utilize pre-trained deep learning models to enhance detection accuracy while reducing computational complexity.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3.Address Advanced Forgery Techniques : Ensure robustness against sophisticated manipulations like re-compression and adaptive smoothing.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4.Improve Real-World Applicability : Design a solution that performs effectively in resource-constrained environments with minimal data and processing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188544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70AB88-8908-8E03-3F78-A6D3FF826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320" y="1107440"/>
            <a:ext cx="6177280" cy="5750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DDA09-8E0C-33DF-7832-17500467DBBE}"/>
              </a:ext>
            </a:extLst>
          </p:cNvPr>
          <p:cNvSpPr txBox="1"/>
          <p:nvPr/>
        </p:nvSpPr>
        <p:spPr>
          <a:xfrm>
            <a:off x="2702560" y="369054"/>
            <a:ext cx="646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</p:spTree>
    <p:extLst>
      <p:ext uri="{BB962C8B-B14F-4D97-AF65-F5344CB8AC3E}">
        <p14:creationId xmlns:p14="http://schemas.microsoft.com/office/powerpoint/2010/main" val="98690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61562-03B5-08F3-5C30-2CCBB4AEE80E}"/>
              </a:ext>
            </a:extLst>
          </p:cNvPr>
          <p:cNvSpPr txBox="1"/>
          <p:nvPr/>
        </p:nvSpPr>
        <p:spPr>
          <a:xfrm>
            <a:off x="3728720" y="328414"/>
            <a:ext cx="398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9056A-39E1-95AD-20EB-E2D2176FAA92}"/>
              </a:ext>
            </a:extLst>
          </p:cNvPr>
          <p:cNvSpPr txBox="1"/>
          <p:nvPr/>
        </p:nvSpPr>
        <p:spPr>
          <a:xfrm>
            <a:off x="1148080" y="974745"/>
            <a:ext cx="10190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1.Preprocessing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Level Analysis (ELA):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 highlights regions with different compression levels.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 resizing images to 224x224 pixels and normalizing pixel values to the range [0,1].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techniques (random rotations, flips, zoom, brightness alterations) are applied to enhance the dataset and minimize overfitting.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Exploratory Data Analysis (EDA)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image differences before and after ELA.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dataset characteristics through class distribution and image quality levels.</a:t>
            </a:r>
          </a:p>
        </p:txBody>
      </p:sp>
    </p:spTree>
    <p:extLst>
      <p:ext uri="{BB962C8B-B14F-4D97-AF65-F5344CB8AC3E}">
        <p14:creationId xmlns:p14="http://schemas.microsoft.com/office/powerpoint/2010/main" val="199105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9E472A-D9DA-31D7-E44B-345621493CC5}"/>
              </a:ext>
            </a:extLst>
          </p:cNvPr>
          <p:cNvSpPr txBox="1"/>
          <p:nvPr/>
        </p:nvSpPr>
        <p:spPr>
          <a:xfrm>
            <a:off x="1178560" y="1162040"/>
            <a:ext cx="98348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Frameworks and Tools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Environment: Google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(upgraded to T4 GPU for performance).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TensorFlow/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 learning model implementation.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CASIA2 dataset for image forgery detection tasks.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Algorithms and Techniques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EfficientNetV2,MobileNetV2, ResNet50, DenseNet121 were employed with transfer learning.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layers of pre-trained models were customized for binary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1363407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321273-CA2D-C8B4-4DBB-714D16747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194370"/>
              </p:ext>
            </p:extLst>
          </p:nvPr>
        </p:nvGraphicFramePr>
        <p:xfrm>
          <a:off x="1600200" y="1774825"/>
          <a:ext cx="8813800" cy="3004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26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Image Size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224x224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Binary Cross-Entropy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en-US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dirty="0"/>
                        <a:t>20(with early stopping)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ABE273-0323-85B0-1BDB-1BA646F56DFE}"/>
              </a:ext>
            </a:extLst>
          </p:cNvPr>
          <p:cNvSpPr txBox="1"/>
          <p:nvPr/>
        </p:nvSpPr>
        <p:spPr>
          <a:xfrm>
            <a:off x="1473200" y="8668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5.Parameter Settings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492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C5315-4147-B321-E9BE-D3AEFDB62C45}"/>
              </a:ext>
            </a:extLst>
          </p:cNvPr>
          <p:cNvSpPr txBox="1"/>
          <p:nvPr/>
        </p:nvSpPr>
        <p:spPr>
          <a:xfrm>
            <a:off x="1493520" y="1681138"/>
            <a:ext cx="1052576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6.Results Summary: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Efficienetv2model achieved: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96.5%.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95%.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performance compared to ResNet50 and DenseNet121.</a:t>
            </a:r>
          </a:p>
          <a:p>
            <a:endParaRPr lang="en-US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1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69A0AB-DB58-9A1A-1600-AAE36C29BD57}"/>
              </a:ext>
            </a:extLst>
          </p:cNvPr>
          <p:cNvSpPr txBox="1"/>
          <p:nvPr/>
        </p:nvSpPr>
        <p:spPr>
          <a:xfrm>
            <a:off x="3738880" y="4198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B3AC2-F41F-E668-F729-429021D73768}"/>
              </a:ext>
            </a:extLst>
          </p:cNvPr>
          <p:cNvSpPr txBox="1"/>
          <p:nvPr/>
        </p:nvSpPr>
        <p:spPr>
          <a:xfrm>
            <a:off x="1889760" y="1435299"/>
            <a:ext cx="93573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Environment: Google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 with T4 GPU.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 Python 3.x.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Libraries/Frameworks: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Development).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OpenCV, PIL (Image Preprocessing).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 (Visualization).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CASIA2 (Authentic and Tampered Images).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 (T4 GPU for faster training).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System:Intel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i7, 16GB RAM, 500GB SSD.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401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201E90-B999-E51A-F8BB-3D776974A57F}"/>
              </a:ext>
            </a:extLst>
          </p:cNvPr>
          <p:cNvSpPr txBox="1"/>
          <p:nvPr/>
        </p:nvSpPr>
        <p:spPr>
          <a:xfrm>
            <a:off x="1290320" y="982176"/>
            <a:ext cx="100787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Process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 Preprocessing with ELA, resizing, and augmentation.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Model: EfficienetNetV2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(Learning Rate: 0.001).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Binary Cross-Entropy.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after 5 epochs of no improvement.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accuracy/loss graphs for overfitting.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Precision, Recall, F1 Score, Accuracy.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validation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621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3EC603-B19B-D274-AF75-50C3E22FF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63" y="1595115"/>
            <a:ext cx="5549153" cy="4297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70174-50DA-45BF-4AE7-B8F917801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186" y="1595114"/>
            <a:ext cx="5384299" cy="4297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3C0DC-67E4-794F-DD85-89F8818BD44D}"/>
              </a:ext>
            </a:extLst>
          </p:cNvPr>
          <p:cNvSpPr txBox="1"/>
          <p:nvPr/>
        </p:nvSpPr>
        <p:spPr>
          <a:xfrm>
            <a:off x="2661920" y="3588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976525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640931-D8D6-53CC-4595-0D05CDDF6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640" y="955040"/>
            <a:ext cx="7416799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2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270B56-BCC0-5E65-EBCB-F21C6174F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0" y="589280"/>
            <a:ext cx="6847840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28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2A11D8-3DEB-DAB7-ADC1-D6AA51B6C5D1}"/>
              </a:ext>
            </a:extLst>
          </p:cNvPr>
          <p:cNvSpPr txBox="1"/>
          <p:nvPr/>
        </p:nvSpPr>
        <p:spPr>
          <a:xfrm>
            <a:off x="1737360" y="297935"/>
            <a:ext cx="805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FEATURE SCOPE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BD48A-C06E-1664-AE48-44B8A862F178}"/>
              </a:ext>
            </a:extLst>
          </p:cNvPr>
          <p:cNvSpPr txBox="1"/>
          <p:nvPr/>
        </p:nvSpPr>
        <p:spPr>
          <a:xfrm>
            <a:off x="497840" y="1087120"/>
            <a:ext cx="11419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Forgery Detection: Extend the model to analyze video sequences for manipulation.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Forgery Techniques: Enhance robustness against adaptive compression and Gaussian smoothing.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Applications: Optimize the model for deployment on mobile and embedded systems.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Expansion: Incorporate larger, more diverse datasets for improved generalization across domains.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ELA: Limited effectiveness against forgeries involving uniform recompression or advanced smoothing techniques.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 Performance is constrained by the relatively small size and scope of the CASIA2 dataset.</a:t>
            </a:r>
          </a:p>
        </p:txBody>
      </p:sp>
    </p:spTree>
    <p:extLst>
      <p:ext uri="{BB962C8B-B14F-4D97-AF65-F5344CB8AC3E}">
        <p14:creationId xmlns:p14="http://schemas.microsoft.com/office/powerpoint/2010/main" val="660395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48E33D-1801-C1CC-1757-0E5A6C1BB50E}"/>
              </a:ext>
            </a:extLst>
          </p:cNvPr>
          <p:cNvSpPr txBox="1"/>
          <p:nvPr/>
        </p:nvSpPr>
        <p:spPr>
          <a:xfrm>
            <a:off x="447040" y="1302663"/>
            <a:ext cx="117856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ELA-CNN model demonstrated computational efficiency with faster training and fewer parameters, making it suitable for limited-resource environments.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Preprocessing: The use of Error Level Analysis (ELA) effectively highlighted tampered regions, aiding in precise classification.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Results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solution for image forgery detection in diverse applications, including social media moderation and digital forensics.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transfer learning and lightweight architectures like EfficientNetV2 can enhance performance in resource-limited scenarios.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foundation for developing real-time and multimodal forgery detection systems.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6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1294</Words>
  <Application>Microsoft Office PowerPoint</Application>
  <PresentationFormat>Widescreen</PresentationFormat>
  <Paragraphs>140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2025 6th  GLOBAL CONFERENCE FOR ADVANCEMENT IN TECHNOLOGY (GCAT 2025)</vt:lpstr>
      <vt:lpstr>OUTLINE  </vt:lpstr>
      <vt:lpstr>PowerPoint Presentation</vt:lpstr>
      <vt:lpstr>                          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pothanapavanreddym@gmail.com</cp:lastModifiedBy>
  <cp:revision>13</cp:revision>
  <dcterms:created xsi:type="dcterms:W3CDTF">2021-06-10T05:32:34Z</dcterms:created>
  <dcterms:modified xsi:type="dcterms:W3CDTF">2026-02-06T16:50:54Z</dcterms:modified>
</cp:coreProperties>
</file>